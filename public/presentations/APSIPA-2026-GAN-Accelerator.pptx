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d82bbada62409e" /><Relationship Type="http://schemas.openxmlformats.org/officeDocument/2006/relationships/extended-properties" Target="/docProps/app.xml" Id="Rd833f13b8e974a66" /><Relationship Type="http://schemas.openxmlformats.org/officeDocument/2006/relationships/officeDocument" Target="/ppt/presentation.xml" Id="R3427f35658ac4a2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7dd15622ced4833"/>
  </p:sldMasterIdLst>
  <p:notesMasterIdLst>
    <p:notesMasterId xmlns:r="http://schemas.openxmlformats.org/officeDocument/2006/relationships" r:id="R6fdf2984eda44853"/>
  </p:notesMasterIdLst>
  <p:sldIdLst>
    <p:sldId xmlns:r="http://schemas.openxmlformats.org/officeDocument/2006/relationships" id="256" r:id="R9f3616d287924dcf"/>
    <p:sldId xmlns:r="http://schemas.openxmlformats.org/officeDocument/2006/relationships" id="257" r:id="R1b27b17c2a6b40c1"/>
    <p:sldId xmlns:r="http://schemas.openxmlformats.org/officeDocument/2006/relationships" id="258" r:id="Rf4ce570bec084d96"/>
    <p:sldId xmlns:r="http://schemas.openxmlformats.org/officeDocument/2006/relationships" id="259" r:id="Rb573600c0a4b488d"/>
    <p:sldId xmlns:r="http://schemas.openxmlformats.org/officeDocument/2006/relationships" id="260" r:id="R8161924c203b4485"/>
    <p:sldId xmlns:r="http://schemas.openxmlformats.org/officeDocument/2006/relationships" id="261" r:id="R93ec0d23fd824413"/>
    <p:sldId xmlns:r="http://schemas.openxmlformats.org/officeDocument/2006/relationships" id="262" r:id="Rbd91ac8e106a44fb"/>
    <p:sldId xmlns:r="http://schemas.openxmlformats.org/officeDocument/2006/relationships" id="263" r:id="R2f291247d2064bd9"/>
    <p:sldId xmlns:r="http://schemas.openxmlformats.org/officeDocument/2006/relationships" id="264" r:id="R563ac818a08b45a9"/>
    <p:sldId xmlns:r="http://schemas.openxmlformats.org/officeDocument/2006/relationships" id="265" r:id="R0027ee3c639746be"/>
    <p:sldId xmlns:r="http://schemas.openxmlformats.org/officeDocument/2006/relationships" id="266" r:id="Re2bcfcf22ded4a96"/>
    <p:sldId xmlns:r="http://schemas.openxmlformats.org/officeDocument/2006/relationships" id="267" r:id="Red4db3d924a44072"/>
    <p:sldId xmlns:r="http://schemas.openxmlformats.org/officeDocument/2006/relationships" id="268" r:id="Rba3876b4cb5643ba"/>
    <p:sldId xmlns:r="http://schemas.openxmlformats.org/officeDocument/2006/relationships" id="269" r:id="R129e667b3b1d4a8b"/>
    <p:sldId xmlns:r="http://schemas.openxmlformats.org/officeDocument/2006/relationships" id="270" r:id="Rdbeb5bf6194743c4"/>
    <p:sldId xmlns:r="http://schemas.openxmlformats.org/officeDocument/2006/relationships" id="271" r:id="R1bf55b6ad99c4a4b"/>
    <p:sldId xmlns:r="http://schemas.openxmlformats.org/officeDocument/2006/relationships" id="272" r:id="R3fa3fd9847a14366"/>
    <p:sldId xmlns:r="http://schemas.openxmlformats.org/officeDocument/2006/relationships" id="273" r:id="R68742794d5b44d4b"/>
    <p:sldId xmlns:r="http://schemas.openxmlformats.org/officeDocument/2006/relationships" id="274" r:id="R66c0aa59a0654c0b"/>
    <p:sldId xmlns:r="http://schemas.openxmlformats.org/officeDocument/2006/relationships" id="275" r:id="R214c921d6c3b4205"/>
    <p:sldId xmlns:r="http://schemas.openxmlformats.org/officeDocument/2006/relationships" id="276" r:id="R363d1021db8f45ad"/>
    <p:sldId xmlns:r="http://schemas.openxmlformats.org/officeDocument/2006/relationships" id="277" r:id="Rb90c5bd19cfd4422"/>
    <p:sldId xmlns:r="http://schemas.openxmlformats.org/officeDocument/2006/relationships" id="278" r:id="Re8cebe65c2524cbd"/>
    <p:sldId xmlns:r="http://schemas.openxmlformats.org/officeDocument/2006/relationships" id="279" r:id="R8715a8d044f04a6a"/>
    <p:sldId xmlns:r="http://schemas.openxmlformats.org/officeDocument/2006/relationships" id="280" r:id="R73dea987db39454a"/>
    <p:sldId xmlns:r="http://schemas.openxmlformats.org/officeDocument/2006/relationships" id="281" r:id="R23c776a0b74d4c37"/>
    <p:sldId xmlns:r="http://schemas.openxmlformats.org/officeDocument/2006/relationships" id="282" r:id="R5e8c131be53f4043"/>
    <p:sldId xmlns:r="http://schemas.openxmlformats.org/officeDocument/2006/relationships" id="283" r:id="Re4680ec844984aba"/>
    <p:sldId xmlns:r="http://schemas.openxmlformats.org/officeDocument/2006/relationships" id="284" r:id="R374b2908e78e4400"/>
    <p:sldId xmlns:r="http://schemas.openxmlformats.org/officeDocument/2006/relationships" id="285" r:id="R9191f25da229418b"/>
    <p:sldId xmlns:r="http://schemas.openxmlformats.org/officeDocument/2006/relationships" id="286" r:id="R76de58bd32034bbf"/>
    <p:sldId xmlns:r="http://schemas.openxmlformats.org/officeDocument/2006/relationships" id="287" r:id="Rc0e78ef916ad4670"/>
    <p:sldId xmlns:r="http://schemas.openxmlformats.org/officeDocument/2006/relationships" id="288" r:id="R3c77b6258aa040df"/>
    <p:sldId xmlns:r="http://schemas.openxmlformats.org/officeDocument/2006/relationships" id="289" r:id="Rafaca4044b20466b"/>
    <p:sldId xmlns:r="http://schemas.openxmlformats.org/officeDocument/2006/relationships" id="290" r:id="R2d58e37c850644ef"/>
    <p:sldId xmlns:r="http://schemas.openxmlformats.org/officeDocument/2006/relationships" id="291" r:id="R495dfb0dea624cda"/>
    <p:sldId xmlns:r="http://schemas.openxmlformats.org/officeDocument/2006/relationships" id="292" r:id="Raaa659f80db6421a"/>
    <p:sldId xmlns:r="http://schemas.openxmlformats.org/officeDocument/2006/relationships" id="293" r:id="Raa174461813a4548"/>
  </p:sldIdLst>
  <p:sldSz cx="18288000" cy="10287000"/>
  <p:notesSz cx="6858000" cy="9144000"/>
  <p:embeddedFontLst>
    <p:embeddedFont>
      <p:font typeface="Inter Bold"/>
      <p:regular xmlns:r="http://schemas.openxmlformats.org/officeDocument/2006/relationships" r:id="R17ec97f4c5854516"/>
    </p:embeddedFont>
    <p:embeddedFont>
      <p:font typeface="Inter"/>
      <p:regular xmlns:r="http://schemas.openxmlformats.org/officeDocument/2006/relationships" r:id="Rdd2b53342ae14e29"/>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8d726a683bc4f09" /><Relationship Type="http://schemas.openxmlformats.org/officeDocument/2006/relationships/slideMaster" Target="/ppt/slideMasters/slideMaster1.xml" Id="R07dd15622ced4833" /><Relationship Type="http://schemas.openxmlformats.org/officeDocument/2006/relationships/notesMaster" Target="/ppt/notesMasters/notesMaster1.xml" Id="R6fdf2984eda44853" /><Relationship Type="http://schemas.openxmlformats.org/officeDocument/2006/relationships/presProps" Target="/ppt/presProps.xml" Id="Re54b3bb2319e4627" /><Relationship Type="http://schemas.openxmlformats.org/officeDocument/2006/relationships/viewProps" Target="/ppt/viewProps.xml" Id="R8a4b2e462dca4a6b" /><Relationship Type="http://schemas.openxmlformats.org/officeDocument/2006/relationships/tableStyles" Target="/ppt/tableStyles.xml" Id="R8f1e4478c2314919" /><Relationship Type="http://schemas.openxmlformats.org/officeDocument/2006/relationships/font" Target="/ppt/fonts/font.dat" Id="R17ec97f4c5854516" /><Relationship Type="http://schemas.openxmlformats.org/officeDocument/2006/relationships/font" Target="/ppt/fonts/font2.dat" Id="Rdd2b53342ae14e29" /><Relationship Type="http://schemas.openxmlformats.org/officeDocument/2006/relationships/slide" Target="/ppt/slides/slide1.xml" Id="R9f3616d287924dcf" /><Relationship Type="http://schemas.openxmlformats.org/officeDocument/2006/relationships/slide" Target="/ppt/slides/slide2.xml" Id="R1b27b17c2a6b40c1" /><Relationship Type="http://schemas.openxmlformats.org/officeDocument/2006/relationships/slide" Target="/ppt/slides/slide3.xml" Id="Rf4ce570bec084d96" /><Relationship Type="http://schemas.openxmlformats.org/officeDocument/2006/relationships/slide" Target="/ppt/slides/slide4.xml" Id="Rb573600c0a4b488d" /><Relationship Type="http://schemas.openxmlformats.org/officeDocument/2006/relationships/slide" Target="/ppt/slides/slide5.xml" Id="R8161924c203b4485" /><Relationship Type="http://schemas.openxmlformats.org/officeDocument/2006/relationships/slide" Target="/ppt/slides/slide6.xml" Id="R93ec0d23fd824413" /><Relationship Type="http://schemas.openxmlformats.org/officeDocument/2006/relationships/slide" Target="/ppt/slides/slide7.xml" Id="Rbd91ac8e106a44fb" /><Relationship Type="http://schemas.openxmlformats.org/officeDocument/2006/relationships/slide" Target="/ppt/slides/slide8.xml" Id="R2f291247d2064bd9" /><Relationship Type="http://schemas.openxmlformats.org/officeDocument/2006/relationships/slide" Target="/ppt/slides/slide9.xml" Id="R563ac818a08b45a9" /><Relationship Type="http://schemas.openxmlformats.org/officeDocument/2006/relationships/slide" Target="/ppt/slides/slide10.xml" Id="R0027ee3c639746be" /><Relationship Type="http://schemas.openxmlformats.org/officeDocument/2006/relationships/slide" Target="/ppt/slides/slide11.xml" Id="Re2bcfcf22ded4a96" /><Relationship Type="http://schemas.openxmlformats.org/officeDocument/2006/relationships/slide" Target="/ppt/slides/slide12.xml" Id="Red4db3d924a44072" /><Relationship Type="http://schemas.openxmlformats.org/officeDocument/2006/relationships/slide" Target="/ppt/slides/slide13.xml" Id="Rba3876b4cb5643ba" /><Relationship Type="http://schemas.openxmlformats.org/officeDocument/2006/relationships/slide" Target="/ppt/slides/slide14.xml" Id="R129e667b3b1d4a8b" /><Relationship Type="http://schemas.openxmlformats.org/officeDocument/2006/relationships/slide" Target="/ppt/slides/slide15.xml" Id="Rdbeb5bf6194743c4" /><Relationship Type="http://schemas.openxmlformats.org/officeDocument/2006/relationships/slide" Target="/ppt/slides/slide16.xml" Id="R1bf55b6ad99c4a4b" /><Relationship Type="http://schemas.openxmlformats.org/officeDocument/2006/relationships/slide" Target="/ppt/slides/slide17.xml" Id="R3fa3fd9847a14366" /><Relationship Type="http://schemas.openxmlformats.org/officeDocument/2006/relationships/slide" Target="/ppt/slides/slide18.xml" Id="R68742794d5b44d4b" /><Relationship Type="http://schemas.openxmlformats.org/officeDocument/2006/relationships/slide" Target="/ppt/slides/slide19.xml" Id="R66c0aa59a0654c0b" /><Relationship Type="http://schemas.openxmlformats.org/officeDocument/2006/relationships/slide" Target="/ppt/slides/slide20.xml" Id="R214c921d6c3b4205" /><Relationship Type="http://schemas.openxmlformats.org/officeDocument/2006/relationships/slide" Target="/ppt/slides/slide21.xml" Id="R363d1021db8f45ad" /><Relationship Type="http://schemas.openxmlformats.org/officeDocument/2006/relationships/slide" Target="/ppt/slides/slide22.xml" Id="Rb90c5bd19cfd4422" /><Relationship Type="http://schemas.openxmlformats.org/officeDocument/2006/relationships/slide" Target="/ppt/slides/slide23.xml" Id="Re8cebe65c2524cbd" /><Relationship Type="http://schemas.openxmlformats.org/officeDocument/2006/relationships/slide" Target="/ppt/slides/slide24.xml" Id="R8715a8d044f04a6a" /><Relationship Type="http://schemas.openxmlformats.org/officeDocument/2006/relationships/slide" Target="/ppt/slides/slide25.xml" Id="R73dea987db39454a" /><Relationship Type="http://schemas.openxmlformats.org/officeDocument/2006/relationships/slide" Target="/ppt/slides/slide26.xml" Id="R23c776a0b74d4c37" /><Relationship Type="http://schemas.openxmlformats.org/officeDocument/2006/relationships/slide" Target="/ppt/slides/slide27.xml" Id="R5e8c131be53f4043" /><Relationship Type="http://schemas.openxmlformats.org/officeDocument/2006/relationships/slide" Target="/ppt/slides/slide28.xml" Id="Re4680ec844984aba" /><Relationship Type="http://schemas.openxmlformats.org/officeDocument/2006/relationships/slide" Target="/ppt/slides/slide29.xml" Id="R374b2908e78e4400" /><Relationship Type="http://schemas.openxmlformats.org/officeDocument/2006/relationships/slide" Target="/ppt/slides/slide30.xml" Id="R9191f25da229418b" /><Relationship Type="http://schemas.openxmlformats.org/officeDocument/2006/relationships/slide" Target="/ppt/slides/slide31.xml" Id="R76de58bd32034bbf" /><Relationship Type="http://schemas.openxmlformats.org/officeDocument/2006/relationships/slide" Target="/ppt/slides/slide32.xml" Id="Rc0e78ef916ad4670" /><Relationship Type="http://schemas.openxmlformats.org/officeDocument/2006/relationships/slide" Target="/ppt/slides/slide33.xml" Id="R3c77b6258aa040df" /><Relationship Type="http://schemas.openxmlformats.org/officeDocument/2006/relationships/slide" Target="/ppt/slides/slide34.xml" Id="Rafaca4044b20466b" /><Relationship Type="http://schemas.openxmlformats.org/officeDocument/2006/relationships/slide" Target="/ppt/slides/slide35.xml" Id="R2d58e37c850644ef" /><Relationship Type="http://schemas.openxmlformats.org/officeDocument/2006/relationships/slide" Target="/ppt/slides/slide36.xml" Id="R495dfb0dea624cda" /><Relationship Type="http://schemas.openxmlformats.org/officeDocument/2006/relationships/slide" Target="/ppt/slides/slide37.xml" Id="Raaa659f80db6421a" /><Relationship Type="http://schemas.openxmlformats.org/officeDocument/2006/relationships/slide" Target="/ppt/slides/slide38.xml" Id="Raa174461813a45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b338b036714d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e19dd243d64afa" /><Relationship Type="http://schemas.openxmlformats.org/officeDocument/2006/relationships/notesMaster" Target="/ppt/notesMasters/notesMaster1.xml" Id="R58d133ba7e4049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dfb11faec24ea9" /><Relationship Type="http://schemas.openxmlformats.org/officeDocument/2006/relationships/notesMaster" Target="/ppt/notesMasters/notesMaster1.xml" Id="Ra393ce67c67e4c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b5f42eebd24bbc" /><Relationship Type="http://schemas.openxmlformats.org/officeDocument/2006/relationships/notesMaster" Target="/ppt/notesMasters/notesMaster1.xml" Id="Rc1e60d55429f4d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611db1eddd410d" /><Relationship Type="http://schemas.openxmlformats.org/officeDocument/2006/relationships/notesMaster" Target="/ppt/notesMasters/notesMaster1.xml" Id="R96e50442e49e41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d62931c86d46ac" /><Relationship Type="http://schemas.openxmlformats.org/officeDocument/2006/relationships/notesMaster" Target="/ppt/notesMasters/notesMaster1.xml" Id="R452d960396534e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a941e4c2364c0c" /><Relationship Type="http://schemas.openxmlformats.org/officeDocument/2006/relationships/notesMaster" Target="/ppt/notesMasters/notesMaster1.xml" Id="Re01ff79cf0bd4b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8bb9e33bbf4e5c" /><Relationship Type="http://schemas.openxmlformats.org/officeDocument/2006/relationships/notesMaster" Target="/ppt/notesMasters/notesMaster1.xml" Id="R2be7d569391842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c0a04921f44e37" /><Relationship Type="http://schemas.openxmlformats.org/officeDocument/2006/relationships/notesMaster" Target="/ppt/notesMasters/notesMaster1.xml" Id="Rc8714eebc53141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76774d1ffb41ce" /><Relationship Type="http://schemas.openxmlformats.org/officeDocument/2006/relationships/notesMaster" Target="/ppt/notesMasters/notesMaster1.xml" Id="Rf253a8bfa5d14f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edd837971e4808" /><Relationship Type="http://schemas.openxmlformats.org/officeDocument/2006/relationships/notesMaster" Target="/ppt/notesMasters/notesMaster1.xml" Id="R8f4c87da3cb840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2554691f654448" /><Relationship Type="http://schemas.openxmlformats.org/officeDocument/2006/relationships/notesMaster" Target="/ppt/notesMasters/notesMaster1.xml" Id="Ra8530970c6ab42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5bbcdb4c2c43a5" /><Relationship Type="http://schemas.openxmlformats.org/officeDocument/2006/relationships/notesMaster" Target="/ppt/notesMasters/notesMaster1.xml" Id="R8071b7b3adb346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9334a1639e4c75" /><Relationship Type="http://schemas.openxmlformats.org/officeDocument/2006/relationships/notesMaster" Target="/ppt/notesMasters/notesMaster1.xml" Id="R9d6a5130a43a47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6784ef3f504d18" /><Relationship Type="http://schemas.openxmlformats.org/officeDocument/2006/relationships/notesMaster" Target="/ppt/notesMasters/notesMaster1.xml" Id="R17bd366cb87a4a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9b5a637dd44aa1" /><Relationship Type="http://schemas.openxmlformats.org/officeDocument/2006/relationships/notesMaster" Target="/ppt/notesMasters/notesMaster1.xml" Id="R00b99213363c45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95ff26d00046a9" /><Relationship Type="http://schemas.openxmlformats.org/officeDocument/2006/relationships/notesMaster" Target="/ppt/notesMasters/notesMaster1.xml" Id="R28a383c02c4246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fc5261cbfb494b" /><Relationship Type="http://schemas.openxmlformats.org/officeDocument/2006/relationships/notesMaster" Target="/ppt/notesMasters/notesMaster1.xml" Id="Rb33a266d78024a3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461d9eac404a73" /><Relationship Type="http://schemas.openxmlformats.org/officeDocument/2006/relationships/notesMaster" Target="/ppt/notesMasters/notesMaster1.xml" Id="R17371694c20d4a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ea64a21cd345d8" /><Relationship Type="http://schemas.openxmlformats.org/officeDocument/2006/relationships/notesMaster" Target="/ppt/notesMasters/notesMaster1.xml" Id="R55445e89178445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0f9a9cd8a047b2" /><Relationship Type="http://schemas.openxmlformats.org/officeDocument/2006/relationships/notesMaster" Target="/ppt/notesMasters/notesMaster1.xml" Id="R802a1422f1f24f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965a489d02482b" /><Relationship Type="http://schemas.openxmlformats.org/officeDocument/2006/relationships/notesMaster" Target="/ppt/notesMasters/notesMaster1.xml" Id="Re0a18aaf917d47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c35845bae54f5e" /><Relationship Type="http://schemas.openxmlformats.org/officeDocument/2006/relationships/notesMaster" Target="/ppt/notesMasters/notesMaster1.xml" Id="Rc0c58f03c0ce4f0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49711190ee41c7" /><Relationship Type="http://schemas.openxmlformats.org/officeDocument/2006/relationships/notesMaster" Target="/ppt/notesMasters/notesMaster1.xml" Id="R52ca62cf607a44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edc938718af47f7" /><Relationship Type="http://schemas.openxmlformats.org/officeDocument/2006/relationships/notesMaster" Target="/ppt/notesMasters/notesMaster1.xml" Id="Rbd7ce040c4774c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133d985afb4be9" /><Relationship Type="http://schemas.openxmlformats.org/officeDocument/2006/relationships/notesMaster" Target="/ppt/notesMasters/notesMaster1.xml" Id="Rd2f9fe14f53244a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d117da2fb741e2" /><Relationship Type="http://schemas.openxmlformats.org/officeDocument/2006/relationships/notesMaster" Target="/ppt/notesMasters/notesMaster1.xml" Id="R2e29e21df0ec48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1045795b46440b" /><Relationship Type="http://schemas.openxmlformats.org/officeDocument/2006/relationships/notesMaster" Target="/ppt/notesMasters/notesMaster1.xml" Id="Rf181d6995c6d4c1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941b4c1896f4686" /><Relationship Type="http://schemas.openxmlformats.org/officeDocument/2006/relationships/notesMaster" Target="/ppt/notesMasters/notesMaster1.xml" Id="R31b56fff056e470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efe01dda14147d1" /><Relationship Type="http://schemas.openxmlformats.org/officeDocument/2006/relationships/notesMaster" Target="/ppt/notesMasters/notesMaster1.xml" Id="Re77f1f125e8c47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406d3ab8ec4476" /><Relationship Type="http://schemas.openxmlformats.org/officeDocument/2006/relationships/notesMaster" Target="/ppt/notesMasters/notesMaster1.xml" Id="R363a59c61c18401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ee8be0a4d304bb2" /><Relationship Type="http://schemas.openxmlformats.org/officeDocument/2006/relationships/notesMaster" Target="/ppt/notesMasters/notesMaster1.xml" Id="R806ecc21627d454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485714d87e4d9c" /><Relationship Type="http://schemas.openxmlformats.org/officeDocument/2006/relationships/notesMaster" Target="/ppt/notesMasters/notesMaster1.xml" Id="R5d28a6a5aa7240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bd13062fe5b446b" /><Relationship Type="http://schemas.openxmlformats.org/officeDocument/2006/relationships/notesMaster" Target="/ppt/notesMasters/notesMaster1.xml" Id="Rf04a6d71c36f4b2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fc923a983274030" /><Relationship Type="http://schemas.openxmlformats.org/officeDocument/2006/relationships/notesMaster" Target="/ppt/notesMasters/notesMaster1.xml" Id="R0be54d70ec3944c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10a388d4f1b4ecf" /><Relationship Type="http://schemas.openxmlformats.org/officeDocument/2006/relationships/notesMaster" Target="/ppt/notesMasters/notesMaster1.xml" Id="Rdbb1ec2123ea47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d069cffe2c4280" /><Relationship Type="http://schemas.openxmlformats.org/officeDocument/2006/relationships/notesMaster" Target="/ppt/notesMasters/notesMaster1.xml" Id="R4fff9270f0f1458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a02947eb6da4cec" /><Relationship Type="http://schemas.openxmlformats.org/officeDocument/2006/relationships/notesMaster" Target="/ppt/notesMasters/notesMaster1.xml" Id="R46a12b18d631471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d4e04b260424a96" /><Relationship Type="http://schemas.openxmlformats.org/officeDocument/2006/relationships/notesMaster" Target="/ppt/notesMasters/notesMaster1.xml" Id="Rc2e60c66160f40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0.41 minutes. Main talk totals 20 minutes. Timing appears only in speaker notes.</a:t>
            </a:r>
          </a:p>
          <a:p xmlns:a="http://schemas.openxmlformats.org/drawingml/2006/main">
            <a:r>
              <a:t/>
            </a:r>
          </a:p>
          <a:p xmlns:a="http://schemas.openxmlformats.org/drawingml/2006/main">
            <a:r>
              <a:t>TOPIC: Title</a:t>
            </a:r>
          </a:p>
          <a:p xmlns:a="http://schemas.openxmlformats.org/drawingml/2006/main">
            <a:r>
              <a:t/>
            </a:r>
          </a:p>
          <a:p xmlns:a="http://schemas.openxmlformats.org/drawingml/2006/main">
            <a:r>
              <a:t>Good morning. I am William Anthony from Bandung Institute of Technology. This work investigates how to make a small GAN image-generation accelerator use chip area more efficiently. Our main idea is to examine how the accelerator stores its results. By reorganizing one underused buffer, we reduce die area by 24 percent while maintaining correct operation through the routed hardware design. I will explain why that buffer matters, how we changed it, and what the improvement costs.</a:t>
            </a:r>
          </a:p>
          <a:p xmlns:a="http://schemas.openxmlformats.org/drawingml/2006/main">
            <a:r>
              <a:t/>
            </a:r>
          </a:p>
          <a:p xmlns:a="http://schemas.openxmlformats.org/drawingml/2006/main">
            <a:r>
              <a:t>SOURCE: Supplied paper, An Area-Optimized 8-bit Deep Learning Accelerator for GAN Image Generation on GF180MCU. Title and abstract.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0.73 minutes. Main talk totals 20 minutes. Timing appears only in speaker notes.</a:t>
            </a:r>
          </a:p>
          <a:p xmlns:a="http://schemas.openxmlformats.org/drawingml/2006/main">
            <a:r>
              <a:t/>
            </a:r>
          </a:p>
          <a:p xmlns:a="http://schemas.openxmlformats.org/drawingml/2006/main">
            <a:r>
              <a:t>Before discussing the chip, let us make the task clear. GAN stands for generative adversarial network. A classifier might look at a handwritten digit and predict its label. A generator creates a new image from numbers. In this work, a vector with 64 values enters a trained generator, which produces 784 pixel values. Those pixels form a small handwritten-digit image. The example on the right is output from the hardware path. We use the term synthetic because the image comes from the model. The latent input is the numerical starting point for generation. The useful hardware question is how to execute this learned computation with limited resources. Keep this distinction in mind: the generator creates pixel values, and our accelerator performs the dense arithmetic needed to calculate them. Pause on the input-to-image flow before moving on.</a:t>
            </a:r>
          </a:p>
          <a:p xmlns:a="http://schemas.openxmlformats.org/drawingml/2006/main">
            <a:r>
              <a:t/>
            </a:r>
          </a:p>
          <a:p xmlns:a="http://schemas.openxmlformats.org/drawingml/2006/main">
            <a:r>
              <a:t>SOURCE: Goodfellow et al., Generative Adversarial Nets, https://arxiv.org/abs/1406.2661. Supplied paper, Sections III and VI, Figure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0.62 minutes. Main talk totals 20 minutes. Timing appears only in speaker notes.</a:t>
            </a:r>
          </a:p>
          <a:p xmlns:a="http://schemas.openxmlformats.org/drawingml/2006/main">
            <a:r>
              <a:t/>
            </a:r>
          </a:p>
          <a:p xmlns:a="http://schemas.openxmlformats.org/drawingml/2006/main">
            <a:r>
              <a:t>Why use a generator at all? One reason is to create additional training examples when real data are scarce. GAN augmentation research has explored this in image segmentation. Another use is image-to-image translation. The pix2pix work learns mappings such as an edge representation to an image. A third use is super-resolution. SRGAN uses an adversarial objective to produce visually plausible finer detail. These examples explain why generative image computation matters to signal and image processing. They also have limits. A visually plausible result is not a guarantee of factual detail, and synthetic training data require task-specific evaluation. Our paper does not implement those larger applications. It uses a compact handwritten-digit generator to study how generative inference maps onto a small physical accelerator. The connection is that useful image generation requires computation, and the cost of storing and moving its intermediate data matters.</a:t>
            </a:r>
          </a:p>
          <a:p xmlns:a="http://schemas.openxmlformats.org/drawingml/2006/main">
            <a:r>
              <a:t/>
            </a:r>
          </a:p>
          <a:p xmlns:a="http://schemas.openxmlformats.org/drawingml/2006/main">
            <a:r>
              <a:t>SOURCE: GAN Augmentation: https://arxiv.org/abs/1810.10863; pix2pix: https://arxiv.org/abs/1611.07004; SRGAN: https://arxiv.org/abs/1609.04802. Applications are background context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0.73 minutes. Main talk totals 20 minutes. Timing appears only in speaker notes.</a:t>
            </a:r>
          </a:p>
          <a:p xmlns:a="http://schemas.openxmlformats.org/drawingml/2006/main">
            <a:r>
              <a:t/>
            </a:r>
          </a:p>
          <a:p xmlns:a="http://schemas.openxmlformats.org/drawingml/2006/main">
            <a:r>
              <a:t>The word adversarial describes the training process. A generator produces samples and a discriminator learns to distinguish generated samples from real training data. Their competing objectives provide the learning signal. After training, the generator can produce samples without running the discriminator. That distinction is essential for understanding the hardware scope. This paper starts from a pretrained generator. The accelerator executes its dense-layer integer dot products. It does not train either network and does not include a discriminator. Host software supplies weights and inputs, then performs the remaining bias and activation operations. So when we say GAN accelerator, the specific supported workload is the arithmetic of this small GAN generator during inference. This narrower scope lets us examine the memory organization, verify each numerical step, and complete physical implementation in an open-source flow.</a:t>
            </a:r>
          </a:p>
          <a:p xmlns:a="http://schemas.openxmlformats.org/drawingml/2006/main">
            <a:r>
              <a:t/>
            </a:r>
          </a:p>
          <a:p xmlns:a="http://schemas.openxmlformats.org/drawingml/2006/main">
            <a:r>
              <a:t>SOURCE: Goodfellow et al., https://arxiv.org/abs/1406.2661; supplied paper, Sections III, VI and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0.73 minutes. Main talk totals 20 minutes. Timing appears only in speaker notes.</a:t>
            </a:r>
          </a:p>
          <a:p xmlns:a="http://schemas.openxmlformats.org/drawingml/2006/main">
            <a:r>
              <a:t/>
            </a:r>
          </a:p>
          <a:p xmlns:a="http://schemas.openxmlformats.org/drawingml/2006/main">
            <a:r>
              <a:t>TOPIC: Research purpose and motivation</a:t>
            </a:r>
          </a:p>
          <a:p xmlns:a="http://schemas.openxmlformats.org/drawingml/2006/main">
            <a:r>
              <a:t/>
            </a:r>
          </a:p>
          <a:p xmlns:a="http://schemas.openxmlformats.org/drawingml/2006/main">
            <a:r>
              <a:t>Why is this research important? An accelerator must do more than produce the right numerical result. Its hardware must also fit within a practical physical design. Memory organization matters because a memory macro occupies its full area even when the application uses only a small part of its capacity. In our earlier accelerator, the result buffer stored very little data but required three SRAM macros. That made it a clear opportunity for improvement. Our purpose is to reduce that physical cost while preserving the generator workload and numerical correctness. For signal-processing researchers, the broader lesson is that how we store intermediate results can strongly affect the hardware required to execute an algorithm.</a:t>
            </a:r>
          </a:p>
          <a:p xmlns:a="http://schemas.openxmlformats.org/drawingml/2006/main">
            <a:r>
              <a:t/>
            </a:r>
          </a:p>
          <a:p xmlns:a="http://schemas.openxmlformats.org/drawingml/2006/main">
            <a:r>
              <a:t>SOURCE: Supplied paper, An Area-Optimized 8-bit Deep Learning Accelerator for GAN Image Generation on GF180MCU. Section I.</a:t>
            </a:r>
          </a:p>
          <a:p xmlns:a="http://schemas.openxmlformats.org/drawingml/2006/main">
            <a:r>
              <a:t/>
            </a:r>
          </a:p>
          <a:p xmlns:a="http://schemas.openxmlformats.org/drawingml/2006/main">
            <a:r>
              <a:t>Expanded motivation: Generative image applications motivate efficient inference hardware. The practical contribution here is a reproducible physical design for a small test workload. A fixed memory macro consumes its full footprint even when most locations are unused. Our experiment tests whether matching the buffer to the array geometry reduces area without introducing an unacceptable system-level delay. The purpose is to make this hardware implementation more resource-efficient, with a measured trade-off. The paper does not demonstrate a deployed medical, super-resolution or image-translation system. Give the audience time to connect the preceding GAN examples to this concrete hardware question.</a:t>
            </a:r>
          </a:p>
          <a:p xmlns:a="http://schemas.openxmlformats.org/drawingml/2006/main">
            <a:r>
              <a:t/>
            </a:r>
          </a:p>
          <a:p xmlns:a="http://schemas.openxmlformats.org/drawingml/2006/main">
            <a:r>
              <a:t>PLAIN-ENGLISH EXPLANATION: The research question is whether we can preserve the same quantized computation while storing its results more efficiently. SRAM means static random-access memory. A macro is a predesigned physical block with a fixed size. An almost-empty macro still consumes its entire footprint.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0.73 minutes. Main talk totals 20 minutes. Timing appears only in speaker notes.</a:t>
            </a:r>
          </a:p>
          <a:p xmlns:a="http://schemas.openxmlformats.org/drawingml/2006/main">
            <a:r>
              <a:t/>
            </a:r>
          </a:p>
          <a:p xmlns:a="http://schemas.openxmlformats.org/drawingml/2006/main">
            <a:r>
              <a:t>TOPIC: GAN generator and workload</a:t>
            </a:r>
          </a:p>
          <a:p xmlns:a="http://schemas.openxmlformats.org/drawingml/2006/main">
            <a:r>
              <a:t/>
            </a:r>
          </a:p>
          <a:p xmlns:a="http://schemas.openxmlformats.org/drawingml/2006/main">
            <a:r>
              <a:t>The workload is a small multilayer-perceptron GAN generator. It starts with a latent vector containing 64 values. Two hidden layers, each with 256 neurons, expand that input. The final layer produces 784 values, which form a 28-by-28 grayscale image. The hidden layers use ReLU and the output layer uses tanh. Generating one image requires 282,624 multiply-accumulate operations. This workload provides a compact way to test dense neural computation on custom hardware. The accelerator supports generator inference. Training and the discriminator are outside the hardware scope. Point to each layer in sequence, then pause on the output image.</a:t>
            </a:r>
          </a:p>
          <a:p xmlns:a="http://schemas.openxmlformats.org/drawingml/2006/main">
            <a:r>
              <a:t/>
            </a:r>
          </a:p>
          <a:p xmlns:a="http://schemas.openxmlformats.org/drawingml/2006/main">
            <a:r>
              <a:t>SOURCE: Supplied paper, An Area-Optimized 8-bit Deep Learning Accelerator for GAN Image Generation on GF180MCU. Section III and Figure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0.83 minutes. Main talk totals 20 minutes. Timing appears only in speaker notes.</a:t>
            </a:r>
          </a:p>
          <a:p xmlns:a="http://schemas.openxmlformats.org/drawingml/2006/main">
            <a:r>
              <a:t/>
            </a:r>
          </a:p>
          <a:p xmlns:a="http://schemas.openxmlformats.org/drawingml/2006/main">
            <a:r>
              <a:t>Each layer is evaluated four output neurons at a time. L0 and L2 each have 256 outputs, so each requires 64 tiles. L4 has 784 outputs, so it requires 196 tiles. The total is 324. In the generator schedule, four weight rows load A and the shared input vector loads B. Although the hardware array contains sixteen PEs, one column produces the four useful outputs for a single latent input. The remaining columns produce unused results. K is the number of accumulation steps, not the array width. The hardened default is 256; L0 has only 64 genuine input terms and uses a padded tail. This distinction explains both the workload mapping and the later utilization result.</a:t>
            </a:r>
          </a:p>
          <a:p xmlns:a="http://schemas.openxmlformats.org/drawingml/2006/main">
            <a:r>
              <a:t/>
            </a:r>
          </a:p>
          <a:p xmlns:a="http://schemas.openxmlformats.org/drawingml/2006/main">
            <a:r>
              <a:t>SOURCE: Supplied paper, Sections III, IV and VII, IX-A.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0.83 minutes. Main talk totals 20 minutes. Timing appears only in speaker notes.</a:t>
            </a:r>
          </a:p>
          <a:p xmlns:a="http://schemas.openxmlformats.org/drawingml/2006/main">
            <a:r>
              <a:t/>
            </a:r>
          </a:p>
          <a:p xmlns:a="http://schemas.openxmlformats.org/drawingml/2006/main">
            <a:r>
              <a:t>TOPIC: Only 6.25% of result memory was used</a:t>
            </a:r>
          </a:p>
          <a:p xmlns:a="http://schemas.openxmlformats.org/drawingml/2006/main">
            <a:r>
              <a:t/>
            </a:r>
          </a:p>
          <a:p xmlns:a="http://schemas.openxmlformats.org/drawingml/2006/main">
            <a:r>
              <a:t>The main problem appears in the result buffer. Our four-by-four processing-element array produces sixteen accumulated results. Each contains 24 bits, so the buffer needs only 48 bytes. However, the predecessor stores these results across three 256-by-8 SRAM macros. Each macro holds one byte plane. Together they provide 768 bytes, giving an occupancy of only 6.25 percent. A larger neural layer does not change this tile-level requirement. The array still produces sixteen results per tile. The operand buffers face a different constraint: they must supply eight bytes every compute cycle. Their macro count supports bandwidth. That distinction directs our optimization toward the result buffer.</a:t>
            </a:r>
          </a:p>
          <a:p xmlns:a="http://schemas.openxmlformats.org/drawingml/2006/main">
            <a:r>
              <a:t/>
            </a:r>
          </a:p>
          <a:p xmlns:a="http://schemas.openxmlformats.org/drawingml/2006/main">
            <a:r>
              <a:t>SOURCE: Supplied paper, An Area-Optimized 8-bit Deep Learning Accelerator for GAN Image Generation on GF180MCU. Section IV-B.</a:t>
            </a:r>
          </a:p>
          <a:p xmlns:a="http://schemas.openxmlformats.org/drawingml/2006/main">
            <a:r>
              <a:t/>
            </a:r>
          </a:p>
          <a:p xmlns:a="http://schemas.openxmlformats.org/drawingml/2006/main">
            <a:r>
              <a:t>PLAIN-ENGLISH EXPLANATION: One byte contains eight bits. Each accumulated result uses 24 bits, or three bytes. The fixed four-by-four array produces sixteen results for a tile, so result storage remains 48 bytes even when an entire neural layer is larger.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0.83 minutes. Main talk totals 20 minutes. Timing appears only in speaker notes.</a:t>
            </a:r>
          </a:p>
          <a:p xmlns:a="http://schemas.openxmlformats.org/drawingml/2006/main">
            <a:r>
              <a:t/>
            </a:r>
          </a:p>
          <a:p xmlns:a="http://schemas.openxmlformats.org/drawingml/2006/main">
            <a:r>
              <a:t>TOPIC: Accelerator architecture and tile execution</a:t>
            </a:r>
          </a:p>
          <a:p xmlns:a="http://schemas.openxmlformats.org/drawingml/2006/main">
            <a:r>
              <a:t/>
            </a:r>
          </a:p>
          <a:p xmlns:a="http://schemas.openxmlformats.org/drawingml/2006/main">
            <a:r>
              <a:t>The accelerator uses sixteen processing elements arranged in a four-by-four array. Each PE multiplies two signed eight-bit operands and adds the product to a local 24-bit accumulator. Keeping the running sum inside each PE gives an output-stationary dataflow. The native accumulation depth is 256. The same sixteen PEs accumulate over 256 cycles. The controller clears the accumulators, runs the computation, and signals completion. A writeback sequencer then transfers the results into the result buffer. This separation between computation and result storage lets us change the buffer organization while preserving the arithmetic datapath. Point to the local accumulator and then trace its writeback path.</a:t>
            </a:r>
          </a:p>
          <a:p xmlns:a="http://schemas.openxmlformats.org/drawingml/2006/main">
            <a:r>
              <a:t/>
            </a:r>
          </a:p>
          <a:p xmlns:a="http://schemas.openxmlformats.org/drawingml/2006/main">
            <a:r>
              <a:t>SOURCE: Supplied paper, An Area-Optimized 8-bit Deep Learning Accelerator for GAN Image Generation on GF180MCU. Section IV-A and Figures 2-4.</a:t>
            </a:r>
          </a:p>
          <a:p xmlns:a="http://schemas.openxmlformats.org/drawingml/2006/main">
            <a:r>
              <a:t/>
            </a:r>
          </a:p>
          <a:p xmlns:a="http://schemas.openxmlformats.org/drawingml/2006/main">
            <a:r>
              <a:t>PLAIN-ENGLISH EXPLANATION: This simplified diagram replaces the detailed circuit drawing for the main talk. A and B supply input values and weights. Sixteen processing elements operate in parallel and keep their own running sums. The C memory receives the results after computation. The native accumulation depth of 256 is a time dimension, not an array of 256 units.</a:t>
            </a:r>
          </a:p>
          <a:p xmlns:a="http://schemas.openxmlformats.org/drawingml/2006/main">
            <a:r>
              <a:t/>
            </a:r>
          </a:p>
          <a:p xmlns:a="http://schemas.openxmlformats.org/drawingml/2006/main">
            <a:r>
              <a:t>PLAIN-ENGLISH EXPLANATION: Each A lane is broadcast along a row and each B lane down a column. A and B are generic operand roles. For the generator mapping in Section VII, A holds weight rows and B holds the input vector. Every PE retains its local sum, which is output-stationary dataflow. The operand SRAM requirement is four bytes from each bank per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1.24 minutes. Main talk totals 20 minutes. Timing appears only in speaker notes.</a:t>
            </a:r>
          </a:p>
          <a:p xmlns:a="http://schemas.openxmlformats.org/drawingml/2006/main">
            <a:r>
              <a:t/>
            </a:r>
          </a:p>
          <a:p xmlns:a="http://schemas.openxmlformats.org/drawingml/2006/main">
            <a:r>
              <a:t>This is the processing-element datapath from Figure 3. The multiplier takes two signed eight-bit operands and produces a sixteen-bit product. Sign extension copies the sign into the upper bits so that the product can be added correctly in a twenty-four-bit datapath. The adder combines the new product with the previous accumulator value. The register stores that sum for the next enabled cycle, forming the feedback path. CLEAR resets the running sum, and enable controls accumulation. After 256 valid products, the register contains one dot-product result. All sixteen PEs have this same local datapath. The memory optimization changes where these completed results are stored, while preserving these arithmetic operations.</a:t>
            </a:r>
          </a:p>
          <a:p xmlns:a="http://schemas.openxmlformats.org/drawingml/2006/main">
            <a:r>
              <a:t/>
            </a:r>
          </a:p>
          <a:p xmlns:a="http://schemas.openxmlformats.org/drawingml/2006/main">
            <a:r>
              <a:t>SOURCE: Supplied paper, Section IV-A, Equation 1 and Figure 3 left.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1.14 minutes. Main talk totals 20 minutes. Timing appears only in speaker notes.</a:t>
            </a:r>
          </a:p>
          <a:p xmlns:a="http://schemas.openxmlformats.org/drawingml/2006/main">
            <a:r>
              <a:t/>
            </a:r>
          </a:p>
          <a:p xmlns:a="http://schemas.openxmlformats.org/drawingml/2006/main">
            <a:r>
              <a:t>The finite-state machine has four states. IDLE waits for START. CLEAR zeroes every PE accumulator. COMPUTE enables the array and steps through the operand addresses. The k counter repeats while k is below K minus one, and reaches the last term at 255 when K is 256. DONE holds the completion flag until START falls, after which the controller returns to IDLE. The result buffer has a separate writeback sequencer; it is not a fifth state of this FSM. That sequencer serializes the sixteen accumulators and raises writeback-done. Operand SRAM reads have a one-cycle latency, so the top level delays PE enable and completion flags by a cycle to align computation with valid data. Distinguish compute done from writeback done.</a:t>
            </a:r>
          </a:p>
          <a:p xmlns:a="http://schemas.openxmlformats.org/drawingml/2006/main">
            <a:r>
              <a:t/>
            </a:r>
          </a:p>
          <a:p xmlns:a="http://schemas.openxmlformats.org/drawingml/2006/main">
            <a:r>
              <a:t>SOURCE: Supplied paper, Section IV-A and Figure 4; SRAM alignment in Section IV-B.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1.14 minutes. Main talk totals 20 minutes. Timing appears only in speaker notes.</a:t>
            </a:r>
          </a:p>
          <a:p xmlns:a="http://schemas.openxmlformats.org/drawingml/2006/main">
            <a:r>
              <a:t/>
            </a:r>
          </a:p>
          <a:p xmlns:a="http://schemas.openxmlformats.org/drawingml/2006/main">
            <a:r>
              <a:t>TOPIC: Memory folding cuts buffer area by 77%</a:t>
            </a:r>
          </a:p>
          <a:p xmlns:a="http://schemas.openxmlformats.org/drawingml/2006/main">
            <a:r>
              <a:t/>
            </a:r>
          </a:p>
          <a:p xmlns:a="http://schemas.openxmlformats.org/drawingml/2006/main">
            <a:r>
              <a:t>Our main transformation moves the byte planes into the address space. Previously, three macros supplied the three bytes of a result in parallel. In the new design, one macro stores those bytes sequentially. For each result, the address equals three times the result index plus the byte-plane index. Sixteen results therefore occupy 48 locations in a 64-byte memory. This reduces result-buffer area by 77 percent and removes two SRAM macros. The trade-off is access time. Writing sixteen 24-bit results now takes 48 cycles instead of sixteen. Reads also require several accesses to assemble one result, so the controller and its callers must follow a new timing contract. The design principle is that storage width can be exchanged for access time when the workload can tolerate the delay.</a:t>
            </a:r>
          </a:p>
          <a:p xmlns:a="http://schemas.openxmlformats.org/drawingml/2006/main">
            <a:r>
              <a:t/>
            </a:r>
          </a:p>
          <a:p xmlns:a="http://schemas.openxmlformats.org/drawingml/2006/main">
            <a:r>
              <a:t>SOURCE: Supplied paper, An Area-Optimized 8-bit Deep Learning Accelerator for GAN Image Generation on GF180MCU. Section IV-B and Equation 2.</a:t>
            </a:r>
          </a:p>
          <a:p xmlns:a="http://schemas.openxmlformats.org/drawingml/2006/main">
            <a:r>
              <a:t/>
            </a:r>
          </a:p>
          <a:p xmlns:a="http://schemas.openxmlformats.org/drawingml/2006/main">
            <a:r>
              <a:t>PLAIN-ENGLISH EXPLANATION: The address example shows result zero. Result one occupies addresses three, four and five, and so on. The memory contains the same 48 bytes as before, but bytes move sequentially rather than three at once. The 77-percent figure is physical buffer area reduction, not total chip area reduction.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1.04 minutes. Main talk totals 20 minutes. Timing appears only in speaker notes.</a:t>
            </a:r>
          </a:p>
          <a:p xmlns:a="http://schemas.openxmlformats.org/drawingml/2006/main">
            <a:r>
              <a:t/>
            </a:r>
          </a:p>
          <a:p xmlns:a="http://schemas.openxmlformats.org/drawingml/2006/main">
            <a:r>
              <a:t>The result buffer stores sixteen twenty-four-bit values as three byte planes. Its address is three times the word index plus the plane index. The write caller holds address and data steady until the final byte plane is acknowledged. This expands tile writeback from sixteen to forty-eight cycles. For reads, the bank gathers three bytes and also accounts for the SRAM registered output latency, producing valid data on the fourth cycle after read enable rises. A changing word address must restart this assembly, even if enable remains high. Otherwise bytes from different results can interleave. This is why memory folding requires a controller and verification change rather than only substituting a smaller SRAM.</a:t>
            </a:r>
          </a:p>
          <a:p xmlns:a="http://schemas.openxmlformats.org/drawingml/2006/main">
            <a:r>
              <a:t/>
            </a:r>
          </a:p>
          <a:p xmlns:a="http://schemas.openxmlformats.org/drawingml/2006/main">
            <a:r>
              <a:t>SOURCE: Supplied paper, Section IV-B, Equation 2 and Section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0.83 minutes. Main talk totals 20 minutes. Timing appears only in speaker notes.</a:t>
            </a:r>
          </a:p>
          <a:p xmlns:a="http://schemas.openxmlformats.org/drawingml/2006/main">
            <a:r>
              <a:t/>
            </a:r>
          </a:p>
          <a:p xmlns:a="http://schemas.openxmlformats.org/drawingml/2006/main">
            <a:r>
              <a:t>TOPIC: INT8 balances error and hardware cost</a:t>
            </a:r>
          </a:p>
          <a:p xmlns:a="http://schemas.openxmlformats.org/drawingml/2006/main">
            <a:r>
              <a:t/>
            </a:r>
          </a:p>
          <a:p xmlns:a="http://schemas.openxmlformats.org/drawingml/2006/main">
            <a:r>
              <a:t>We selected eight-bit arithmetic by comparing numerical error with hardware cost. The evaluation uses ten latent inputs, covering 7,840 output pixels, against an exact FP64 reference. INT4 reduces hardware size, but its mean pixel error reaches 22.26 grayscale levels. INT16 reduces that error to 0.01 but requires almost three times the PE area of INT8 and doubles weight storage and transfer volume. INT8 gives a mean error of 1.22 grayscale levels and matches the eight-bit SRAM interface. For this generator and evaluation sample, it provides a useful balance. These results describe pixel differences from the reference rather than a broad perceptual-quality benchmark.</a:t>
            </a:r>
          </a:p>
          <a:p xmlns:a="http://schemas.openxmlformats.org/drawingml/2006/main">
            <a:r>
              <a:t/>
            </a:r>
          </a:p>
          <a:p xmlns:a="http://schemas.openxmlformats.org/drawingml/2006/main">
            <a:r>
              <a:t>SOURCE: Supplied paper, An Area-Optimized 8-bit Deep Learning Accelerator for GAN Image Generation on GF180MCU. Section VI-B, Table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1.04 minutes. Main talk totals 20 minutes. Timing appears only in speaker notes.</a:t>
            </a:r>
          </a:p>
          <a:p xmlns:a="http://schemas.openxmlformats.org/drawingml/2006/main">
            <a:r>
              <a:t/>
            </a:r>
          </a:p>
          <a:p xmlns:a="http://schemas.openxmlformats.org/drawingml/2006/main">
            <a:r>
              <a:t>TOPIC: Host flow and end-to-end verification</a:t>
            </a:r>
          </a:p>
          <a:p xmlns:a="http://schemas.openxmlformats.org/drawingml/2006/main">
            <a:r>
              <a:t/>
            </a:r>
          </a:p>
          <a:p xmlns:a="http://schemas.openxmlformats.org/drawingml/2006/main">
            <a:r>
              <a:t>The accelerator performs integer dot products. The host handles the surrounding neural-network operations. It prepares quantized inputs and weights, schedules tiles, and applies bias, rescaling and activation functions. The final tanh uses a lookup table to produce grayscale pixels. Verification covers seven testbenches, including individual computations, a full image and the serial interface. The full-image and serial-interface tests also run against the routed nine-macro netlist and reproduce the Python reference exactly. Bit-exact means agreement with the defined quantized reference. It does not mean identical output to the floating-point model. This matters because folding memory changes access timing and can introduce errors even when the arithmetic remains unchanged.</a:t>
            </a:r>
          </a:p>
          <a:p xmlns:a="http://schemas.openxmlformats.org/drawingml/2006/main">
            <a:r>
              <a:t/>
            </a:r>
          </a:p>
          <a:p xmlns:a="http://schemas.openxmlformats.org/drawingml/2006/main">
            <a:r>
              <a:t>SOURCE: Supplied paper, An Area-Optimized 8-bit Deep Learning Accelerator for GAN Image Generation on GF180MCU. Sections VI-VII, Figures 5-6.</a:t>
            </a:r>
          </a:p>
          <a:p xmlns:a="http://schemas.openxmlformats.org/drawingml/2006/main">
            <a:r>
              <a:t/>
            </a:r>
          </a:p>
          <a:p xmlns:a="http://schemas.openxmlformats.org/drawingml/2006/main">
            <a:r>
              <a:t>PLAIN-ENGLISH EXPLANATION: Per-tensor scale factors are recorded in a manifest and reused by the testbench. The host math is integer so that software and hardware follow the same rounding and scaling contract. The output tanh is a lookup table rather than an on-chip nonlinear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0.93 minutes. Main talk totals 20 minutes. Timing appears only in speaker notes.</a:t>
            </a:r>
          </a:p>
          <a:p xmlns:a="http://schemas.openxmlformats.org/drawingml/2006/main">
            <a:r>
              <a:t/>
            </a:r>
          </a:p>
          <a:p xmlns:a="http://schemas.openxmlformats.org/drawingml/2006/main">
            <a:r>
              <a:t>The core exposes 53 signal bits, while the shuttle slot provides twenty general-purpose digital pads. The wrapper uses a four-wire serial bridge: SCLK, MOSI, chip select and MISO. All three inputs are double-flop synchronized to the core clock, and SCLK is edge-detected as data, avoiding a second clock domain. Write frames send a two-bit command, ten-bit address and eight-bit data word, most significant bit first. Commands load A or B, start a tile or read a twenty-four-bit C result. Rising chip select safely aborts a frame. Three direct status flags expose busy, done and writeback-done. With core clock and reset, nine pads are used. After folding, the host leaves nine core clocks after the final read-address bit, equivalent to an idle serial bit at SCLK no faster than core-clock divided by eight.</a:t>
            </a:r>
          </a:p>
          <a:p xmlns:a="http://schemas.openxmlformats.org/drawingml/2006/main">
            <a:r>
              <a:t/>
            </a:r>
          </a:p>
          <a:p xmlns:a="http://schemas.openxmlformats.org/drawingml/2006/main">
            <a:r>
              <a:t>SOURCE: Supplied paper, Section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0.93 minutes. Main talk totals 20 minutes. Timing appears only in speaker notes.</a:t>
            </a:r>
          </a:p>
          <a:p xmlns:a="http://schemas.openxmlformats.org/drawingml/2006/main">
            <a:r>
              <a:t/>
            </a:r>
          </a:p>
          <a:p xmlns:a="http://schemas.openxmlformats.org/drawingml/2006/main">
            <a:r>
              <a:t>The accelerator is hardened through LibreLane using the GF180MCU open process design kit. Structural RTL and a synthesis blackbox definition preserve foundry SRAM macros instead of inferring large register banks. An earlier version mixed five-volt logic and 3.3-volt SRAM. Migrating to the native 3.3-volt cell library gives a single-supply design compatible with the SRAM and I/O cells. Three library-flow integration bugs required source fixes. The macros are explicitly placed on a three-by-three grid with routing channels. SRAM power is connected on Metal3, and signal routing extends to Metal5. Physical and timing views feed later padring integration. The nine-macro block meets the forty-nanosecond target, but the predecessor alone completed the earlier chip-level integration. Updated integration and silicon measurements remain future work.</a:t>
            </a:r>
          </a:p>
          <a:p xmlns:a="http://schemas.openxmlformats.org/drawingml/2006/main">
            <a:r>
              <a:t/>
            </a:r>
          </a:p>
          <a:p xmlns:a="http://schemas.openxmlformats.org/drawingml/2006/main">
            <a:r>
              <a:t>SOURCE: Supplied paper, Sections V and VIII-A/B.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1.04 minutes. Main talk totals 20 minutes. Timing appears only in speaker notes.</a:t>
            </a:r>
          </a:p>
          <a:p xmlns:a="http://schemas.openxmlformats.org/drawingml/2006/main">
            <a:r>
              <a:t/>
            </a:r>
          </a:p>
          <a:p xmlns:a="http://schemas.openxmlformats.org/drawingml/2006/main">
            <a:r>
              <a:t>TOPIC: Antenna closure through macro placement</a:t>
            </a:r>
          </a:p>
          <a:p xmlns:a="http://schemas.openxmlformats.org/drawingml/2006/main">
            <a:r>
              <a:t/>
            </a:r>
          </a:p>
          <a:p xmlns:a="http://schemas.openxmlformats.org/drawingml/2006/main">
            <a:r>
              <a:t>A second contribution concerns physical implementation. Antenna checks identify routing structures that can accumulate damaging charge during fabrication. Five placement-density settings all left at least one violating net. The useful evidence came from the net names. Repeated violations pointed to outputs from one B-buffer macro, located far from the processing array. We moved that macro into the center and placed the small result buffer in the corner. The swap achieved zero antenna violations at two density settings. An independent diode-margin adjustment also achieved closure. The lesson is that a stalled density sweep can provide diagnostic information. Tracking which nets violate can reveal a placement problem that violation counts alone conceal.</a:t>
            </a:r>
          </a:p>
          <a:p xmlns:a="http://schemas.openxmlformats.org/drawingml/2006/main">
            <a:r>
              <a:t/>
            </a:r>
          </a:p>
          <a:p xmlns:a="http://schemas.openxmlformats.org/drawingml/2006/main">
            <a:r>
              <a:t>SOURCE: Supplied paper, An Area-Optimized 8-bit Deep Learning Accelerator for GAN Image Generation on GF180MCU. Section VIII-B, Table 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1.24 minutes. Main talk totals 20 minutes. Timing appears only in speaker notes.</a:t>
            </a:r>
          </a:p>
          <a:p xmlns:a="http://schemas.openxmlformats.org/drawingml/2006/main">
            <a:r>
              <a:t/>
            </a:r>
          </a:p>
          <a:p xmlns:a="http://schemas.openxmlformats.org/drawingml/2006/main">
            <a:r>
              <a:t>TOPIC: Smaller design with clean macro sign-off</a:t>
            </a:r>
          </a:p>
          <a:p xmlns:a="http://schemas.openxmlformats.org/drawingml/2006/main">
            <a:r>
              <a:t/>
            </a:r>
          </a:p>
          <a:p xmlns:a="http://schemas.openxmlformats.org/drawingml/2006/main">
            <a:r>
              <a:t>The final macro uses nine SRAM macros on a die measuring 1,375 by 1,325 micrometers. Die area decreases from 2.400 to 1.822 square millimeters, a reduction of 24 percent. Pause here. Estimated power decreases from 162 to 133 milliwatts, or 18 percent. These are tool estimates using the flow's default switching activity. The design passes DRC, LVS, GDS XOR and antenna checks and meets the 40-nanosecond clock requirement across nine timing corners. Setup margin also improves, although hold margin becomes slightly thinner. On-chip time increases from 3.54 to 3.95 milliseconds per image. These are macro-level implementation results. The updated design still requires chip-level padring integration and silicon validation.</a:t>
            </a:r>
          </a:p>
          <a:p xmlns:a="http://schemas.openxmlformats.org/drawingml/2006/main">
            <a:r>
              <a:t/>
            </a:r>
          </a:p>
          <a:p xmlns:a="http://schemas.openxmlformats.org/drawingml/2006/main">
            <a:r>
              <a:t>SOURCE: Supplied paper, An Area-Optimized 8-bit Deep Learning Accelerator for GAN Image Generation on GF180MCU. Section VIII, Figure 7 and Table III.</a:t>
            </a:r>
          </a:p>
          <a:p xmlns:a="http://schemas.openxmlformats.org/drawingml/2006/main">
            <a:r>
              <a:t/>
            </a:r>
          </a:p>
          <a:p xmlns:a="http://schemas.openxmlformats.org/drawingml/2006/main">
            <a:r>
              <a:t>PLAIN-ENGLISH EXPLANATION: The left picture is the final physical layout. Die area is the whole accelerator macro footprint, while core area excludes the surrounding margin. The controlled baseline uses the same process and clock. DRC checks geometric design rules; LVS checks layout connectivity against the circuit; XOR compares layout outputs; antenna checks fabrication-charge limits. Timing passes nine modeled process, voltage and interconnect conditions. The nine-macro design still requires updated padring integration and silicon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1.24 minutes. Main talk totals 20 minutes. Timing appears only in speaker notes.</a:t>
            </a:r>
          </a:p>
          <a:p xmlns:a="http://schemas.openxmlformats.org/drawingml/2006/main">
            <a:r>
              <a:t/>
            </a:r>
          </a:p>
          <a:p xmlns:a="http://schemas.openxmlformats.org/drawingml/2006/main">
            <a:r>
              <a:t>There are three different performance numbers, and their scopes must stay clear. Peak array capacity is sixteen MACs per cycle times 25 megahertz times two operations per MAC, or 0.8 GOPS. That capacity is not the useful throughput of this image schedule. Using 282,624 useful MACs and the measured on-chip simulation interval gives approximately 0.143 GOPS over 3.95 milliseconds, including writeback. The full serial schedule takes 2.149 seconds, corresponding to about 263 thousand useful operations per second and 0.47 images per second. Communication times are calculated from protocol frame lengths. Weight loading accounts for 98.85 percent of total latency. The current matrix-vector mapping also uses only four of sixteen PEs for useful neurons. Therefore the design is optimized for physical area, and the present schedule remains limited by utilization and weight streaming.</a:t>
            </a:r>
          </a:p>
          <a:p xmlns:a="http://schemas.openxmlformats.org/drawingml/2006/main">
            <a:r>
              <a:t/>
            </a:r>
          </a:p>
          <a:p xmlns:a="http://schemas.openxmlformats.org/drawingml/2006/main">
            <a:r>
              <a:t>SOURCE: Supplied paper, Section IX-A and Table IV. Useful throughput derived as 2 x 282,624 divided by the stated elapsed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0.93 minutes. Main talk totals 20 minutes. Timing appears only in speaker notes.</a:t>
            </a:r>
          </a:p>
          <a:p xmlns:a="http://schemas.openxmlformats.org/drawingml/2006/main">
            <a:r>
              <a:t/>
            </a:r>
          </a:p>
          <a:p xmlns:a="http://schemas.openxmlformats.org/drawingml/2006/main">
            <a:r>
              <a:t>This table restores all four previous accelerators listed in the paper, including DianNao and Wang and colleagues, and includes the reported efficiency figures. Peak throughput follows the paper convention of two operations per MAC. OpenSpike peak throughput is not supplied in Table V, so it remains blank. These are different workloads and process technologies, and the source table does not report directly comparable image-generation latency. We should not invent latency numbers or present a normalized speedup. Our strongest controlled baseline is the eleven-macro predecessor: same process, supply, library and clock. The revised macro reduces die area by 24 percent and estimated power by 18 percent, while on-chip latency increases from 3.54 to 3.95 milliseconds, or 11.7 percent. End-to-end overhead is approximately 0.04 percent for this serial schedule. The contribution is the measured area trade-off and open implementation rather than leading raw throughput.</a:t>
            </a:r>
          </a:p>
          <a:p xmlns:a="http://schemas.openxmlformats.org/drawingml/2006/main">
            <a:r>
              <a:t/>
            </a:r>
          </a:p>
          <a:p xmlns:a="http://schemas.openxmlformats.org/drawingml/2006/main">
            <a:r>
              <a:t>SOURCE: Supplied paper, Tables III-V and Sections VIII-C and IX. References: [3] Chen et al., DianNao, ASPLOS 2014; [4] Chen et al., Eyeriss, IEEE JSSC 2017; [7] Wang et al., IEEE AICAS 2024; [5] Modaresi et al., OpenSpike, ISCAS 2023.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PACING: 0.83 minutes. Main talk totals 20 minutes. Timing appears only in speaker notes.</a:t>
            </a:r>
          </a:p>
          <a:p xmlns:a="http://schemas.openxmlformats.org/drawingml/2006/main">
            <a:r>
              <a:t/>
            </a:r>
          </a:p>
          <a:p xmlns:a="http://schemas.openxmlformats.org/drawingml/2006/main">
            <a:r>
              <a:t>TOPIC: Conclusions and next steps</a:t>
            </a:r>
          </a:p>
          <a:p xmlns:a="http://schemas.openxmlformats.org/drawingml/2006/main">
            <a:r>
              <a:t/>
            </a:r>
          </a:p>
          <a:p xmlns:a="http://schemas.openxmlformats.org/drawingml/2006/main">
            <a:r>
              <a:t>To conclude, this research shows that examining memory organization can produce a substantial physical improvement in a small neural accelerator. Folding the result buffer reduces its area by 77 percent and enables a 24 percent reduction in die area. Added end-to-end latency is approximately 0.04 percent under the evaluated serial schedule. The work also shows how identifying recurring violating nets can guide antenna closure. Next priorities are batching inputs to improve weight reuse, reducing transfer overhead with burst writes, and integrating the updated macro into the padring before silicon validation. The main takeaway is simple: matching memory organization to the workload can make custom neural hardware substantially smaller. Thank you. I welcome your questions.</a:t>
            </a:r>
          </a:p>
          <a:p xmlns:a="http://schemas.openxmlformats.org/drawingml/2006/main">
            <a:r>
              <a:t/>
            </a:r>
          </a:p>
          <a:p xmlns:a="http://schemas.openxmlformats.org/drawingml/2006/main">
            <a:r>
              <a:t>SOURCE: Supplied paper, An Area-Optimized 8-bit Deep Learning Accelerator for GAN Image Generation on GF180MCU. Section 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Use these backup slides only when a question needs more detail. The main presentation ends at Conclusions and next steps.</a:t>
            </a:r>
          </a:p>
          <a:p xmlns:a="http://schemas.openxmlformats.org/drawingml/2006/main">
            <a:r>
              <a:t/>
            </a:r>
          </a:p>
          <a:p xmlns:a="http://schemas.openxmlformats.org/drawingml/2006/main">
            <a:r>
              <a:t>SOURCE: Supplied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MNIST provides a compact test case whose complete generated image can be checked against a software reference. The contribution concerns memory organization and physical implementation. It does not establish that this accelerator is suitable for modern high-resolution generators. GF180MCU provides the open-PDK setting used in the paper. Older process technology and the 3.3-volt operating point limit comparisons with advanced-node commercial accelerators. Avoid claiming that 180 nm is the best process for all GAN applications.</a:t>
            </a:r>
          </a:p>
          <a:p xmlns:a="http://schemas.openxmlformats.org/drawingml/2006/main">
            <a:r>
              <a:t/>
            </a:r>
          </a:p>
          <a:p xmlns:a="http://schemas.openxmlformats.org/drawingml/2006/main">
            <a:r>
              <a:t>SOURCE: Supplied paper, Sections I, III, VIII and IX-B.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hardened block is a tile engine rather than an autonomous complete GAN system. In simulation, Python and a Verilog testbench provide host functionality. For chip use, the planned host is a microcontroller using the serial protocol. The predecessor completed chip-level sign-off, but the paper explicitly says the nine-macro version has not yet completed the updated padring integration. Bit-exact routed-netlist results are simulation evidence, not measurements from fabricated silicon.</a:t>
            </a:r>
          </a:p>
          <a:p xmlns:a="http://schemas.openxmlformats.org/drawingml/2006/main">
            <a:r>
              <a:t/>
            </a:r>
          </a:p>
          <a:p xmlns:a="http://schemas.openxmlformats.org/drawingml/2006/main">
            <a:r>
              <a:t>SOURCE: Supplied paper, Sections V-VII and 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A 24-bit accumulator safely covers a sum of 256 full-range signed eight-bit products. A conservative magnitude bound is 4,194,304, which fits in a signed 24-bit result. The output is later rescaled by the host. INT8 is a measured compromise: mean pixel error is 1.22 grayscale levels on the ten-latent sample, but the maximum is 72, so avoid claiming that every pixel is almost unchanged. Bit-exact verification compares hardware with the quantized reference. It does not imply zero error against floating point. FP16 was evaluated numerically but no FP16 hardware datapath was built, so the paper does not report its area.</a:t>
            </a:r>
          </a:p>
          <a:p xmlns:a="http://schemas.openxmlformats.org/drawingml/2006/main">
            <a:r>
              <a:t/>
            </a:r>
          </a:p>
          <a:p xmlns:a="http://schemas.openxmlformats.org/drawingml/2006/main">
            <a:r>
              <a:t>SOURCE: Supplied paper, Sections IV-A, VI-B and Table I. Accumulator range is arithmetic derived from signed INT8 bounds.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eight operand macros meet simultaneous bandwidth requirements. Each single-port, eight-bit macro supplies one byte per cycle, and the array needs four A and four B bytes. Reducing depth does not reduce that lane count. The C buffer has fixed capacity of sixteen 24-bit results and can trade parallel byte access for sequential byte access. Its folded address range is zero to 47. The wrapper must restart a read sequence when its word address changes and must expose the correct valid timing. This transformation is useful when the system can tolerate the resulting latency.</a:t>
            </a:r>
          </a:p>
          <a:p xmlns:a="http://schemas.openxmlformats.org/drawingml/2006/main">
            <a:r>
              <a:t/>
            </a:r>
          </a:p>
          <a:p xmlns:a="http://schemas.openxmlformats.org/drawingml/2006/main">
            <a:r>
              <a:t>SOURCE: Supplied paper, Section IV-B and Equation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Use this breakdown when asked why end-to-end latency is much greater than on-chip processing. The per-tile engine interval is one CLEAR cycle, 256 accumulation cycles and 48 writeback cycles, giving 305 cycles. Across 324 tiles that is 98,820 cycles or 3.9528 milliseconds at 25 megahertz. Stage times in the table are rounded, and protocol communication time is calculated rather than measured on silicon. The single-latent matrix-vector schedule produces useful neurons in only one PE column, so on-chip useful throughput is about 17.9 percent of peak. The full serial link dominates total time. Future batching and burst transfers require implementation and benchmark validation.</a:t>
            </a:r>
          </a:p>
          <a:p xmlns:a="http://schemas.openxmlformats.org/drawingml/2006/main">
            <a:r>
              <a:t/>
            </a:r>
          </a:p>
          <a:p xmlns:a="http://schemas.openxmlformats.org/drawingml/2006/main">
            <a:r>
              <a:t>SOURCE: Supplied paper, Section IX-A and Table 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strongest comparison is against the eleven-macro predecessor because both use GF180MCU, the same 3.3-volt cell family and a 40-nanosecond clock. The 24-percent result is die-area reduction. Core area is 1.761 square millimeters in the new design, while die area is 1.822. Do not mix those denominators in comparisons. The power values are flow estimates and are not measured silicon consumption or a task-specific energy benchmark. All nine static-timing corners pass. Setup margin improves, but worst hold slack decreases slightly. Cross-paper comparisons involve different workloads and process nodes.</a:t>
            </a:r>
          </a:p>
          <a:p xmlns:a="http://schemas.openxmlformats.org/drawingml/2006/main">
            <a:r>
              <a:t/>
            </a:r>
          </a:p>
          <a:p xmlns:a="http://schemas.openxmlformats.org/drawingml/2006/main">
            <a:r>
              <a:t>SOURCE: Supplied paper, Section VIII-C and Tables III and 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four-wire bridge uses SCLK, MOSI, CS_N and MISO, with additional direct status flags. The inputs are synchronized to the core clock, and the paper evaluates SCLK at one eighth of the core clock. The current write frame contains 20 bits: two command bits, ten address bits and eight data bits. A burst protocol could amortize command and address overhead. The schedule also sends the padded L0 weight tail; pre-zeroing that tail reduces the reported calculated total to about 1.83 seconds. The paper emphasizes that widening the bus alone still leaves weight loading dominant because there is no reuse across images. Proposed improvements require implementation and measurement.</a:t>
            </a:r>
          </a:p>
          <a:p xmlns:a="http://schemas.openxmlformats.org/drawingml/2006/main">
            <a:r>
              <a:t/>
            </a:r>
          </a:p>
          <a:p xmlns:a="http://schemas.openxmlformats.org/drawingml/2006/main">
            <a:r>
              <a:t>SOURCE: Supplied paper, Sections V and IX-A.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These references support the general introduction to GANs and their applications. All numerical accelerator claims come from the supplied paper. Application examples are background motivation and were not evaluated on this accelerator.</a:t>
            </a:r>
          </a:p>
          <a:p xmlns:a="http://schemas.openxmlformats.org/drawingml/2006/main">
            <a:r>
              <a:t/>
            </a:r>
          </a:p>
          <a:p xmlns:a="http://schemas.openxmlformats.org/drawingml/2006/main">
            <a:r>
              <a:t>SOURCE: https://arxiv.org/abs/1406.2661; https://arxiv.org/abs/1611.07004; https://arxiv.org/abs/1609.04802; https://arxiv.org/abs/1810.10863; supplied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seven tests progress from one arithmetic lane to a complete generated image and the pad-level serial protocol. The last two replay the full-image and serial cases on the routed nine-macro netlist, including inserted buffers and antenna diodes. All reproduce the software golden vectors. This evidence confirms digital simulation correctness, not fabricated-silicon measurements or floating-point equivalence.</a:t>
            </a:r>
          </a:p>
          <a:p xmlns:a="http://schemas.openxmlformats.org/drawingml/2006/main">
            <a:r>
              <a:t/>
            </a:r>
          </a:p>
          <a:p xmlns:a="http://schemas.openxmlformats.org/drawingml/2006/main">
            <a:r>
              <a:t>SOURCE: Supplied paper, Section VII and Figure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These are different timing boundaries, so the counts should not be treated as interchangeable. The result-bank contract is four cycles after read-enable rises. The serial bridge registers that enable, adding a cycle relative to the combinational on-chip caller. Testbench sampling needs five edges where an RTL caller counts four. The host protocol reserves nine core clocks after the last address bit. Address changes must restart assembly, and the serial wait state must reassert the pulse-type enable. These were actual verification issues identified after folding.</a:t>
            </a:r>
          </a:p>
          <a:p xmlns:a="http://schemas.openxmlformats.org/drawingml/2006/main">
            <a:r>
              <a:t/>
            </a:r>
          </a:p>
          <a:p xmlns:a="http://schemas.openxmlformats.org/drawingml/2006/main">
            <a:r>
              <a:t>SOURCE: Supplied paper, Sections IV-B, V and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This reproduces Table II rather than only the two successful settings. All runs were otherwise DRC-, LVS- and timing-clean. A worst antenna ratio above one violates the rule. The repeated GEN_B_COLS[1] net names pointed to the macro in the far corner. Moving it inward and swapping C outward reached zero at densities 56 and 54. Independently increasing the diode margin from 25 to 50 also reached zero with the original topology. These independent checks support the diagnosis.</a:t>
            </a:r>
          </a:p>
          <a:p xmlns:a="http://schemas.openxmlformats.org/drawingml/2006/main">
            <a:r>
              <a:t/>
            </a:r>
          </a:p>
          <a:p xmlns:a="http://schemas.openxmlformats.org/drawingml/2006/main">
            <a:r>
              <a:t>SOURCE: Supplied paper, Section VIII-B and Table 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The third-party native-3.3-volt library required three integration fixes: a missing timing-corner variable, a synthesis-exclusion filename mismatch, and non-synthesizable random initializers in six sequential-cell models. The macro uses a behavioral memory model for simulation and a blackbox for synthesis. Power pins are connected through the power network rather than tied in RTL. Cell padding leaves access for antenna diodes. In-router antenna repair failed because its verification reroute could not access already-placed clock-net diodes, so the flow relies on placement and pre-inserted diodes.</a:t>
            </a:r>
          </a:p>
          <a:p xmlns:a="http://schemas.openxmlformats.org/drawingml/2006/main">
            <a:r>
              <a:t/>
            </a:r>
          </a:p>
          <a:p xmlns:a="http://schemas.openxmlformats.org/drawingml/2006/main">
            <a:r>
              <a:t>SOURCE: Supplied paper, Sections IV-B and VIII-A/B.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This completes Table III alongside the die area, core area, C-buffer area, power and latency values elsewhere in the deck. Slow-corner setup is evaluated at SS, 125 degrees Celsius and 3.0 volts; fast-corner hold at FF, minus 40 degrees Celsius and 3.6 volts. Three PVT points crossed with three interconnect corners give nine static-timing cases. The critical path is SRAM read, operand selection, MAC and accumulator. Its 23.76-nanosecond value suggests around 42 megahertz timing headroom, but the actual signed-off operating target remains 25 megahertz. Hold margin depends on clock skew and is not improved simply by lengthening the period.</a:t>
            </a:r>
          </a:p>
          <a:p xmlns:a="http://schemas.openxmlformats.org/drawingml/2006/main">
            <a:r>
              <a:t/>
            </a:r>
          </a:p>
          <a:p xmlns:a="http://schemas.openxmlformats.org/drawingml/2006/main">
            <a:r>
              <a:t>SOURCE: Supplied paper, Section VIII-C and Table III.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After antenna closure, the floorplan search kept the swapped topology and scaled only die size and macro coordinates. Moving from 1400 by 1350 to 1375 by 1325 micrometers saved 2,171 instances with 0.22 nanoseconds less setup margin. The smaller 1350 by 1300 case left two marginal antenna violations. Density changes worsened both directions, supporting congestion rather than a random placement issue. Memory macros still occupy 33.4 percent of core area, compared with about 21 percent for placed cells. The plane-walking controller adds 35 flip-flops while saving 157,453 square micrometers of SRAM macro area.</a:t>
            </a:r>
          </a:p>
          <a:p xmlns:a="http://schemas.openxmlformats.org/drawingml/2006/main">
            <a:r>
              <a:t/>
            </a:r>
          </a:p>
          <a:p xmlns:a="http://schemas.openxmlformats.org/drawingml/2006/main">
            <a:r>
              <a:t>SOURCE: Supplied paper, Sections VIII-B/C and Figure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audience questions, outside the 20-minute main talk.</a:t>
            </a:r>
          </a:p>
          <a:p xmlns:a="http://schemas.openxmlformats.org/drawingml/2006/main">
            <a:r>
              <a:t/>
            </a:r>
          </a:p>
          <a:p xmlns:a="http://schemas.openxmlformats.org/drawingml/2006/main">
            <a:r>
              <a:t>Use these exact source figures for questions about wiring. A provides row lanes and B column lanes to the generic array. Each row/column broadcast reaches multiple PEs, whose accumulators are local. The control unit generates the operand index, clear, enable, busy and done. A separate writeback path moves sixteen results to C. In the generator tile schedule, Section VII assigns weight rows to A and the shared input vector to B.</a:t>
            </a:r>
          </a:p>
          <a:p xmlns:a="http://schemas.openxmlformats.org/drawingml/2006/main">
            <a:r>
              <a:t/>
            </a:r>
          </a:p>
          <a:p xmlns:a="http://schemas.openxmlformats.org/drawingml/2006/main">
            <a:r>
              <a:t>SOURCE: Supplied paper, Figures 2 and 3 right, Sections IV and VII.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68951bc1dd41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29267a687f4f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a909f188ed4c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b6eb6067834f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5f5b263be849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06f67cdb27484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87abf7b3a6746a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d11742ba3b7438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231ce3e6f934f3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34870f9755c41b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de514bbfaf141b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8CE36E-F524-4AAF-A96B-B65886F570BA}"/>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E5B77ED5-0B94-4AEF-8426-E1250D0D0BB5}"/>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A5C9453-AD88-4C20-BF4F-7ACADA5D31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55F440F-7B13-479A-9CC7-D1913C84DB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F06380C-6846-4939-8EBD-A269F3EBF5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F67E61-46A2-4E30-89C7-B9D7D9F376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EDBC291-507B-4733-944A-2F251B097D7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7AC3184-B2AF-4161-B93E-3B8E25BE57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EB15E906-96EC-48C2-980D-DB334FBD78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BA964DD-DC02-45F9-88A4-3CAFFE8553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E3554D-9812-4276-90A7-2E9593DBB77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2434423-8A48-4103-AE1D-9E2A0FC4162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380E419-7A98-4C2F-8796-7134058297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13B35BC-1B4C-4A61-94F9-5BB511A188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50367DB-21AB-494B-B7DA-6362A8BD39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1E2D5A-B921-4903-AA59-FAAD6D8398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850F55A-71A1-4D3C-9869-CD119EA2EC5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98AA276-13C9-46C5-8BDF-F25C5516384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ADDB5133-6B54-4687-96F0-1AF6720110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510DDDBA-DA15-490D-A25D-1479B64D05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34BEA01-45FE-440A-AB95-0C6449FBBD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540B9A-9021-4DDE-B506-78BF236762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7234600-15B8-472A-83B9-8831D45E00C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43C0CE7-DE98-47A6-8D6C-254A07D15AF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F350764-1DA5-488A-907E-1E37A602331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A32D138-E120-4513-99E2-A6DB6026DCE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87302C9-67E9-47F9-9CBD-1A3CD909F8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9BF09F63-23F3-4A5E-B7FF-F992C802A3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B9D97ED-4681-4D6A-BF7D-3877DCF73E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DE3AC7-CB71-4CF5-A1E4-4C44FEF515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54A7867-261E-435D-B875-4BE8191D28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A9F550DB-03F4-46E6-9FAC-BF8D054F88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E97050A-74E7-4E08-BECF-C7E5BB2967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1A61D95-E7B3-45A4-92CA-A47504F7A0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019529A5-6CDB-4BE9-8E55-888CBF7417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3D574409-29BF-441C-96B9-617C1E146A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23B969-F75D-4039-A571-6B790A319A1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45F495D-7FDC-4E39-B2E1-0FE52FD0C1B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68FC0FC-8243-4637-A4FA-448B3A48677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AD7C869-2A31-4C5E-8C81-12A24B0CDF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E1A0F6D-89F3-4BC0-A2A7-76D468D321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AFD0887-F46A-4C8A-A982-2D9DFD96F1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8EB4D9-63AE-4C38-806D-7A1193103F2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66009D6-7F59-4C6E-8CD9-C6F38B7A52A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361C1E32-EED2-4181-B84B-C98F85E33BE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48F5B9-8606-4192-865C-E5CAAF4F63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5150CB20-42EF-4B2A-8F48-677A08F767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DC75A75-CAE4-40DB-A7B3-049FDC1E29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C042FD-E0D8-44B9-A64C-A3B1D8A52F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94277B0-4D73-4CC7-8542-E89C1E35D2C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C1B8622-A51A-4B28-9AC9-EE7FCD6BBF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BDE42B1-2FB3-45FC-9F6D-FFF9B2EE78C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03F6E0-006F-419D-98EB-F798FB986C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04E8E6B-D06B-4BB4-A605-0EB7EF7DAC9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D6B5340-3A3C-4653-8BCC-91E4BF9D599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CD4F55-A462-477D-8B81-CDAB429F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95D9D6C-5449-400F-82C8-AF045090A4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A6BF68-3505-48F7-88A8-F0DC2F5092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d600247be94d17" /><Relationship Type="http://schemas.openxmlformats.org/officeDocument/2006/relationships/slideLayout" Target="/ppt/slideLayouts/slideLayout1.xml" Id="Rb3b6289bccc14836" /><Relationship Type="http://schemas.openxmlformats.org/officeDocument/2006/relationships/slideLayout" Target="/ppt/slideLayouts/slideLayout2.xml" Id="R73bf739ce5b045b2" /><Relationship Type="http://schemas.openxmlformats.org/officeDocument/2006/relationships/slideLayout" Target="/ppt/slideLayouts/slideLayout3.xml" Id="R35654e1182fb45a0" /><Relationship Type="http://schemas.openxmlformats.org/officeDocument/2006/relationships/slideLayout" Target="/ppt/slideLayouts/slideLayout4.xml" Id="R1a76d00e443f4589" /><Relationship Type="http://schemas.openxmlformats.org/officeDocument/2006/relationships/slideLayout" Target="/ppt/slideLayouts/slideLayout5.xml" Id="R40e9b95a0efb41b1" /><Relationship Type="http://schemas.openxmlformats.org/officeDocument/2006/relationships/slideLayout" Target="/ppt/slideLayouts/slideLayout6.xml" Id="Rf95fe3447716441c" /><Relationship Type="http://schemas.openxmlformats.org/officeDocument/2006/relationships/slideLayout" Target="/ppt/slideLayouts/slideLayout7.xml" Id="Re445b5a3606449bc" /><Relationship Type="http://schemas.openxmlformats.org/officeDocument/2006/relationships/slideLayout" Target="/ppt/slideLayouts/slideLayout8.xml" Id="R8f6ef46632764a9a" /><Relationship Type="http://schemas.openxmlformats.org/officeDocument/2006/relationships/slideLayout" Target="/ppt/slideLayouts/slideLayout9.xml" Id="Ra86e95c2fd79463b" /><Relationship Type="http://schemas.openxmlformats.org/officeDocument/2006/relationships/slideLayout" Target="/ppt/slideLayouts/slideLayout10.xml" Id="R06f180257745459c" /><Relationship Type="http://schemas.openxmlformats.org/officeDocument/2006/relationships/slideLayout" Target="/ppt/slideLayouts/slideLayout11.xml" Id="R060a242cf60f490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557E08A-A272-4B8C-BE85-00774796D5B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67A6812-F424-4504-AB8C-BC74D96C1AE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E86D59B-C9E3-4F13-900A-1BFDB4DE22B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5FC2FB0-0F0E-401F-BF21-290DCB5C53D0}"/>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77B36A4-C70A-4B58-918C-9B857635E9A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6289bccc14836"/>
    <p:sldLayoutId xmlns:r="http://schemas.openxmlformats.org/officeDocument/2006/relationships" id="2147483650" r:id="R73bf739ce5b045b2"/>
    <p:sldLayoutId xmlns:r="http://schemas.openxmlformats.org/officeDocument/2006/relationships" id="2147483651" r:id="R35654e1182fb45a0"/>
    <p:sldLayoutId xmlns:r="http://schemas.openxmlformats.org/officeDocument/2006/relationships" id="2147483652" r:id="R1a76d00e443f4589"/>
    <p:sldLayoutId xmlns:r="http://schemas.openxmlformats.org/officeDocument/2006/relationships" id="2147483653" r:id="R40e9b95a0efb41b1"/>
    <p:sldLayoutId xmlns:r="http://schemas.openxmlformats.org/officeDocument/2006/relationships" id="2147483654" r:id="Rf95fe3447716441c"/>
    <p:sldLayoutId xmlns:r="http://schemas.openxmlformats.org/officeDocument/2006/relationships" id="2147483655" r:id="Re445b5a3606449bc"/>
    <p:sldLayoutId xmlns:r="http://schemas.openxmlformats.org/officeDocument/2006/relationships" id="2147483656" r:id="R8f6ef46632764a9a"/>
    <p:sldLayoutId xmlns:r="http://schemas.openxmlformats.org/officeDocument/2006/relationships" id="2147483657" r:id="Ra86e95c2fd79463b"/>
    <p:sldLayoutId xmlns:r="http://schemas.openxmlformats.org/officeDocument/2006/relationships" id="2147483658" r:id="R06f180257745459c"/>
    <p:sldLayoutId xmlns:r="http://schemas.openxmlformats.org/officeDocument/2006/relationships" id="2147483659" r:id="R060a242cf60f4901"/>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3a5945acb8c64e83" /><Relationship Type="http://schemas.openxmlformats.org/officeDocument/2006/relationships/image" Target="/ppt/media/image.png" Id="R23ebddfa2415442f" /><Relationship Type="http://schemas.openxmlformats.org/officeDocument/2006/relationships/notesSlide" Target="/ppt/notesSlides/notesSlide1.xml" Id="Raa9ff35448464c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510b85a196f4055" /><Relationship Type="http://schemas.openxmlformats.org/officeDocument/2006/relationships/image" Target="/ppt/media/image2.png" Id="Ra129cb07d6df467e" /><Relationship Type="http://schemas.openxmlformats.org/officeDocument/2006/relationships/image" Target="/ppt/media/image3.png" Id="Rf70648c8079940d2" /><Relationship Type="http://schemas.openxmlformats.org/officeDocument/2006/relationships/notesSlide" Target="/ppt/notesSlides/notesSlide2.xml" Id="Ra084dbd7c6774c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465e1f2e71f4701" /><Relationship Type="http://schemas.openxmlformats.org/officeDocument/2006/relationships/image" Target="/ppt/media/image4.png" Id="Rdf1332c81ebf4e46" /><Relationship Type="http://schemas.openxmlformats.org/officeDocument/2006/relationships/notesSlide" Target="/ppt/notesSlides/notesSlide3.xml" Id="R5c94a7baea174c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80d76b82be74731" /><Relationship Type="http://schemas.openxmlformats.org/officeDocument/2006/relationships/image" Target="/ppt/media/image5.png" Id="Rbb5cfa2893e54203" /><Relationship Type="http://schemas.openxmlformats.org/officeDocument/2006/relationships/notesSlide" Target="/ppt/notesSlides/notesSlide4.xml" Id="R3a8e5719d68949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117113fab324bf5" /><Relationship Type="http://schemas.openxmlformats.org/officeDocument/2006/relationships/image" Target="/ppt/media/image6.png" Id="R815205e2eb7f4aa2" /><Relationship Type="http://schemas.openxmlformats.org/officeDocument/2006/relationships/notesSlide" Target="/ppt/notesSlides/notesSlide5.xml" Id="Rc64895e53fa54b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e81f885f78c4c64" /><Relationship Type="http://schemas.openxmlformats.org/officeDocument/2006/relationships/image" Target="/ppt/media/image7.png" Id="Radda4f9b3d184996" /><Relationship Type="http://schemas.openxmlformats.org/officeDocument/2006/relationships/image" Target="/ppt/media/image8.png" Id="R9a3e1759a69c49f9" /><Relationship Type="http://schemas.openxmlformats.org/officeDocument/2006/relationships/notesSlide" Target="/ppt/notesSlides/notesSlide6.xml" Id="R63684d3a445845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e31bb8f7d8d4aa7" /><Relationship Type="http://schemas.openxmlformats.org/officeDocument/2006/relationships/image" Target="/ppt/media/image9.png" Id="Rf1f057ebf1a74d38" /><Relationship Type="http://schemas.openxmlformats.org/officeDocument/2006/relationships/notesSlide" Target="/ppt/notesSlides/notesSlide7.xml" Id="R23aac791b51641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a016cd9e3fb4d38" /><Relationship Type="http://schemas.openxmlformats.org/officeDocument/2006/relationships/image" Target="/ppt/media/image10.png" Id="Reec5ee1d1f124e03" /><Relationship Type="http://schemas.openxmlformats.org/officeDocument/2006/relationships/notesSlide" Target="/ppt/notesSlides/notesSlide8.xml" Id="Reccd8939c96548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1ac085f0a1b4bfc" /><Relationship Type="http://schemas.openxmlformats.org/officeDocument/2006/relationships/image" Target="/ppt/media/image11.png" Id="R470c57bc513248b2" /><Relationship Type="http://schemas.openxmlformats.org/officeDocument/2006/relationships/notesSlide" Target="/ppt/notesSlides/notesSlide9.xml" Id="R66afc993976248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622f3a676ea4d35" /><Relationship Type="http://schemas.openxmlformats.org/officeDocument/2006/relationships/image" Target="/ppt/media/image12.png" Id="R2f2a89063a9b4773" /><Relationship Type="http://schemas.openxmlformats.org/officeDocument/2006/relationships/image" Target="/ppt/media/image13.png" Id="Ree04eac74f50462c" /><Relationship Type="http://schemas.openxmlformats.org/officeDocument/2006/relationships/notesSlide" Target="/ppt/notesSlides/notesSlide10.xml" Id="R786cf852c74343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34db91c44984d8c" /><Relationship Type="http://schemas.openxmlformats.org/officeDocument/2006/relationships/image" Target="/ppt/media/image14.png" Id="R00ce68a46ebc42ab" /><Relationship Type="http://schemas.openxmlformats.org/officeDocument/2006/relationships/image" Target="/ppt/media/image15.png" Id="R863c061e8e46443a" /><Relationship Type="http://schemas.openxmlformats.org/officeDocument/2006/relationships/notesSlide" Target="/ppt/notesSlides/notesSlide11.xml" Id="R7809e160fc8f49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2ff6d84568364ff7" /><Relationship Type="http://schemas.openxmlformats.org/officeDocument/2006/relationships/image" Target="/ppt/media/image16.png" Id="R774670e5702d4213" /><Relationship Type="http://schemas.openxmlformats.org/officeDocument/2006/relationships/notesSlide" Target="/ppt/notesSlides/notesSlide12.xml" Id="R60478174a9e440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a946424a9bf42d6" /><Relationship Type="http://schemas.openxmlformats.org/officeDocument/2006/relationships/image" Target="/ppt/media/image17.png" Id="R301d36db00d54f33" /><Relationship Type="http://schemas.openxmlformats.org/officeDocument/2006/relationships/notesSlide" Target="/ppt/notesSlides/notesSlide13.xml" Id="Rf6663bd4bd4b47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1a0880c589b34758" /><Relationship Type="http://schemas.openxmlformats.org/officeDocument/2006/relationships/image" Target="/ppt/media/image18.png" Id="Red86b8fe91014488" /><Relationship Type="http://schemas.openxmlformats.org/officeDocument/2006/relationships/notesSlide" Target="/ppt/notesSlides/notesSlide14.xml" Id="R7717db75031a45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764f3f15608458c" /><Relationship Type="http://schemas.openxmlformats.org/officeDocument/2006/relationships/image" Target="/ppt/media/image19.png" Id="R45c03c8e53cb412d" /><Relationship Type="http://schemas.openxmlformats.org/officeDocument/2006/relationships/notesSlide" Target="/ppt/notesSlides/notesSlide15.xml" Id="R8657e1c34c6641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018424ed21884067" /><Relationship Type="http://schemas.openxmlformats.org/officeDocument/2006/relationships/image" Target="/ppt/media/image20.png" Id="R2327e35bcfb44866" /><Relationship Type="http://schemas.openxmlformats.org/officeDocument/2006/relationships/notesSlide" Target="/ppt/notesSlides/notesSlide16.xml" Id="R1402478ba20642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65cc7558e6e4d46" /><Relationship Type="http://schemas.openxmlformats.org/officeDocument/2006/relationships/image" Target="/ppt/media/image21.png" Id="R6aa60dcdc4a34e5d" /><Relationship Type="http://schemas.openxmlformats.org/officeDocument/2006/relationships/notesSlide" Target="/ppt/notesSlides/notesSlide17.xml" Id="Rcd713de24c5d48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ee2a02c9bba14cf4" /><Relationship Type="http://schemas.openxmlformats.org/officeDocument/2006/relationships/image" Target="/ppt/media/image22.png" Id="R3760166be7d44b00" /><Relationship Type="http://schemas.openxmlformats.org/officeDocument/2006/relationships/notesSlide" Target="/ppt/notesSlides/notesSlide18.xml" Id="R9703e8de15d146a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884ae727ac0940c1" /><Relationship Type="http://schemas.openxmlformats.org/officeDocument/2006/relationships/image" Target="/ppt/media/image23.png" Id="R0d7b0269ccd84c25" /><Relationship Type="http://schemas.openxmlformats.org/officeDocument/2006/relationships/image" Target="/ppt/media/image24.png" Id="Rfca3e8168d85412e" /><Relationship Type="http://schemas.openxmlformats.org/officeDocument/2006/relationships/notesSlide" Target="/ppt/notesSlides/notesSlide19.xml" Id="R01cfd6cf59c743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1abdf9ac8ef4542" /><Relationship Type="http://schemas.openxmlformats.org/officeDocument/2006/relationships/image" Target="/ppt/media/image25.png" Id="R91970fad55d546bf" /><Relationship Type="http://schemas.openxmlformats.org/officeDocument/2006/relationships/notesSlide" Target="/ppt/notesSlides/notesSlide20.xml" Id="Rb3f865e83cac45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e161cccdd0946cd" /><Relationship Type="http://schemas.openxmlformats.org/officeDocument/2006/relationships/image" Target="/ppt/media/image26.png" Id="R10a5bc83063044da" /><Relationship Type="http://schemas.openxmlformats.org/officeDocument/2006/relationships/notesSlide" Target="/ppt/notesSlides/notesSlide21.xml" Id="Rf9b98ba71f3a41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3d580dd4f1e24bad" /><Relationship Type="http://schemas.openxmlformats.org/officeDocument/2006/relationships/image" Target="/ppt/media/image27.png" Id="R6dda5ec2c5c945e4" /><Relationship Type="http://schemas.openxmlformats.org/officeDocument/2006/relationships/notesSlide" Target="/ppt/notesSlides/notesSlide22.xml" Id="Rf03dde2e028b4c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3afc1364e12c4a04" /><Relationship Type="http://schemas.openxmlformats.org/officeDocument/2006/relationships/image" Target="/ppt/media/image28.png" Id="R3712f8db668240fb" /><Relationship Type="http://schemas.openxmlformats.org/officeDocument/2006/relationships/notesSlide" Target="/ppt/notesSlides/notesSlide23.xml" Id="Rff27b3939b0f48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c0ba24a378b34442" /><Relationship Type="http://schemas.openxmlformats.org/officeDocument/2006/relationships/image" Target="/ppt/media/image29.png" Id="Rf1156c8ac8b44350" /><Relationship Type="http://schemas.openxmlformats.org/officeDocument/2006/relationships/notesSlide" Target="/ppt/notesSlides/notesSlide24.xml" Id="Rbb3158133ba44f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42ee71e900864723" /><Relationship Type="http://schemas.openxmlformats.org/officeDocument/2006/relationships/image" Target="/ppt/media/image30.png" Id="Rbc6aaaba20a74128" /><Relationship Type="http://schemas.openxmlformats.org/officeDocument/2006/relationships/notesSlide" Target="/ppt/notesSlides/notesSlide25.xml" Id="Rd73b36deac5a4d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71b8264b76d84a64" /><Relationship Type="http://schemas.openxmlformats.org/officeDocument/2006/relationships/image" Target="/ppt/media/image31.png" Id="R13cb98240f6d41f1" /><Relationship Type="http://schemas.openxmlformats.org/officeDocument/2006/relationships/notesSlide" Target="/ppt/notesSlides/notesSlide26.xml" Id="Rc6decd92a9ce456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af426814292d4528" /><Relationship Type="http://schemas.openxmlformats.org/officeDocument/2006/relationships/image" Target="/ppt/media/image32.png" Id="R107d0b2aa31244e6" /><Relationship Type="http://schemas.openxmlformats.org/officeDocument/2006/relationships/notesSlide" Target="/ppt/notesSlides/notesSlide27.xml" Id="Rfdfc9c274c204cb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2c6e1569119d4194" /><Relationship Type="http://schemas.openxmlformats.org/officeDocument/2006/relationships/image" Target="/ppt/media/image33.png" Id="R312aa60a90a54754" /><Relationship Type="http://schemas.openxmlformats.org/officeDocument/2006/relationships/notesSlide" Target="/ppt/notesSlides/notesSlide28.xml" Id="R07b97f0778754dd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ad5a7aec2a7b45e7" /><Relationship Type="http://schemas.openxmlformats.org/officeDocument/2006/relationships/image" Target="/ppt/media/image34.png" Id="Rf7b58045341e4a31" /><Relationship Type="http://schemas.openxmlformats.org/officeDocument/2006/relationships/notesSlide" Target="/ppt/notesSlides/notesSlide29.xml" Id="Rf5750c6c418e41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f7b4c82c7d07484e" /><Relationship Type="http://schemas.openxmlformats.org/officeDocument/2006/relationships/image" Target="/ppt/media/image35.png" Id="R3930033f78e84740" /><Relationship Type="http://schemas.openxmlformats.org/officeDocument/2006/relationships/notesSlide" Target="/ppt/notesSlides/notesSlide30.xml" Id="R2779451b881e4d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f9f6e723c38949af" /><Relationship Type="http://schemas.openxmlformats.org/officeDocument/2006/relationships/image" Target="/ppt/media/image36.png" Id="Reed706eff7974878" /><Relationship Type="http://schemas.openxmlformats.org/officeDocument/2006/relationships/notesSlide" Target="/ppt/notesSlides/notesSlide31.xml" Id="R01abf8a90a3d49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23e8523201f24a28" /><Relationship Type="http://schemas.openxmlformats.org/officeDocument/2006/relationships/image" Target="/ppt/media/image37.png" Id="R8f211d752e644377" /><Relationship Type="http://schemas.openxmlformats.org/officeDocument/2006/relationships/notesSlide" Target="/ppt/notesSlides/notesSlide32.xml" Id="Re1f3001a39fb499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41982fba04074766" /><Relationship Type="http://schemas.openxmlformats.org/officeDocument/2006/relationships/image" Target="/ppt/media/image38.png" Id="Ra2165e4f11c84fca" /><Relationship Type="http://schemas.openxmlformats.org/officeDocument/2006/relationships/notesSlide" Target="/ppt/notesSlides/notesSlide33.xml" Id="Rc0378ac0f02e4b7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2533ae7803f346f8" /><Relationship Type="http://schemas.openxmlformats.org/officeDocument/2006/relationships/image" Target="/ppt/media/image39.png" Id="R037807c83e444682" /><Relationship Type="http://schemas.openxmlformats.org/officeDocument/2006/relationships/notesSlide" Target="/ppt/notesSlides/notesSlide34.xml" Id="Re2be67ea0ff8410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5756487701704caf" /><Relationship Type="http://schemas.openxmlformats.org/officeDocument/2006/relationships/image" Target="/ppt/media/image40.png" Id="R73711c4f635b4e6c" /><Relationship Type="http://schemas.openxmlformats.org/officeDocument/2006/relationships/notesSlide" Target="/ppt/notesSlides/notesSlide35.xml" Id="R1740ef12a4c743c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ef7fac72c1b2497f" /><Relationship Type="http://schemas.openxmlformats.org/officeDocument/2006/relationships/image" Target="/ppt/media/image41.png" Id="Rcc4c8fdcbb84456b" /><Relationship Type="http://schemas.openxmlformats.org/officeDocument/2006/relationships/notesSlide" Target="/ppt/notesSlides/notesSlide36.xml" Id="R5ec0d22d1a6c4cb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f8360d51bc6b4757" /><Relationship Type="http://schemas.openxmlformats.org/officeDocument/2006/relationships/image" Target="/ppt/media/image42.png" Id="Rce50e346c5a04942" /><Relationship Type="http://schemas.openxmlformats.org/officeDocument/2006/relationships/notesSlide" Target="/ppt/notesSlides/notesSlide37.xml" Id="R9074b87f32714ba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51c631badd7d4a44" /><Relationship Type="http://schemas.openxmlformats.org/officeDocument/2006/relationships/image" Target="/ppt/media/image43.png" Id="R935f59a1ff214d16" /><Relationship Type="http://schemas.openxmlformats.org/officeDocument/2006/relationships/image" Target="/ppt/media/image44.png" Id="R63e3332a64a8498a" /><Relationship Type="http://schemas.openxmlformats.org/officeDocument/2006/relationships/image" Target="/ppt/media/image45.png" Id="Rd4c37ea19f7145ef" /><Relationship Type="http://schemas.openxmlformats.org/officeDocument/2006/relationships/notesSlide" Target="/ppt/notesSlides/notesSlide38.xml" Id="Rf45c09232035430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AE52B82-0138-4A98-9F5F-1705CE0E2CD9}"/>
              </a:ext>
            </a:extLst>
          </p:cNvPr>
          <p:cNvPicPr>
            <a:picLocks xmlns:a="http://schemas.openxmlformats.org/drawingml/2006/main" noChangeAspect="1"/>
          </p:cNvPicPr>
          <p:nvPr/>
        </p:nvPicPr>
        <p:blipFill>
          <a:blip xmlns:r="http://schemas.openxmlformats.org/officeDocument/2006/relationships" xmlns:a="http://schemas.openxmlformats.org/drawingml/2006/main" r:embed="R23ebddfa2415442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75EC4D-A32D-4E43-9181-3D7E53D6AFA7}"/>
              </a:ext>
            </a:extLst>
          </p:cNvPr>
          <p:cNvSpPr>
            <a:spLocks xmlns:a="http://schemas.openxmlformats.org/drawingml/2006/main" noGrp="1"/>
          </p:cNvSpPr>
          <p:nvPr/>
        </p:nvSpPr>
        <p:spPr>
          <a:xfrm xmlns:a="http://schemas.openxmlformats.org/drawingml/2006/main">
            <a:off x="5238750" y="1666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1">
                <a:solidFill>
                  <a:srgbClr val="0E749A"/>
                </a:solidFill>
                <a:latin typeface="Inter Bold"/>
                <a:ea typeface="Inter Bold"/>
                <a:cs typeface="Inter Bold"/>
              </a:defRPr>
            </a:defPPr>
            <a:lvl1pPr>
              <a:defRPr sz="2475" b="1">
                <a:solidFill>
                  <a:srgbClr val="0E749A"/>
                </a:solidFill>
                <a:latin typeface="Inter Bold"/>
                <a:ea typeface="Inter Bold"/>
                <a:cs typeface="Inter Bold"/>
              </a:defRPr>
            </a:lvl1pPr>
            <a:lvl2pPr>
              <a:defRPr sz="2475" b="1">
                <a:solidFill>
                  <a:srgbClr val="0E749A"/>
                </a:solidFill>
                <a:latin typeface="Inter Bold"/>
                <a:ea typeface="Inter Bold"/>
                <a:cs typeface="Inter Bold"/>
              </a:defRPr>
            </a:lvl2pPr>
            <a:lvl3pPr>
              <a:defRPr sz="2475" b="1">
                <a:solidFill>
                  <a:srgbClr val="0E749A"/>
                </a:solidFill>
                <a:latin typeface="Inter Bold"/>
                <a:ea typeface="Inter Bold"/>
                <a:cs typeface="Inter Bold"/>
              </a:defRPr>
            </a:lvl3pPr>
            <a:lvl4pPr>
              <a:defRPr sz="2475" b="1">
                <a:solidFill>
                  <a:srgbClr val="0E749A"/>
                </a:solidFill>
                <a:latin typeface="Inter Bold"/>
                <a:ea typeface="Inter Bold"/>
                <a:cs typeface="Inter Bold"/>
              </a:defRPr>
            </a:lvl4pPr>
            <a:lvl5pPr>
              <a:defRPr sz="2475" b="1">
                <a:solidFill>
                  <a:srgbClr val="0E749A"/>
                </a:solidFill>
                <a:latin typeface="Inter Bold"/>
                <a:ea typeface="Inter Bold"/>
                <a:cs typeface="Inter Bold"/>
              </a:defRPr>
            </a:lvl5pPr>
            <a:lvl6pPr>
              <a:defRPr sz="2475" b="1">
                <a:solidFill>
                  <a:srgbClr val="0E749A"/>
                </a:solidFill>
                <a:latin typeface="Inter Bold"/>
                <a:ea typeface="Inter Bold"/>
                <a:cs typeface="Inter Bold"/>
              </a:defRPr>
            </a:lvl6pPr>
            <a:lvl7pPr>
              <a:defRPr sz="2475" b="1">
                <a:solidFill>
                  <a:srgbClr val="0E749A"/>
                </a:solidFill>
                <a:latin typeface="Inter Bold"/>
                <a:ea typeface="Inter Bold"/>
                <a:cs typeface="Inter Bold"/>
              </a:defRPr>
            </a:lvl7pPr>
            <a:lvl8pPr>
              <a:defRPr sz="2475" b="1">
                <a:solidFill>
                  <a:srgbClr val="0E749A"/>
                </a:solidFill>
                <a:latin typeface="Inter Bold"/>
                <a:ea typeface="Inter Bold"/>
                <a:cs typeface="Inter Bold"/>
              </a:defRPr>
            </a:lvl8pPr>
            <a:lvl9pPr>
              <a:defRPr sz="2475" b="1">
                <a:solidFill>
                  <a:srgbClr val="0E749A"/>
                </a:solidFill>
                <a:latin typeface="Inter Bold"/>
                <a:ea typeface="Inter Bold"/>
                <a:cs typeface="Inter Bold"/>
              </a:defRPr>
            </a:lvl9pPr>
          </a:lstStyle>
          <a:p xmlns:a="http://schemas.openxmlformats.org/drawingml/2006/main">
            <a:pPr>
              <a:defRPr sz="2475" b="1">
                <a:solidFill>
                  <a:srgbClr val="0E749A"/>
                </a:solidFill>
                <a:latin typeface="Inter Bold"/>
                <a:ea typeface="Inter Bold"/>
                <a:cs typeface="Inter Bold"/>
              </a:defRPr>
            </a:pPr>
            <a:r>
              <a:rPr sz="2475" b="1">
                <a:solidFill>
                  <a:srgbClr val="0E749A"/>
                </a:solidFill>
                <a:latin typeface="Inter Bold"/>
                <a:ea typeface="Inter Bold"/>
                <a:cs typeface="Inter Bold"/>
              </a:rPr>
              <a:t>PAPER NO. 1571326725</a:t>
            </a:r>
          </a:p>
        </p:txBody>
      </p:sp>
      <p:sp>
        <p:nvSpPr>
          <p:cNvPr id="3" name="">
            <a:extLst xmlns:a="http://schemas.openxmlformats.org/drawingml/2006/main">
              <a:ext uri="{FF2B5EF4-FFF2-40B4-BE49-F238E27FC236}">
                <a16:creationId xmlns:a16="http://schemas.microsoft.com/office/drawing/2014/main" id="{066F7DEC-204E-49C4-8DF8-71EEC50D10E6}"/>
              </a:ext>
            </a:extLst>
          </p:cNvPr>
          <p:cNvSpPr>
            <a:spLocks xmlns:a="http://schemas.openxmlformats.org/drawingml/2006/main" noGrp="1"/>
          </p:cNvSpPr>
          <p:nvPr/>
        </p:nvSpPr>
        <p:spPr>
          <a:xfrm xmlns:a="http://schemas.openxmlformats.org/drawingml/2006/main">
            <a:off x="857250" y="2428875"/>
            <a:ext cx="15335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550" b="1">
                <a:solidFill>
                  <a:srgbClr val="F25903"/>
                </a:solidFill>
                <a:latin typeface="Inter Bold"/>
                <a:ea typeface="Inter Bold"/>
                <a:cs typeface="Inter Bold"/>
              </a:defRPr>
            </a:defPPr>
            <a:lvl1pPr>
              <a:defRPr sz="5550" b="1">
                <a:solidFill>
                  <a:srgbClr val="F25903"/>
                </a:solidFill>
                <a:latin typeface="Inter Bold"/>
                <a:ea typeface="Inter Bold"/>
                <a:cs typeface="Inter Bold"/>
              </a:defRPr>
            </a:lvl1pPr>
            <a:lvl2pPr>
              <a:defRPr sz="5550" b="1">
                <a:solidFill>
                  <a:srgbClr val="F25903"/>
                </a:solidFill>
                <a:latin typeface="Inter Bold"/>
                <a:ea typeface="Inter Bold"/>
                <a:cs typeface="Inter Bold"/>
              </a:defRPr>
            </a:lvl2pPr>
            <a:lvl3pPr>
              <a:defRPr sz="5550" b="1">
                <a:solidFill>
                  <a:srgbClr val="F25903"/>
                </a:solidFill>
                <a:latin typeface="Inter Bold"/>
                <a:ea typeface="Inter Bold"/>
                <a:cs typeface="Inter Bold"/>
              </a:defRPr>
            </a:lvl3pPr>
            <a:lvl4pPr>
              <a:defRPr sz="5550" b="1">
                <a:solidFill>
                  <a:srgbClr val="F25903"/>
                </a:solidFill>
                <a:latin typeface="Inter Bold"/>
                <a:ea typeface="Inter Bold"/>
                <a:cs typeface="Inter Bold"/>
              </a:defRPr>
            </a:lvl4pPr>
            <a:lvl5pPr>
              <a:defRPr sz="5550" b="1">
                <a:solidFill>
                  <a:srgbClr val="F25903"/>
                </a:solidFill>
                <a:latin typeface="Inter Bold"/>
                <a:ea typeface="Inter Bold"/>
                <a:cs typeface="Inter Bold"/>
              </a:defRPr>
            </a:lvl5pPr>
            <a:lvl6pPr>
              <a:defRPr sz="5550" b="1">
                <a:solidFill>
                  <a:srgbClr val="F25903"/>
                </a:solidFill>
                <a:latin typeface="Inter Bold"/>
                <a:ea typeface="Inter Bold"/>
                <a:cs typeface="Inter Bold"/>
              </a:defRPr>
            </a:lvl6pPr>
            <a:lvl7pPr>
              <a:defRPr sz="5550" b="1">
                <a:solidFill>
                  <a:srgbClr val="F25903"/>
                </a:solidFill>
                <a:latin typeface="Inter Bold"/>
                <a:ea typeface="Inter Bold"/>
                <a:cs typeface="Inter Bold"/>
              </a:defRPr>
            </a:lvl7pPr>
            <a:lvl8pPr>
              <a:defRPr sz="5550" b="1">
                <a:solidFill>
                  <a:srgbClr val="F25903"/>
                </a:solidFill>
                <a:latin typeface="Inter Bold"/>
                <a:ea typeface="Inter Bold"/>
                <a:cs typeface="Inter Bold"/>
              </a:defRPr>
            </a:lvl8pPr>
            <a:lvl9pPr>
              <a:defRPr sz="5550" b="1">
                <a:solidFill>
                  <a:srgbClr val="F25903"/>
                </a:solidFill>
                <a:latin typeface="Inter Bold"/>
                <a:ea typeface="Inter Bold"/>
                <a:cs typeface="Inter Bold"/>
              </a:defRPr>
            </a:lvl9pPr>
          </a:lstStyle>
          <a:p xmlns:a="http://schemas.openxmlformats.org/drawingml/2006/main">
            <a:pPr>
              <a:defRPr sz="5550" b="1">
                <a:solidFill>
                  <a:srgbClr val="F25903"/>
                </a:solidFill>
                <a:latin typeface="Inter Bold"/>
                <a:ea typeface="Inter Bold"/>
                <a:cs typeface="Inter Bold"/>
              </a:defRPr>
            </a:pPr>
            <a:r>
              <a:rPr sz="5550" b="1">
                <a:solidFill>
                  <a:srgbClr val="F25903"/>
                </a:solidFill>
                <a:latin typeface="Inter Bold"/>
                <a:ea typeface="Inter Bold"/>
                <a:cs typeface="Inter Bold"/>
              </a:rPr>
              <a:t>AN AREA-OPTIMIZED 8-BIT</a:t>
            </a:r>
          </a:p>
          <a:p xmlns:a="http://schemas.openxmlformats.org/drawingml/2006/main">
            <a:pPr>
              <a:defRPr sz="5550" b="1">
                <a:solidFill>
                  <a:srgbClr val="F25903"/>
                </a:solidFill>
                <a:latin typeface="Inter Bold"/>
                <a:ea typeface="Inter Bold"/>
                <a:cs typeface="Inter Bold"/>
              </a:defRPr>
            </a:pPr>
            <a:r>
              <a:rPr sz="5550" b="1">
                <a:solidFill>
                  <a:srgbClr val="F25903"/>
                </a:solidFill>
                <a:latin typeface="Inter Bold"/>
                <a:ea typeface="Inter Bold"/>
                <a:cs typeface="Inter Bold"/>
              </a:rPr>
              <a:t>DEEP LEARNING ACCELERATOR</a:t>
            </a:r>
          </a:p>
          <a:p xmlns:a="http://schemas.openxmlformats.org/drawingml/2006/main">
            <a:pPr>
              <a:defRPr sz="5550" b="1">
                <a:solidFill>
                  <a:srgbClr val="F25903"/>
                </a:solidFill>
                <a:latin typeface="Inter Bold"/>
                <a:ea typeface="Inter Bold"/>
                <a:cs typeface="Inter Bold"/>
              </a:defRPr>
            </a:pPr>
            <a:r>
              <a:rPr sz="5550" b="1">
                <a:solidFill>
                  <a:srgbClr val="F25903"/>
                </a:solidFill>
                <a:latin typeface="Inter Bold"/>
                <a:ea typeface="Inter Bold"/>
                <a:cs typeface="Inter Bold"/>
              </a:rPr>
              <a:t>FOR GAN IMAGE GENERATION</a:t>
            </a:r>
          </a:p>
          <a:p xmlns:a="http://schemas.openxmlformats.org/drawingml/2006/main">
            <a:pPr>
              <a:defRPr sz="5550" b="1">
                <a:solidFill>
                  <a:srgbClr val="F25903"/>
                </a:solidFill>
                <a:latin typeface="Inter Bold"/>
                <a:ea typeface="Inter Bold"/>
                <a:cs typeface="Inter Bold"/>
              </a:defRPr>
            </a:pPr>
            <a:r>
              <a:rPr sz="5550" b="1">
                <a:solidFill>
                  <a:srgbClr val="F25903"/>
                </a:solidFill>
                <a:latin typeface="Inter Bold"/>
                <a:ea typeface="Inter Bold"/>
                <a:cs typeface="Inter Bold"/>
              </a:rPr>
              <a:t>ON GF180MCU</a:t>
            </a:r>
          </a:p>
        </p:txBody>
      </p:sp>
      <p:sp>
        <p:nvSpPr>
          <p:cNvPr id="4" name="">
            <a:extLst xmlns:a="http://schemas.openxmlformats.org/drawingml/2006/main">
              <a:ext uri="{FF2B5EF4-FFF2-40B4-BE49-F238E27FC236}">
                <a16:creationId xmlns:a16="http://schemas.microsoft.com/office/drawing/2014/main" id="{42BCC882-2F9D-46E5-A0B3-18191C4ACD2C}"/>
              </a:ext>
            </a:extLst>
          </p:cNvPr>
          <p:cNvSpPr>
            <a:spLocks xmlns:a="http://schemas.openxmlformats.org/drawingml/2006/main" noGrp="1"/>
          </p:cNvSpPr>
          <p:nvPr/>
        </p:nvSpPr>
        <p:spPr>
          <a:xfrm xmlns:a="http://schemas.openxmlformats.org/drawingml/2006/main">
            <a:off x="952500" y="6524625"/>
            <a:ext cx="1524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William Anthony, I Made Medika Surya W.M., John Ruben Saragi,</a:t>
            </a:r>
          </a:p>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Mahardhika Putra Adipratama, Fairuz Aquilla Rahagi,</a:t>
            </a:r>
          </a:p>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Trio Adiono, and Infall Syafalni</a:t>
            </a:r>
          </a:p>
        </p:txBody>
      </p:sp>
      <p:sp>
        <p:nvSpPr>
          <p:cNvPr id="5" name="">
            <a:extLst xmlns:a="http://schemas.openxmlformats.org/drawingml/2006/main">
              <a:ext uri="{FF2B5EF4-FFF2-40B4-BE49-F238E27FC236}">
                <a16:creationId xmlns:a16="http://schemas.microsoft.com/office/drawing/2014/main" id="{2149237E-87E2-4482-96B3-00FDB6390E37}"/>
              </a:ext>
            </a:extLst>
          </p:cNvPr>
          <p:cNvSpPr>
            <a:spLocks xmlns:a="http://schemas.openxmlformats.org/drawingml/2006/main" noGrp="1"/>
          </p:cNvSpPr>
          <p:nvPr/>
        </p:nvSpPr>
        <p:spPr>
          <a:xfrm xmlns:a="http://schemas.openxmlformats.org/drawingml/2006/main">
            <a:off x="952500" y="8191500"/>
            <a:ext cx="1476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0E749A"/>
                </a:solidFill>
                <a:latin typeface="Inter Bold"/>
                <a:ea typeface="Inter Bold"/>
                <a:cs typeface="Inter Bold"/>
              </a:defRPr>
            </a:defPPr>
            <a:lvl1pPr>
              <a:defRPr sz="2400" b="1">
                <a:solidFill>
                  <a:srgbClr val="0E749A"/>
                </a:solidFill>
                <a:latin typeface="Inter Bold"/>
                <a:ea typeface="Inter Bold"/>
                <a:cs typeface="Inter Bold"/>
              </a:defRPr>
            </a:lvl1pPr>
            <a:lvl2pPr>
              <a:defRPr sz="2400" b="1">
                <a:solidFill>
                  <a:srgbClr val="0E749A"/>
                </a:solidFill>
                <a:latin typeface="Inter Bold"/>
                <a:ea typeface="Inter Bold"/>
                <a:cs typeface="Inter Bold"/>
              </a:defRPr>
            </a:lvl2pPr>
            <a:lvl3pPr>
              <a:defRPr sz="2400" b="1">
                <a:solidFill>
                  <a:srgbClr val="0E749A"/>
                </a:solidFill>
                <a:latin typeface="Inter Bold"/>
                <a:ea typeface="Inter Bold"/>
                <a:cs typeface="Inter Bold"/>
              </a:defRPr>
            </a:lvl3pPr>
            <a:lvl4pPr>
              <a:defRPr sz="2400" b="1">
                <a:solidFill>
                  <a:srgbClr val="0E749A"/>
                </a:solidFill>
                <a:latin typeface="Inter Bold"/>
                <a:ea typeface="Inter Bold"/>
                <a:cs typeface="Inter Bold"/>
              </a:defRPr>
            </a:lvl4pPr>
            <a:lvl5pPr>
              <a:defRPr sz="2400" b="1">
                <a:solidFill>
                  <a:srgbClr val="0E749A"/>
                </a:solidFill>
                <a:latin typeface="Inter Bold"/>
                <a:ea typeface="Inter Bold"/>
                <a:cs typeface="Inter Bold"/>
              </a:defRPr>
            </a:lvl5pPr>
            <a:lvl6pPr>
              <a:defRPr sz="2400" b="1">
                <a:solidFill>
                  <a:srgbClr val="0E749A"/>
                </a:solidFill>
                <a:latin typeface="Inter Bold"/>
                <a:ea typeface="Inter Bold"/>
                <a:cs typeface="Inter Bold"/>
              </a:defRPr>
            </a:lvl6pPr>
            <a:lvl7pPr>
              <a:defRPr sz="2400" b="1">
                <a:solidFill>
                  <a:srgbClr val="0E749A"/>
                </a:solidFill>
                <a:latin typeface="Inter Bold"/>
                <a:ea typeface="Inter Bold"/>
                <a:cs typeface="Inter Bold"/>
              </a:defRPr>
            </a:lvl7pPr>
            <a:lvl8pPr>
              <a:defRPr sz="2400" b="1">
                <a:solidFill>
                  <a:srgbClr val="0E749A"/>
                </a:solidFill>
                <a:latin typeface="Inter Bold"/>
                <a:ea typeface="Inter Bold"/>
                <a:cs typeface="Inter Bold"/>
              </a:defRPr>
            </a:lvl8pPr>
            <a:lvl9pPr>
              <a:defRPr sz="2400" b="1">
                <a:solidFill>
                  <a:srgbClr val="0E749A"/>
                </a:solidFill>
                <a:latin typeface="Inter Bold"/>
                <a:ea typeface="Inter Bold"/>
                <a:cs typeface="Inter Bold"/>
              </a:defRPr>
            </a:lvl9pPr>
          </a:lstStyle>
          <a:p xmlns:a="http://schemas.openxmlformats.org/drawingml/2006/main">
            <a:pPr>
              <a:defRPr sz="2400" b="1">
                <a:solidFill>
                  <a:srgbClr val="0E749A"/>
                </a:solidFill>
                <a:latin typeface="Inter Bold"/>
                <a:ea typeface="Inter Bold"/>
                <a:cs typeface="Inter Bold"/>
              </a:defRPr>
            </a:pPr>
            <a:r>
              <a:rPr sz="2400" b="1">
                <a:solidFill>
                  <a:srgbClr val="0E749A"/>
                </a:solidFill>
                <a:latin typeface="Inter Bold"/>
                <a:ea typeface="Inter Bold"/>
                <a:cs typeface="Inter Bold"/>
              </a:rPr>
              <a:t>Bandung Institute of Technology, Bandung, Indonesia</a:t>
            </a:r>
          </a:p>
        </p:txBody>
      </p:sp>
      <p:sp>
        <p:nvSpPr>
          <p:cNvPr id="6" name="">
            <a:extLst xmlns:a="http://schemas.openxmlformats.org/drawingml/2006/main">
              <a:ext uri="{FF2B5EF4-FFF2-40B4-BE49-F238E27FC236}">
                <a16:creationId xmlns:a16="http://schemas.microsoft.com/office/drawing/2014/main" id="{F116A757-79E9-43B5-84EF-0329A39CCAF2}"/>
              </a:ext>
            </a:extLst>
          </p:cNvPr>
          <p:cNvSpPr>
            <a:spLocks xmlns:a="http://schemas.openxmlformats.org/drawingml/2006/main" noGrp="1"/>
          </p:cNvSpPr>
          <p:nvPr/>
        </p:nvSpPr>
        <p:spPr>
          <a:xfrm xmlns:a="http://schemas.openxmlformats.org/drawingml/2006/main">
            <a:off x="1428750" y="88582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APSIPA ASC 2026</a:t>
            </a:r>
          </a:p>
        </p:txBody>
      </p:sp>
      <p:sp>
        <p:nvSpPr>
          <p:cNvPr id="7" name="">
            <a:extLst xmlns:a="http://schemas.openxmlformats.org/drawingml/2006/main">
              <a:ext uri="{FF2B5EF4-FFF2-40B4-BE49-F238E27FC236}">
                <a16:creationId xmlns:a16="http://schemas.microsoft.com/office/drawing/2014/main" id="{46E1E5BE-6FA2-4A33-A166-2DCFE2387F79}"/>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01</a:t>
            </a:r>
          </a:p>
        </p:txBody>
      </p:sp>
    </p:spTree>
    <p:extLst>
      <p:ext uri="{BB962C8B-B14F-4D97-AF65-F5344CB8AC3E}">
        <p14:creationId xmlns:p14="http://schemas.microsoft.com/office/powerpoint/2010/main" val="2462813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5345A75-C936-47CD-8545-6929A106B589}"/>
              </a:ext>
            </a:extLst>
          </p:cNvPr>
          <p:cNvPicPr>
            <a:picLocks xmlns:a="http://schemas.openxmlformats.org/drawingml/2006/main" noChangeAspect="1"/>
          </p:cNvPicPr>
          <p:nvPr/>
        </p:nvPicPr>
        <p:blipFill>
          <a:blip xmlns:r="http://schemas.openxmlformats.org/officeDocument/2006/relationships" xmlns:a="http://schemas.openxmlformats.org/drawingml/2006/main" r:embed="Ra129cb07d6df467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FBF6B6-042F-49C8-AD7E-B10317D977B6}"/>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 CONTEXT</a:t>
            </a:r>
          </a:p>
        </p:txBody>
      </p:sp>
      <p:sp>
        <p:nvSpPr>
          <p:cNvPr id="3" name="">
            <a:extLst xmlns:a="http://schemas.openxmlformats.org/drawingml/2006/main">
              <a:ext uri="{FF2B5EF4-FFF2-40B4-BE49-F238E27FC236}">
                <a16:creationId xmlns:a16="http://schemas.microsoft.com/office/drawing/2014/main" id="{61190B8D-1FB0-4116-BD16-297FB8DEA100}"/>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1C88B559-A5FF-4883-9B58-3E40B4A52D80}"/>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What does a GAN do?</a:t>
            </a:r>
          </a:p>
        </p:txBody>
      </p:sp>
      <p:sp>
        <p:nvSpPr>
          <p:cNvPr id="5" name="">
            <a:extLst xmlns:a="http://schemas.openxmlformats.org/drawingml/2006/main">
              <a:ext uri="{FF2B5EF4-FFF2-40B4-BE49-F238E27FC236}">
                <a16:creationId xmlns:a16="http://schemas.microsoft.com/office/drawing/2014/main" id="{BB6B4F20-74CD-427E-9C40-72C441ED59EA}"/>
              </a:ext>
            </a:extLst>
          </p:cNvPr>
          <p:cNvSpPr>
            <a:spLocks xmlns:a="http://schemas.openxmlformats.org/drawingml/2006/main" noGrp="1"/>
          </p:cNvSpPr>
          <p:nvPr/>
        </p:nvSpPr>
        <p:spPr>
          <a:xfrm xmlns:a="http://schemas.openxmlformats.org/drawingml/2006/main">
            <a:off x="1809750" y="37623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900" b="1">
                <a:solidFill>
                  <a:srgbClr val="0E749A"/>
                </a:solidFill>
                <a:latin typeface="Inter Bold"/>
                <a:ea typeface="Inter Bold"/>
                <a:cs typeface="Inter Bold"/>
              </a:defRPr>
            </a:defPPr>
            <a:lvl1pPr>
              <a:defRPr sz="3900" b="1">
                <a:solidFill>
                  <a:srgbClr val="0E749A"/>
                </a:solidFill>
                <a:latin typeface="Inter Bold"/>
                <a:ea typeface="Inter Bold"/>
                <a:cs typeface="Inter Bold"/>
              </a:defRPr>
            </a:lvl1pPr>
            <a:lvl2pPr>
              <a:defRPr sz="3900" b="1">
                <a:solidFill>
                  <a:srgbClr val="0E749A"/>
                </a:solidFill>
                <a:latin typeface="Inter Bold"/>
                <a:ea typeface="Inter Bold"/>
                <a:cs typeface="Inter Bold"/>
              </a:defRPr>
            </a:lvl2pPr>
            <a:lvl3pPr>
              <a:defRPr sz="3900" b="1">
                <a:solidFill>
                  <a:srgbClr val="0E749A"/>
                </a:solidFill>
                <a:latin typeface="Inter Bold"/>
                <a:ea typeface="Inter Bold"/>
                <a:cs typeface="Inter Bold"/>
              </a:defRPr>
            </a:lvl3pPr>
            <a:lvl4pPr>
              <a:defRPr sz="3900" b="1">
                <a:solidFill>
                  <a:srgbClr val="0E749A"/>
                </a:solidFill>
                <a:latin typeface="Inter Bold"/>
                <a:ea typeface="Inter Bold"/>
                <a:cs typeface="Inter Bold"/>
              </a:defRPr>
            </a:lvl4pPr>
            <a:lvl5pPr>
              <a:defRPr sz="3900" b="1">
                <a:solidFill>
                  <a:srgbClr val="0E749A"/>
                </a:solidFill>
                <a:latin typeface="Inter Bold"/>
                <a:ea typeface="Inter Bold"/>
                <a:cs typeface="Inter Bold"/>
              </a:defRPr>
            </a:lvl5pPr>
            <a:lvl6pPr>
              <a:defRPr sz="3900" b="1">
                <a:solidFill>
                  <a:srgbClr val="0E749A"/>
                </a:solidFill>
                <a:latin typeface="Inter Bold"/>
                <a:ea typeface="Inter Bold"/>
                <a:cs typeface="Inter Bold"/>
              </a:defRPr>
            </a:lvl6pPr>
            <a:lvl7pPr>
              <a:defRPr sz="3900" b="1">
                <a:solidFill>
                  <a:srgbClr val="0E749A"/>
                </a:solidFill>
                <a:latin typeface="Inter Bold"/>
                <a:ea typeface="Inter Bold"/>
                <a:cs typeface="Inter Bold"/>
              </a:defRPr>
            </a:lvl7pPr>
            <a:lvl8pPr>
              <a:defRPr sz="3900" b="1">
                <a:solidFill>
                  <a:srgbClr val="0E749A"/>
                </a:solidFill>
                <a:latin typeface="Inter Bold"/>
                <a:ea typeface="Inter Bold"/>
                <a:cs typeface="Inter Bold"/>
              </a:defRPr>
            </a:lvl8pPr>
            <a:lvl9pPr>
              <a:defRPr sz="3900" b="1">
                <a:solidFill>
                  <a:srgbClr val="0E749A"/>
                </a:solidFill>
                <a:latin typeface="Inter Bold"/>
                <a:ea typeface="Inter Bold"/>
                <a:cs typeface="Inter Bold"/>
              </a:defRPr>
            </a:lvl9pPr>
          </a:lstStyle>
          <a:p xmlns:a="http://schemas.openxmlformats.org/drawingml/2006/main">
            <a:pPr>
              <a:defRPr sz="3900" b="1">
                <a:solidFill>
                  <a:srgbClr val="0E749A"/>
                </a:solidFill>
                <a:latin typeface="Inter Bold"/>
                <a:ea typeface="Inter Bold"/>
                <a:cs typeface="Inter Bold"/>
              </a:defRPr>
            </a:pPr>
            <a:r>
              <a:rPr sz="3900" b="1">
                <a:solidFill>
                  <a:srgbClr val="0E749A"/>
                </a:solidFill>
                <a:latin typeface="Inter Bold"/>
                <a:ea typeface="Inter Bold"/>
                <a:cs typeface="Inter Bold"/>
              </a:rPr>
              <a:t>GAN = Generative Adversarial Network</a:t>
            </a:r>
          </a:p>
        </p:txBody>
      </p:sp>
      <p:sp>
        <p:nvSpPr>
          <p:cNvPr id="6" name="">
            <a:extLst xmlns:a="http://schemas.openxmlformats.org/drawingml/2006/main">
              <a:ext uri="{FF2B5EF4-FFF2-40B4-BE49-F238E27FC236}">
                <a16:creationId xmlns:a16="http://schemas.microsoft.com/office/drawing/2014/main" id="{09B1FB9C-C91D-4623-BC2C-18F0FCB9BA17}"/>
              </a:ext>
            </a:extLst>
          </p:cNvPr>
          <p:cNvSpPr>
            <a:spLocks xmlns:a="http://schemas.openxmlformats.org/drawingml/2006/main" noGrp="1"/>
          </p:cNvSpPr>
          <p:nvPr/>
        </p:nvSpPr>
        <p:spPr>
          <a:xfrm xmlns:a="http://schemas.openxmlformats.org/drawingml/2006/main">
            <a:off x="1809750" y="5191125"/>
            <a:ext cx="39052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625">
                <a:solidFill>
                  <a:srgbClr val="002B57"/>
                </a:solidFill>
                <a:latin typeface="Inter"/>
                <a:ea typeface="Inter"/>
                <a:cs typeface="Inter"/>
              </a:defRPr>
            </a:defPPr>
            <a:lvl1pPr algn="ctr">
              <a:defRPr sz="2625">
                <a:solidFill>
                  <a:srgbClr val="002B57"/>
                </a:solidFill>
                <a:latin typeface="Inter"/>
                <a:ea typeface="Inter"/>
                <a:cs typeface="Inter"/>
              </a:defRPr>
            </a:lvl1pPr>
            <a:lvl2pPr algn="ctr">
              <a:defRPr sz="2625">
                <a:solidFill>
                  <a:srgbClr val="002B57"/>
                </a:solidFill>
                <a:latin typeface="Inter"/>
                <a:ea typeface="Inter"/>
                <a:cs typeface="Inter"/>
              </a:defRPr>
            </a:lvl2pPr>
            <a:lvl3pPr algn="ctr">
              <a:defRPr sz="2625">
                <a:solidFill>
                  <a:srgbClr val="002B57"/>
                </a:solidFill>
                <a:latin typeface="Inter"/>
                <a:ea typeface="Inter"/>
                <a:cs typeface="Inter"/>
              </a:defRPr>
            </a:lvl3pPr>
            <a:lvl4pPr algn="ctr">
              <a:defRPr sz="2625">
                <a:solidFill>
                  <a:srgbClr val="002B57"/>
                </a:solidFill>
                <a:latin typeface="Inter"/>
                <a:ea typeface="Inter"/>
                <a:cs typeface="Inter"/>
              </a:defRPr>
            </a:lvl4pPr>
            <a:lvl5pPr algn="ctr">
              <a:defRPr sz="2625">
                <a:solidFill>
                  <a:srgbClr val="002B57"/>
                </a:solidFill>
                <a:latin typeface="Inter"/>
                <a:ea typeface="Inter"/>
                <a:cs typeface="Inter"/>
              </a:defRPr>
            </a:lvl5pPr>
            <a:lvl6pPr algn="ctr">
              <a:defRPr sz="2625">
                <a:solidFill>
                  <a:srgbClr val="002B57"/>
                </a:solidFill>
                <a:latin typeface="Inter"/>
                <a:ea typeface="Inter"/>
                <a:cs typeface="Inter"/>
              </a:defRPr>
            </a:lvl6pPr>
            <a:lvl7pPr algn="ctr">
              <a:defRPr sz="2625">
                <a:solidFill>
                  <a:srgbClr val="002B57"/>
                </a:solidFill>
                <a:latin typeface="Inter"/>
                <a:ea typeface="Inter"/>
                <a:cs typeface="Inter"/>
              </a:defRPr>
            </a:lvl7pPr>
            <a:lvl8pPr algn="ctr">
              <a:defRPr sz="2625">
                <a:solidFill>
                  <a:srgbClr val="002B57"/>
                </a:solidFill>
                <a:latin typeface="Inter"/>
                <a:ea typeface="Inter"/>
                <a:cs typeface="Inter"/>
              </a:defRPr>
            </a:lvl8pPr>
            <a:lvl9pPr algn="ctr">
              <a:defRPr sz="2625">
                <a:solidFill>
                  <a:srgbClr val="002B57"/>
                </a:solidFill>
                <a:latin typeface="Inter"/>
                <a:ea typeface="Inter"/>
                <a:cs typeface="Inter"/>
              </a:defRPr>
            </a:lvl9pPr>
          </a:lstStyle>
          <a:p xmlns:a="http://schemas.openxmlformats.org/drawingml/2006/main">
            <a:pPr algn="ctr">
              <a:defRPr sz="2625">
                <a:solidFill>
                  <a:srgbClr val="002B57"/>
                </a:solidFill>
                <a:latin typeface="Inter"/>
                <a:ea typeface="Inter"/>
                <a:cs typeface="Inter"/>
              </a:defRPr>
            </a:pPr>
            <a:r>
              <a:rPr sz="2625">
                <a:solidFill>
                  <a:srgbClr val="002B57"/>
                </a:solidFill>
                <a:latin typeface="Inter"/>
                <a:ea typeface="Inter"/>
                <a:cs typeface="Inter"/>
              </a:rPr>
              <a:t>Latent input</a:t>
            </a:r>
          </a:p>
          <a:p xmlns:a="http://schemas.openxmlformats.org/drawingml/2006/main">
            <a:pPr algn="ctr">
              <a:defRPr sz="2625">
                <a:solidFill>
                  <a:srgbClr val="002B57"/>
                </a:solidFill>
                <a:latin typeface="Inter"/>
                <a:ea typeface="Inter"/>
                <a:cs typeface="Inter"/>
              </a:defRPr>
            </a:pPr>
            <a:r>
              <a:rPr sz="2625">
                <a:solidFill>
                  <a:srgbClr val="002B57"/>
                </a:solidFill>
                <a:latin typeface="Inter"/>
                <a:ea typeface="Inter"/>
                <a:cs typeface="Inter"/>
              </a:rPr>
              <a:t>A set of numbers</a:t>
            </a:r>
          </a:p>
        </p:txBody>
      </p:sp>
      <p:sp>
        <p:nvSpPr>
          <p:cNvPr id="7" name="">
            <a:extLst xmlns:a="http://schemas.openxmlformats.org/drawingml/2006/main">
              <a:ext uri="{FF2B5EF4-FFF2-40B4-BE49-F238E27FC236}">
                <a16:creationId xmlns:a16="http://schemas.microsoft.com/office/drawing/2014/main" id="{5C9D5448-8BD4-4AA1-AE29-1340F9058182}"/>
              </a:ext>
            </a:extLst>
          </p:cNvPr>
          <p:cNvSpPr>
            <a:spLocks xmlns:a="http://schemas.openxmlformats.org/drawingml/2006/main" noGrp="1"/>
          </p:cNvSpPr>
          <p:nvPr/>
        </p:nvSpPr>
        <p:spPr>
          <a:xfrm xmlns:a="http://schemas.openxmlformats.org/drawingml/2006/main">
            <a:off x="6953250" y="5191125"/>
            <a:ext cx="4572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625">
                <a:solidFill>
                  <a:srgbClr val="002B57"/>
                </a:solidFill>
                <a:latin typeface="Inter"/>
                <a:ea typeface="Inter"/>
                <a:cs typeface="Inter"/>
              </a:defRPr>
            </a:defPPr>
            <a:lvl1pPr algn="ctr">
              <a:defRPr sz="2625">
                <a:solidFill>
                  <a:srgbClr val="002B57"/>
                </a:solidFill>
                <a:latin typeface="Inter"/>
                <a:ea typeface="Inter"/>
                <a:cs typeface="Inter"/>
              </a:defRPr>
            </a:lvl1pPr>
            <a:lvl2pPr algn="ctr">
              <a:defRPr sz="2625">
                <a:solidFill>
                  <a:srgbClr val="002B57"/>
                </a:solidFill>
                <a:latin typeface="Inter"/>
                <a:ea typeface="Inter"/>
                <a:cs typeface="Inter"/>
              </a:defRPr>
            </a:lvl2pPr>
            <a:lvl3pPr algn="ctr">
              <a:defRPr sz="2625">
                <a:solidFill>
                  <a:srgbClr val="002B57"/>
                </a:solidFill>
                <a:latin typeface="Inter"/>
                <a:ea typeface="Inter"/>
                <a:cs typeface="Inter"/>
              </a:defRPr>
            </a:lvl3pPr>
            <a:lvl4pPr algn="ctr">
              <a:defRPr sz="2625">
                <a:solidFill>
                  <a:srgbClr val="002B57"/>
                </a:solidFill>
                <a:latin typeface="Inter"/>
                <a:ea typeface="Inter"/>
                <a:cs typeface="Inter"/>
              </a:defRPr>
            </a:lvl4pPr>
            <a:lvl5pPr algn="ctr">
              <a:defRPr sz="2625">
                <a:solidFill>
                  <a:srgbClr val="002B57"/>
                </a:solidFill>
                <a:latin typeface="Inter"/>
                <a:ea typeface="Inter"/>
                <a:cs typeface="Inter"/>
              </a:defRPr>
            </a:lvl5pPr>
            <a:lvl6pPr algn="ctr">
              <a:defRPr sz="2625">
                <a:solidFill>
                  <a:srgbClr val="002B57"/>
                </a:solidFill>
                <a:latin typeface="Inter"/>
                <a:ea typeface="Inter"/>
                <a:cs typeface="Inter"/>
              </a:defRPr>
            </a:lvl6pPr>
            <a:lvl7pPr algn="ctr">
              <a:defRPr sz="2625">
                <a:solidFill>
                  <a:srgbClr val="002B57"/>
                </a:solidFill>
                <a:latin typeface="Inter"/>
                <a:ea typeface="Inter"/>
                <a:cs typeface="Inter"/>
              </a:defRPr>
            </a:lvl7pPr>
            <a:lvl8pPr algn="ctr">
              <a:defRPr sz="2625">
                <a:solidFill>
                  <a:srgbClr val="002B57"/>
                </a:solidFill>
                <a:latin typeface="Inter"/>
                <a:ea typeface="Inter"/>
                <a:cs typeface="Inter"/>
              </a:defRPr>
            </a:lvl8pPr>
            <a:lvl9pPr algn="ctr">
              <a:defRPr sz="2625">
                <a:solidFill>
                  <a:srgbClr val="002B57"/>
                </a:solidFill>
                <a:latin typeface="Inter"/>
                <a:ea typeface="Inter"/>
                <a:cs typeface="Inter"/>
              </a:defRPr>
            </a:lvl9pPr>
          </a:lstStyle>
          <a:p xmlns:a="http://schemas.openxmlformats.org/drawingml/2006/main">
            <a:pPr algn="ctr">
              <a:defRPr sz="2625">
                <a:solidFill>
                  <a:srgbClr val="002B57"/>
                </a:solidFill>
                <a:latin typeface="Inter"/>
                <a:ea typeface="Inter"/>
                <a:cs typeface="Inter"/>
              </a:defRPr>
            </a:pPr>
            <a:r>
              <a:rPr sz="2625">
                <a:solidFill>
                  <a:srgbClr val="002B57"/>
                </a:solidFill>
                <a:latin typeface="Inter"/>
                <a:ea typeface="Inter"/>
                <a:cs typeface="Inter"/>
              </a:rPr>
              <a:t>Trained generator</a:t>
            </a:r>
          </a:p>
          <a:p xmlns:a="http://schemas.openxmlformats.org/drawingml/2006/main">
            <a:pPr algn="ctr">
              <a:defRPr sz="2625">
                <a:solidFill>
                  <a:srgbClr val="002B57"/>
                </a:solidFill>
                <a:latin typeface="Inter"/>
                <a:ea typeface="Inter"/>
                <a:cs typeface="Inter"/>
              </a:defRPr>
            </a:pPr>
            <a:r>
              <a:rPr sz="2625">
                <a:solidFill>
                  <a:srgbClr val="002B57"/>
                </a:solidFill>
                <a:latin typeface="Inter"/>
                <a:ea typeface="Inter"/>
                <a:cs typeface="Inter"/>
              </a:rPr>
              <a:t>Learned visual patterns</a:t>
            </a:r>
          </a:p>
        </p:txBody>
      </p:sp>
      <p:sp>
        <p:nvSpPr>
          <p:cNvPr id="8" name="">
            <a:extLst xmlns:a="http://schemas.openxmlformats.org/drawingml/2006/main">
              <a:ext uri="{FF2B5EF4-FFF2-40B4-BE49-F238E27FC236}">
                <a16:creationId xmlns:a16="http://schemas.microsoft.com/office/drawing/2014/main" id="{E2617BFD-6C5D-4D7A-81C5-C377F7280541}"/>
              </a:ext>
            </a:extLst>
          </p:cNvPr>
          <p:cNvSpPr>
            <a:spLocks xmlns:a="http://schemas.openxmlformats.org/drawingml/2006/main" noGrp="1"/>
          </p:cNvSpPr>
          <p:nvPr/>
        </p:nvSpPr>
        <p:spPr>
          <a:xfrm xmlns:a="http://schemas.openxmlformats.org/drawingml/2006/main">
            <a:off x="6000750" y="561975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650" b="0">
                <a:solidFill>
                  <a:srgbClr val="0E749A"/>
                </a:solidFill>
                <a:latin typeface="Inter"/>
                <a:ea typeface="Inter"/>
                <a:cs typeface="Inter"/>
              </a:defRPr>
            </a:defPPr>
            <a:lvl1pPr>
              <a:defRPr sz="4650" b="0">
                <a:solidFill>
                  <a:srgbClr val="0E749A"/>
                </a:solidFill>
                <a:latin typeface="Inter"/>
                <a:ea typeface="Inter"/>
                <a:cs typeface="Inter"/>
              </a:defRPr>
            </a:lvl1pPr>
            <a:lvl2pPr>
              <a:defRPr sz="4650" b="0">
                <a:solidFill>
                  <a:srgbClr val="0E749A"/>
                </a:solidFill>
                <a:latin typeface="Inter"/>
                <a:ea typeface="Inter"/>
                <a:cs typeface="Inter"/>
              </a:defRPr>
            </a:lvl2pPr>
            <a:lvl3pPr>
              <a:defRPr sz="4650" b="0">
                <a:solidFill>
                  <a:srgbClr val="0E749A"/>
                </a:solidFill>
                <a:latin typeface="Inter"/>
                <a:ea typeface="Inter"/>
                <a:cs typeface="Inter"/>
              </a:defRPr>
            </a:lvl3pPr>
            <a:lvl4pPr>
              <a:defRPr sz="4650" b="0">
                <a:solidFill>
                  <a:srgbClr val="0E749A"/>
                </a:solidFill>
                <a:latin typeface="Inter"/>
                <a:ea typeface="Inter"/>
                <a:cs typeface="Inter"/>
              </a:defRPr>
            </a:lvl4pPr>
            <a:lvl5pPr>
              <a:defRPr sz="4650" b="0">
                <a:solidFill>
                  <a:srgbClr val="0E749A"/>
                </a:solidFill>
                <a:latin typeface="Inter"/>
                <a:ea typeface="Inter"/>
                <a:cs typeface="Inter"/>
              </a:defRPr>
            </a:lvl5pPr>
            <a:lvl6pPr>
              <a:defRPr sz="4650" b="0">
                <a:solidFill>
                  <a:srgbClr val="0E749A"/>
                </a:solidFill>
                <a:latin typeface="Inter"/>
                <a:ea typeface="Inter"/>
                <a:cs typeface="Inter"/>
              </a:defRPr>
            </a:lvl6pPr>
            <a:lvl7pPr>
              <a:defRPr sz="4650" b="0">
                <a:solidFill>
                  <a:srgbClr val="0E749A"/>
                </a:solidFill>
                <a:latin typeface="Inter"/>
                <a:ea typeface="Inter"/>
                <a:cs typeface="Inter"/>
              </a:defRPr>
            </a:lvl7pPr>
            <a:lvl8pPr>
              <a:defRPr sz="4650" b="0">
                <a:solidFill>
                  <a:srgbClr val="0E749A"/>
                </a:solidFill>
                <a:latin typeface="Inter"/>
                <a:ea typeface="Inter"/>
                <a:cs typeface="Inter"/>
              </a:defRPr>
            </a:lvl8pPr>
            <a:lvl9pPr>
              <a:defRPr sz="4650" b="0">
                <a:solidFill>
                  <a:srgbClr val="0E749A"/>
                </a:solidFill>
                <a:latin typeface="Inter"/>
                <a:ea typeface="Inter"/>
                <a:cs typeface="Inter"/>
              </a:defRPr>
            </a:lvl9pPr>
          </a:lstStyle>
          <a:p xmlns:a="http://schemas.openxmlformats.org/drawingml/2006/main">
            <a:pPr>
              <a:defRPr sz="4650" b="0">
                <a:solidFill>
                  <a:srgbClr val="0E749A"/>
                </a:solidFill>
                <a:latin typeface="Inter"/>
                <a:ea typeface="Inter"/>
                <a:cs typeface="Inter"/>
              </a:defRPr>
            </a:pPr>
            <a:r>
              <a:rPr sz="4650" b="0">
                <a:solidFill>
                  <a:srgbClr val="0E749A"/>
                </a:solidFill>
                <a:latin typeface="Inter"/>
                <a:ea typeface="Inter"/>
                <a:cs typeface="Inter"/>
              </a:rPr>
              <a:t>→</a:t>
            </a:r>
          </a:p>
        </p:txBody>
      </p:sp>
      <p:sp>
        <p:nvSpPr>
          <p:cNvPr id="9" name="">
            <a:extLst xmlns:a="http://schemas.openxmlformats.org/drawingml/2006/main">
              <a:ext uri="{FF2B5EF4-FFF2-40B4-BE49-F238E27FC236}">
                <a16:creationId xmlns:a16="http://schemas.microsoft.com/office/drawing/2014/main" id="{761DC107-A7A6-4AD0-AB79-67BA09449C8F}"/>
              </a:ext>
            </a:extLst>
          </p:cNvPr>
          <p:cNvSpPr>
            <a:spLocks xmlns:a="http://schemas.openxmlformats.org/drawingml/2006/main" noGrp="1"/>
          </p:cNvSpPr>
          <p:nvPr/>
        </p:nvSpPr>
        <p:spPr>
          <a:xfrm xmlns:a="http://schemas.openxmlformats.org/drawingml/2006/main">
            <a:off x="11811000" y="5619750"/>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650" b="0">
                <a:solidFill>
                  <a:srgbClr val="0E749A"/>
                </a:solidFill>
                <a:latin typeface="Inter"/>
                <a:ea typeface="Inter"/>
                <a:cs typeface="Inter"/>
              </a:defRPr>
            </a:defPPr>
            <a:lvl1pPr>
              <a:defRPr sz="4650" b="0">
                <a:solidFill>
                  <a:srgbClr val="0E749A"/>
                </a:solidFill>
                <a:latin typeface="Inter"/>
                <a:ea typeface="Inter"/>
                <a:cs typeface="Inter"/>
              </a:defRPr>
            </a:lvl1pPr>
            <a:lvl2pPr>
              <a:defRPr sz="4650" b="0">
                <a:solidFill>
                  <a:srgbClr val="0E749A"/>
                </a:solidFill>
                <a:latin typeface="Inter"/>
                <a:ea typeface="Inter"/>
                <a:cs typeface="Inter"/>
              </a:defRPr>
            </a:lvl2pPr>
            <a:lvl3pPr>
              <a:defRPr sz="4650" b="0">
                <a:solidFill>
                  <a:srgbClr val="0E749A"/>
                </a:solidFill>
                <a:latin typeface="Inter"/>
                <a:ea typeface="Inter"/>
                <a:cs typeface="Inter"/>
              </a:defRPr>
            </a:lvl3pPr>
            <a:lvl4pPr>
              <a:defRPr sz="4650" b="0">
                <a:solidFill>
                  <a:srgbClr val="0E749A"/>
                </a:solidFill>
                <a:latin typeface="Inter"/>
                <a:ea typeface="Inter"/>
                <a:cs typeface="Inter"/>
              </a:defRPr>
            </a:lvl4pPr>
            <a:lvl5pPr>
              <a:defRPr sz="4650" b="0">
                <a:solidFill>
                  <a:srgbClr val="0E749A"/>
                </a:solidFill>
                <a:latin typeface="Inter"/>
                <a:ea typeface="Inter"/>
                <a:cs typeface="Inter"/>
              </a:defRPr>
            </a:lvl5pPr>
            <a:lvl6pPr>
              <a:defRPr sz="4650" b="0">
                <a:solidFill>
                  <a:srgbClr val="0E749A"/>
                </a:solidFill>
                <a:latin typeface="Inter"/>
                <a:ea typeface="Inter"/>
                <a:cs typeface="Inter"/>
              </a:defRPr>
            </a:lvl6pPr>
            <a:lvl7pPr>
              <a:defRPr sz="4650" b="0">
                <a:solidFill>
                  <a:srgbClr val="0E749A"/>
                </a:solidFill>
                <a:latin typeface="Inter"/>
                <a:ea typeface="Inter"/>
                <a:cs typeface="Inter"/>
              </a:defRPr>
            </a:lvl7pPr>
            <a:lvl8pPr>
              <a:defRPr sz="4650" b="0">
                <a:solidFill>
                  <a:srgbClr val="0E749A"/>
                </a:solidFill>
                <a:latin typeface="Inter"/>
                <a:ea typeface="Inter"/>
                <a:cs typeface="Inter"/>
              </a:defRPr>
            </a:lvl8pPr>
            <a:lvl9pPr>
              <a:defRPr sz="4650" b="0">
                <a:solidFill>
                  <a:srgbClr val="0E749A"/>
                </a:solidFill>
                <a:latin typeface="Inter"/>
                <a:ea typeface="Inter"/>
                <a:cs typeface="Inter"/>
              </a:defRPr>
            </a:lvl9pPr>
          </a:lstStyle>
          <a:p xmlns:a="http://schemas.openxmlformats.org/drawingml/2006/main">
            <a:pPr>
              <a:defRPr sz="4650" b="0">
                <a:solidFill>
                  <a:srgbClr val="0E749A"/>
                </a:solidFill>
                <a:latin typeface="Inter"/>
                <a:ea typeface="Inter"/>
                <a:cs typeface="Inter"/>
              </a:defRPr>
            </a:pPr>
            <a:r>
              <a:rPr sz="4650" b="0">
                <a:solidFill>
                  <a:srgbClr val="0E749A"/>
                </a:solidFill>
                <a:latin typeface="Inter"/>
                <a:ea typeface="Inter"/>
                <a:cs typeface="Inter"/>
              </a:rPr>
              <a:t>→</a:t>
            </a:r>
          </a:p>
        </p:txBody>
      </p:sp>
      <p:pic>
        <p:nvPicPr>
          <p:cNvPr id="10" name="">
            <a:extLst xmlns:a="http://schemas.openxmlformats.org/drawingml/2006/main">
              <a:ext uri="{FF2B5EF4-FFF2-40B4-BE49-F238E27FC236}">
                <a16:creationId xmlns:a16="http://schemas.microsoft.com/office/drawing/2014/main" id="{5C528A47-0D02-4D5F-99BA-0E5C774D8332}"/>
              </a:ext>
            </a:extLst>
          </p:cNvPr>
          <p:cNvPicPr>
            <a:picLocks xmlns:a="http://schemas.openxmlformats.org/drawingml/2006/main" noChangeAspect="1"/>
          </p:cNvPicPr>
          <p:nvPr/>
        </p:nvPicPr>
        <p:blipFill>
          <a:blip xmlns:r="http://schemas.openxmlformats.org/officeDocument/2006/relationships" xmlns:a="http://schemas.openxmlformats.org/drawingml/2006/main" r:embed="Rf70648c8079940d2"/>
          <a:stretch xmlns:a="http://schemas.openxmlformats.org/drawingml/2006/main"/>
        </p:blipFill>
        <p:spPr>
          <a:xfrm xmlns:a="http://schemas.openxmlformats.org/drawingml/2006/main">
            <a:off x="13049250" y="5048250"/>
            <a:ext cx="1762125"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92ACC56-E1EE-45D7-B3FF-18BF540415EE}"/>
              </a:ext>
            </a:extLst>
          </p:cNvPr>
          <p:cNvSpPr>
            <a:spLocks xmlns:a="http://schemas.openxmlformats.org/drawingml/2006/main" noGrp="1"/>
          </p:cNvSpPr>
          <p:nvPr/>
        </p:nvSpPr>
        <p:spPr>
          <a:xfrm xmlns:a="http://schemas.openxmlformats.org/drawingml/2006/main">
            <a:off x="12573000" y="700087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325" b="0">
                <a:solidFill>
                  <a:srgbClr val="002B57"/>
                </a:solidFill>
                <a:latin typeface="Inter"/>
                <a:ea typeface="Inter"/>
                <a:cs typeface="Inter"/>
              </a:defRPr>
            </a:defPPr>
            <a:lvl1pPr>
              <a:defRPr sz="2325" b="0">
                <a:solidFill>
                  <a:srgbClr val="002B57"/>
                </a:solidFill>
                <a:latin typeface="Inter"/>
                <a:ea typeface="Inter"/>
                <a:cs typeface="Inter"/>
              </a:defRPr>
            </a:lvl1pPr>
            <a:lvl2pPr>
              <a:defRPr sz="2325" b="0">
                <a:solidFill>
                  <a:srgbClr val="002B57"/>
                </a:solidFill>
                <a:latin typeface="Inter"/>
                <a:ea typeface="Inter"/>
                <a:cs typeface="Inter"/>
              </a:defRPr>
            </a:lvl2pPr>
            <a:lvl3pPr>
              <a:defRPr sz="2325" b="0">
                <a:solidFill>
                  <a:srgbClr val="002B57"/>
                </a:solidFill>
                <a:latin typeface="Inter"/>
                <a:ea typeface="Inter"/>
                <a:cs typeface="Inter"/>
              </a:defRPr>
            </a:lvl3pPr>
            <a:lvl4pPr>
              <a:defRPr sz="2325" b="0">
                <a:solidFill>
                  <a:srgbClr val="002B57"/>
                </a:solidFill>
                <a:latin typeface="Inter"/>
                <a:ea typeface="Inter"/>
                <a:cs typeface="Inter"/>
              </a:defRPr>
            </a:lvl4pPr>
            <a:lvl5pPr>
              <a:defRPr sz="2325" b="0">
                <a:solidFill>
                  <a:srgbClr val="002B57"/>
                </a:solidFill>
                <a:latin typeface="Inter"/>
                <a:ea typeface="Inter"/>
                <a:cs typeface="Inter"/>
              </a:defRPr>
            </a:lvl5pPr>
            <a:lvl6pPr>
              <a:defRPr sz="2325" b="0">
                <a:solidFill>
                  <a:srgbClr val="002B57"/>
                </a:solidFill>
                <a:latin typeface="Inter"/>
                <a:ea typeface="Inter"/>
                <a:cs typeface="Inter"/>
              </a:defRPr>
            </a:lvl6pPr>
            <a:lvl7pPr>
              <a:defRPr sz="2325" b="0">
                <a:solidFill>
                  <a:srgbClr val="002B57"/>
                </a:solidFill>
                <a:latin typeface="Inter"/>
                <a:ea typeface="Inter"/>
                <a:cs typeface="Inter"/>
              </a:defRPr>
            </a:lvl7pPr>
            <a:lvl8pPr>
              <a:defRPr sz="2325" b="0">
                <a:solidFill>
                  <a:srgbClr val="002B57"/>
                </a:solidFill>
                <a:latin typeface="Inter"/>
                <a:ea typeface="Inter"/>
                <a:cs typeface="Inter"/>
              </a:defRPr>
            </a:lvl8pPr>
            <a:lvl9pPr>
              <a:defRPr sz="2325" b="0">
                <a:solidFill>
                  <a:srgbClr val="002B57"/>
                </a:solidFill>
                <a:latin typeface="Inter"/>
                <a:ea typeface="Inter"/>
                <a:cs typeface="Inter"/>
              </a:defRPr>
            </a:lvl9pPr>
          </a:lstStyle>
          <a:p xmlns:a="http://schemas.openxmlformats.org/drawingml/2006/main">
            <a:pPr>
              <a:defRPr sz="2325" b="0">
                <a:solidFill>
                  <a:srgbClr val="002B57"/>
                </a:solidFill>
                <a:latin typeface="Inter"/>
                <a:ea typeface="Inter"/>
                <a:cs typeface="Inter"/>
              </a:defRPr>
            </a:pPr>
            <a:r>
              <a:rPr sz="2325" b="0">
                <a:solidFill>
                  <a:srgbClr val="002B57"/>
                </a:solidFill>
                <a:latin typeface="Inter"/>
                <a:ea typeface="Inter"/>
                <a:cs typeface="Inter"/>
              </a:rPr>
              <a:t>Synthetic image</a:t>
            </a:r>
          </a:p>
        </p:txBody>
      </p:sp>
      <p:sp>
        <p:nvSpPr>
          <p:cNvPr id="12" name="">
            <a:extLst xmlns:a="http://schemas.openxmlformats.org/drawingml/2006/main">
              <a:ext uri="{FF2B5EF4-FFF2-40B4-BE49-F238E27FC236}">
                <a16:creationId xmlns:a16="http://schemas.microsoft.com/office/drawing/2014/main" id="{3E729ABC-81DB-4AD6-BEF5-B577424D8345}"/>
              </a:ext>
            </a:extLst>
          </p:cNvPr>
          <p:cNvSpPr>
            <a:spLocks xmlns:a="http://schemas.openxmlformats.org/drawingml/2006/main" noGrp="1"/>
          </p:cNvSpPr>
          <p:nvPr/>
        </p:nvSpPr>
        <p:spPr>
          <a:xfrm xmlns:a="http://schemas.openxmlformats.org/drawingml/2006/main">
            <a:off x="1809750" y="804862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02B57"/>
                </a:solidFill>
                <a:latin typeface="Inter Bold"/>
                <a:ea typeface="Inter Bold"/>
                <a:cs typeface="Inter Bold"/>
              </a:defRPr>
            </a:defPPr>
            <a:lvl1pPr>
              <a:defRPr sz="3150" b="1">
                <a:solidFill>
                  <a:srgbClr val="002B57"/>
                </a:solidFill>
                <a:latin typeface="Inter Bold"/>
                <a:ea typeface="Inter Bold"/>
                <a:cs typeface="Inter Bold"/>
              </a:defRPr>
            </a:lvl1pPr>
            <a:lvl2pPr>
              <a:defRPr sz="3150" b="1">
                <a:solidFill>
                  <a:srgbClr val="002B57"/>
                </a:solidFill>
                <a:latin typeface="Inter Bold"/>
                <a:ea typeface="Inter Bold"/>
                <a:cs typeface="Inter Bold"/>
              </a:defRPr>
            </a:lvl2pPr>
            <a:lvl3pPr>
              <a:defRPr sz="3150" b="1">
                <a:solidFill>
                  <a:srgbClr val="002B57"/>
                </a:solidFill>
                <a:latin typeface="Inter Bold"/>
                <a:ea typeface="Inter Bold"/>
                <a:cs typeface="Inter Bold"/>
              </a:defRPr>
            </a:lvl3pPr>
            <a:lvl4pPr>
              <a:defRPr sz="3150" b="1">
                <a:solidFill>
                  <a:srgbClr val="002B57"/>
                </a:solidFill>
                <a:latin typeface="Inter Bold"/>
                <a:ea typeface="Inter Bold"/>
                <a:cs typeface="Inter Bold"/>
              </a:defRPr>
            </a:lvl4pPr>
            <a:lvl5pPr>
              <a:defRPr sz="3150" b="1">
                <a:solidFill>
                  <a:srgbClr val="002B57"/>
                </a:solidFill>
                <a:latin typeface="Inter Bold"/>
                <a:ea typeface="Inter Bold"/>
                <a:cs typeface="Inter Bold"/>
              </a:defRPr>
            </a:lvl5pPr>
            <a:lvl6pPr>
              <a:defRPr sz="3150" b="1">
                <a:solidFill>
                  <a:srgbClr val="002B57"/>
                </a:solidFill>
                <a:latin typeface="Inter Bold"/>
                <a:ea typeface="Inter Bold"/>
                <a:cs typeface="Inter Bold"/>
              </a:defRPr>
            </a:lvl6pPr>
            <a:lvl7pPr>
              <a:defRPr sz="3150" b="1">
                <a:solidFill>
                  <a:srgbClr val="002B57"/>
                </a:solidFill>
                <a:latin typeface="Inter Bold"/>
                <a:ea typeface="Inter Bold"/>
                <a:cs typeface="Inter Bold"/>
              </a:defRPr>
            </a:lvl7pPr>
            <a:lvl8pPr>
              <a:defRPr sz="3150" b="1">
                <a:solidFill>
                  <a:srgbClr val="002B57"/>
                </a:solidFill>
                <a:latin typeface="Inter Bold"/>
                <a:ea typeface="Inter Bold"/>
                <a:cs typeface="Inter Bold"/>
              </a:defRPr>
            </a:lvl8pPr>
            <a:lvl9pPr>
              <a:defRPr sz="3150" b="1">
                <a:solidFill>
                  <a:srgbClr val="002B57"/>
                </a:solidFill>
                <a:latin typeface="Inter Bold"/>
                <a:ea typeface="Inter Bold"/>
                <a:cs typeface="Inter Bold"/>
              </a:defRPr>
            </a:lvl9pPr>
          </a:lstStyle>
          <a:p xmlns:a="http://schemas.openxmlformats.org/drawingml/2006/main">
            <a:pPr>
              <a:defRPr sz="3150" b="1">
                <a:solidFill>
                  <a:srgbClr val="002B57"/>
                </a:solidFill>
                <a:latin typeface="Inter Bold"/>
                <a:ea typeface="Inter Bold"/>
                <a:cs typeface="Inter Bold"/>
              </a:defRPr>
            </a:pPr>
            <a:r>
              <a:rPr sz="3150" b="1">
                <a:solidFill>
                  <a:srgbClr val="002B57"/>
                </a:solidFill>
                <a:latin typeface="Inter Bold"/>
                <a:ea typeface="Inter Bold"/>
                <a:cs typeface="Inter Bold"/>
              </a:rPr>
              <a:t>A classifier predicts a label. A generator creates an image.</a:t>
            </a:r>
          </a:p>
        </p:txBody>
      </p:sp>
      <p:sp>
        <p:nvSpPr>
          <p:cNvPr id="13" name="">
            <a:extLst xmlns:a="http://schemas.openxmlformats.org/drawingml/2006/main">
              <a:ext uri="{FF2B5EF4-FFF2-40B4-BE49-F238E27FC236}">
                <a16:creationId xmlns:a16="http://schemas.microsoft.com/office/drawing/2014/main" id="{10B819CA-E0BB-4280-AF43-F17EEA63C252}"/>
              </a:ext>
            </a:extLst>
          </p:cNvPr>
          <p:cNvSpPr>
            <a:spLocks xmlns:a="http://schemas.openxmlformats.org/drawingml/2006/main" noGrp="1"/>
          </p:cNvSpPr>
          <p:nvPr/>
        </p:nvSpPr>
        <p:spPr>
          <a:xfrm xmlns:a="http://schemas.openxmlformats.org/drawingml/2006/main">
            <a:off x="1809750" y="9096375"/>
            <a:ext cx="1438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325" b="0">
                <a:solidFill>
                  <a:srgbClr val="002B57"/>
                </a:solidFill>
                <a:latin typeface="Inter"/>
                <a:ea typeface="Inter"/>
                <a:cs typeface="Inter"/>
              </a:defRPr>
            </a:defPPr>
            <a:lvl1pPr>
              <a:defRPr sz="2325" b="0">
                <a:solidFill>
                  <a:srgbClr val="002B57"/>
                </a:solidFill>
                <a:latin typeface="Inter"/>
                <a:ea typeface="Inter"/>
                <a:cs typeface="Inter"/>
              </a:defRPr>
            </a:lvl1pPr>
            <a:lvl2pPr>
              <a:defRPr sz="2325" b="0">
                <a:solidFill>
                  <a:srgbClr val="002B57"/>
                </a:solidFill>
                <a:latin typeface="Inter"/>
                <a:ea typeface="Inter"/>
                <a:cs typeface="Inter"/>
              </a:defRPr>
            </a:lvl2pPr>
            <a:lvl3pPr>
              <a:defRPr sz="2325" b="0">
                <a:solidFill>
                  <a:srgbClr val="002B57"/>
                </a:solidFill>
                <a:latin typeface="Inter"/>
                <a:ea typeface="Inter"/>
                <a:cs typeface="Inter"/>
              </a:defRPr>
            </a:lvl3pPr>
            <a:lvl4pPr>
              <a:defRPr sz="2325" b="0">
                <a:solidFill>
                  <a:srgbClr val="002B57"/>
                </a:solidFill>
                <a:latin typeface="Inter"/>
                <a:ea typeface="Inter"/>
                <a:cs typeface="Inter"/>
              </a:defRPr>
            </a:lvl4pPr>
            <a:lvl5pPr>
              <a:defRPr sz="2325" b="0">
                <a:solidFill>
                  <a:srgbClr val="002B57"/>
                </a:solidFill>
                <a:latin typeface="Inter"/>
                <a:ea typeface="Inter"/>
                <a:cs typeface="Inter"/>
              </a:defRPr>
            </a:lvl5pPr>
            <a:lvl6pPr>
              <a:defRPr sz="2325" b="0">
                <a:solidFill>
                  <a:srgbClr val="002B57"/>
                </a:solidFill>
                <a:latin typeface="Inter"/>
                <a:ea typeface="Inter"/>
                <a:cs typeface="Inter"/>
              </a:defRPr>
            </a:lvl6pPr>
            <a:lvl7pPr>
              <a:defRPr sz="2325" b="0">
                <a:solidFill>
                  <a:srgbClr val="002B57"/>
                </a:solidFill>
                <a:latin typeface="Inter"/>
                <a:ea typeface="Inter"/>
                <a:cs typeface="Inter"/>
              </a:defRPr>
            </a:lvl7pPr>
            <a:lvl8pPr>
              <a:defRPr sz="2325" b="0">
                <a:solidFill>
                  <a:srgbClr val="002B57"/>
                </a:solidFill>
                <a:latin typeface="Inter"/>
                <a:ea typeface="Inter"/>
                <a:cs typeface="Inter"/>
              </a:defRPr>
            </a:lvl8pPr>
            <a:lvl9pPr>
              <a:defRPr sz="2325" b="0">
                <a:solidFill>
                  <a:srgbClr val="002B57"/>
                </a:solidFill>
                <a:latin typeface="Inter"/>
                <a:ea typeface="Inter"/>
                <a:cs typeface="Inter"/>
              </a:defRPr>
            </a:lvl9pPr>
          </a:lstStyle>
          <a:p xmlns:a="http://schemas.openxmlformats.org/drawingml/2006/main">
            <a:pPr>
              <a:defRPr sz="2325" b="0">
                <a:solidFill>
                  <a:srgbClr val="002B57"/>
                </a:solidFill>
                <a:latin typeface="Inter"/>
                <a:ea typeface="Inter"/>
                <a:cs typeface="Inter"/>
              </a:defRPr>
            </a:pPr>
            <a:r>
              <a:rPr sz="2325" b="0">
                <a:solidFill>
                  <a:srgbClr val="002B57"/>
                </a:solidFill>
                <a:latin typeface="Inter"/>
                <a:ea typeface="Inter"/>
                <a:cs typeface="Inter"/>
              </a:rPr>
              <a:t>Here: handwritten-digit images, generated from a 64-value latent vector</a:t>
            </a:r>
          </a:p>
        </p:txBody>
      </p:sp>
      <p:sp>
        <p:nvSpPr>
          <p:cNvPr id="14" name="">
            <a:extLst xmlns:a="http://schemas.openxmlformats.org/drawingml/2006/main">
              <a:ext uri="{FF2B5EF4-FFF2-40B4-BE49-F238E27FC236}">
                <a16:creationId xmlns:a16="http://schemas.microsoft.com/office/drawing/2014/main" id="{066E6715-864F-40FF-87E2-BDF9D8B4B1A7}"/>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02</a:t>
            </a:r>
          </a:p>
        </p:txBody>
      </p:sp>
    </p:spTree>
    <p:extLst>
      <p:ext uri="{BB962C8B-B14F-4D97-AF65-F5344CB8AC3E}">
        <p14:creationId xmlns:p14="http://schemas.microsoft.com/office/powerpoint/2010/main" val="19998908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10636F9-4112-4E47-AC11-956D856F2F5C}"/>
              </a:ext>
            </a:extLst>
          </p:cNvPr>
          <p:cNvPicPr>
            <a:picLocks xmlns:a="http://schemas.openxmlformats.org/drawingml/2006/main" noChangeAspect="1"/>
          </p:cNvPicPr>
          <p:nvPr/>
        </p:nvPicPr>
        <p:blipFill>
          <a:blip xmlns:r="http://schemas.openxmlformats.org/officeDocument/2006/relationships" xmlns:a="http://schemas.openxmlformats.org/drawingml/2006/main" r:embed="Rdf1332c81ebf4e4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A75813-0034-43B5-BAF9-770C76911CE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 CONTEXT</a:t>
            </a:r>
          </a:p>
        </p:txBody>
      </p:sp>
      <p:sp>
        <p:nvSpPr>
          <p:cNvPr id="3" name="">
            <a:extLst xmlns:a="http://schemas.openxmlformats.org/drawingml/2006/main">
              <a:ext uri="{FF2B5EF4-FFF2-40B4-BE49-F238E27FC236}">
                <a16:creationId xmlns:a16="http://schemas.microsoft.com/office/drawing/2014/main" id="{B0A10DDF-E2F7-4705-89AE-E2697AB4D1DC}"/>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EFD4D7BA-3C28-4FC3-B26C-3F79022D898E}"/>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Why do people use GANs?</a:t>
            </a:r>
          </a:p>
        </p:txBody>
      </p:sp>
      <p:graphicFrame>
        <p:nvGraphicFramePr>
          <p:cNvPr id="5" name="">
            <a:extLst xmlns:a="http://schemas.openxmlformats.org/drawingml/2006/main">
              <a:ext uri="{FF2B5EF4-FFF2-40B4-BE49-F238E27FC236}">
                <a16:creationId xmlns:a16="http://schemas.microsoft.com/office/drawing/2014/main" id="{AC3F7F12-86DE-4BC7-AF95-72ACDFCA76D1}"/>
              </a:ext>
            </a:extLst>
          </p:cNvPr>
          <p:cNvGraphicFramePr/>
          <p:nvPr/>
        </p:nvGraphicFramePr>
        <p:xfrm>
          <a:off xmlns:a="http://schemas.openxmlformats.org/drawingml/2006/main" x="1714500" y="3952875"/>
          <a:ext xmlns:a="http://schemas.openxmlformats.org/drawingml/2006/main" cx="14573250" cy="3333750"/>
        </p:xfrm>
        <a:graphic xmlns:a="http://schemas.openxmlformats.org/drawingml/2006/main">
          <a:graphicData uri="http://schemas.openxmlformats.org/drawingml/2006/table">
            <a:tbl>
              <a:tblPr/>
              <a:tblGrid>
                <a:gridCol w="4191000"/>
                <a:gridCol w="6096000"/>
                <a:gridCol w="4286250"/>
              </a:tblGrid>
              <a:tr h="833438">
                <a:tc>
                  <a:txBody>
                    <a:bodyPr/>
                    <a:lstStyle/>
                    <a:p>
                      <a:r>
                        <a:rPr sz="2325" b="1">
                          <a:solidFill>
                            <a:srgbClr val="FFFFFF"/>
                          </a:solidFill>
                          <a:latin typeface="Inter Bold"/>
                          <a:ea typeface="Inter Bold"/>
                          <a:cs typeface="Inter Bold"/>
                        </a:rPr>
                        <a:t>Use</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Purpose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Representative research</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833438">
                <a:tc>
                  <a:txBody>
                    <a:bodyPr/>
                    <a:lstStyle/>
                    <a:p>
                      <a:r>
                        <a:rPr sz="2325" b="0">
                          <a:solidFill>
                            <a:srgbClr val="002B57"/>
                          </a:solidFill>
                          <a:latin typeface="Inter"/>
                          <a:ea typeface="Inter"/>
                          <a:cs typeface="Inter"/>
                        </a:rPr>
                        <a:t>Synthetic training images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Expand scarce training data</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GAN Augmentation, 2018</a:t>
                      </a:r>
                    </a:p>
                  </a:txBody>
                  <a:tcPr marL="91440" marR="91440" marT="45720" marB="45720">
                    <a:lnR w="9525">
                      <a:solidFill>
                        <a:srgbClr val="D4DEE3"/>
                      </a:solidFill>
                      <a:prstDash val="solid"/>
                    </a:lnR>
                    <a:lnB w="9525">
                      <a:solidFill>
                        <a:srgbClr val="D4DEE3"/>
                      </a:solidFill>
                      <a:prstDash val="solid"/>
                    </a:lnB>
                    <a:solidFill>
                      <a:srgbClr val="FFFFFF"/>
                    </a:solidFill>
                  </a:tcPr>
                </a:tc>
              </a:tr>
              <a:tr h="833438">
                <a:tc>
                  <a:txBody>
                    <a:bodyPr/>
                    <a:lstStyle/>
                    <a:p>
                      <a:r>
                        <a:rPr sz="2325" b="0">
                          <a:solidFill>
                            <a:srgbClr val="002B57"/>
                          </a:solidFill>
                          <a:latin typeface="Inter"/>
                          <a:ea typeface="Inter"/>
                          <a:cs typeface="Inter"/>
                        </a:rPr>
                        <a:t>Image-to-image translation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Learn a mapping between image types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pix2pix, CVPR 2017</a:t>
                      </a:r>
                    </a:p>
                  </a:txBody>
                  <a:tcPr marL="91440" marR="91440" marT="45720" marB="45720">
                    <a:lnR w="9525">
                      <a:solidFill>
                        <a:srgbClr val="D4DEE3"/>
                      </a:solidFill>
                      <a:prstDash val="solid"/>
                    </a:lnR>
                    <a:lnB w="9525">
                      <a:solidFill>
                        <a:srgbClr val="D4DEE3"/>
                      </a:solidFill>
                      <a:prstDash val="solid"/>
                    </a:lnB>
                    <a:solidFill>
                      <a:srgbClr val="FFFFFF"/>
                    </a:solidFill>
                  </a:tcPr>
                </a:tc>
              </a:tr>
              <a:tr h="833438">
                <a:tc>
                  <a:txBody>
                    <a:bodyPr/>
                    <a:lstStyle/>
                    <a:p>
                      <a:r>
                        <a:rPr sz="2325" b="0">
                          <a:solidFill>
                            <a:srgbClr val="002B57"/>
                          </a:solidFill>
                          <a:latin typeface="Inter"/>
                          <a:ea typeface="Inter"/>
                          <a:cs typeface="Inter"/>
                        </a:rPr>
                        <a:t>Image super-resolution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Generate plausible finer detail</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SRGAN, CVPR 2017</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CABBAD7-78D2-44AB-94F0-5CD6AC179691}"/>
              </a:ext>
            </a:extLst>
          </p:cNvPr>
          <p:cNvSpPr>
            <a:spLocks xmlns:a="http://schemas.openxmlformats.org/drawingml/2006/main" noGrp="1"/>
          </p:cNvSpPr>
          <p:nvPr/>
        </p:nvSpPr>
        <p:spPr>
          <a:xfrm xmlns:a="http://schemas.openxmlformats.org/drawingml/2006/main">
            <a:off x="1809750" y="776287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0E749A"/>
                </a:solidFill>
                <a:latin typeface="Inter Bold"/>
                <a:ea typeface="Inter Bold"/>
                <a:cs typeface="Inter Bold"/>
              </a:defRPr>
            </a:defPPr>
            <a:lvl1pPr>
              <a:defRPr sz="3225" b="1">
                <a:solidFill>
                  <a:srgbClr val="0E749A"/>
                </a:solidFill>
                <a:latin typeface="Inter Bold"/>
                <a:ea typeface="Inter Bold"/>
                <a:cs typeface="Inter Bold"/>
              </a:defRPr>
            </a:lvl1pPr>
            <a:lvl2pPr>
              <a:defRPr sz="3225" b="1">
                <a:solidFill>
                  <a:srgbClr val="0E749A"/>
                </a:solidFill>
                <a:latin typeface="Inter Bold"/>
                <a:ea typeface="Inter Bold"/>
                <a:cs typeface="Inter Bold"/>
              </a:defRPr>
            </a:lvl2pPr>
            <a:lvl3pPr>
              <a:defRPr sz="3225" b="1">
                <a:solidFill>
                  <a:srgbClr val="0E749A"/>
                </a:solidFill>
                <a:latin typeface="Inter Bold"/>
                <a:ea typeface="Inter Bold"/>
                <a:cs typeface="Inter Bold"/>
              </a:defRPr>
            </a:lvl3pPr>
            <a:lvl4pPr>
              <a:defRPr sz="3225" b="1">
                <a:solidFill>
                  <a:srgbClr val="0E749A"/>
                </a:solidFill>
                <a:latin typeface="Inter Bold"/>
                <a:ea typeface="Inter Bold"/>
                <a:cs typeface="Inter Bold"/>
              </a:defRPr>
            </a:lvl4pPr>
            <a:lvl5pPr>
              <a:defRPr sz="3225" b="1">
                <a:solidFill>
                  <a:srgbClr val="0E749A"/>
                </a:solidFill>
                <a:latin typeface="Inter Bold"/>
                <a:ea typeface="Inter Bold"/>
                <a:cs typeface="Inter Bold"/>
              </a:defRPr>
            </a:lvl5pPr>
            <a:lvl6pPr>
              <a:defRPr sz="3225" b="1">
                <a:solidFill>
                  <a:srgbClr val="0E749A"/>
                </a:solidFill>
                <a:latin typeface="Inter Bold"/>
                <a:ea typeface="Inter Bold"/>
                <a:cs typeface="Inter Bold"/>
              </a:defRPr>
            </a:lvl6pPr>
            <a:lvl7pPr>
              <a:defRPr sz="3225" b="1">
                <a:solidFill>
                  <a:srgbClr val="0E749A"/>
                </a:solidFill>
                <a:latin typeface="Inter Bold"/>
                <a:ea typeface="Inter Bold"/>
                <a:cs typeface="Inter Bold"/>
              </a:defRPr>
            </a:lvl7pPr>
            <a:lvl8pPr>
              <a:defRPr sz="3225" b="1">
                <a:solidFill>
                  <a:srgbClr val="0E749A"/>
                </a:solidFill>
                <a:latin typeface="Inter Bold"/>
                <a:ea typeface="Inter Bold"/>
                <a:cs typeface="Inter Bold"/>
              </a:defRPr>
            </a:lvl8pPr>
            <a:lvl9pPr>
              <a:defRPr sz="3225" b="1">
                <a:solidFill>
                  <a:srgbClr val="0E749A"/>
                </a:solidFill>
                <a:latin typeface="Inter Bold"/>
                <a:ea typeface="Inter Bold"/>
                <a:cs typeface="Inter Bold"/>
              </a:defRPr>
            </a:lvl9pPr>
          </a:lstStyle>
          <a:p xmlns:a="http://schemas.openxmlformats.org/drawingml/2006/main">
            <a:pPr>
              <a:defRPr sz="3225" b="1">
                <a:solidFill>
                  <a:srgbClr val="0E749A"/>
                </a:solidFill>
                <a:latin typeface="Inter Bold"/>
                <a:ea typeface="Inter Bold"/>
                <a:cs typeface="Inter Bold"/>
              </a:defRPr>
            </a:pPr>
            <a:r>
              <a:rPr sz="3225" b="1">
                <a:solidFill>
                  <a:srgbClr val="0E749A"/>
                </a:solidFill>
                <a:latin typeface="Inter Bold"/>
                <a:ea typeface="Inter Bold"/>
                <a:cs typeface="Inter Bold"/>
              </a:rPr>
              <a:t>Common goal: learn useful image structure from examples</a:t>
            </a:r>
          </a:p>
        </p:txBody>
      </p:sp>
      <p:sp>
        <p:nvSpPr>
          <p:cNvPr id="7" name="">
            <a:extLst xmlns:a="http://schemas.openxmlformats.org/drawingml/2006/main">
              <a:ext uri="{FF2B5EF4-FFF2-40B4-BE49-F238E27FC236}">
                <a16:creationId xmlns:a16="http://schemas.microsoft.com/office/drawing/2014/main" id="{7A76577A-CC9B-46EC-8495-051AEA3AED65}"/>
              </a:ext>
            </a:extLst>
          </p:cNvPr>
          <p:cNvSpPr>
            <a:spLocks xmlns:a="http://schemas.openxmlformats.org/drawingml/2006/main" noGrp="1"/>
          </p:cNvSpPr>
          <p:nvPr/>
        </p:nvSpPr>
        <p:spPr>
          <a:xfrm xmlns:a="http://schemas.openxmlformats.org/drawingml/2006/main">
            <a:off x="1809750" y="8763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This paper studies a small digit generator as a hardware test case.</a:t>
            </a:r>
          </a:p>
        </p:txBody>
      </p:sp>
      <p:sp>
        <p:nvSpPr>
          <p:cNvPr id="8" name="">
            <a:extLst xmlns:a="http://schemas.openxmlformats.org/drawingml/2006/main">
              <a:ext uri="{FF2B5EF4-FFF2-40B4-BE49-F238E27FC236}">
                <a16:creationId xmlns:a16="http://schemas.microsoft.com/office/drawing/2014/main" id="{EA9C2DF8-3B4C-4A1A-B4FB-EEA2A7611423}"/>
              </a:ext>
            </a:extLst>
          </p:cNvPr>
          <p:cNvSpPr>
            <a:spLocks xmlns:a="http://schemas.openxmlformats.org/drawingml/2006/main" noGrp="1"/>
          </p:cNvSpPr>
          <p:nvPr/>
        </p:nvSpPr>
        <p:spPr>
          <a:xfrm xmlns:a="http://schemas.openxmlformats.org/drawingml/2006/main">
            <a:off x="1809750" y="94297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These applications provide context. They are not evaluated on this accelerator.</a:t>
            </a:r>
          </a:p>
        </p:txBody>
      </p:sp>
      <p:sp>
        <p:nvSpPr>
          <p:cNvPr id="9" name="">
            <a:extLst xmlns:a="http://schemas.openxmlformats.org/drawingml/2006/main">
              <a:ext uri="{FF2B5EF4-FFF2-40B4-BE49-F238E27FC236}">
                <a16:creationId xmlns:a16="http://schemas.microsoft.com/office/drawing/2014/main" id="{32C00E2E-E322-4BF1-B145-E1065DCB4112}"/>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03</a:t>
            </a:r>
          </a:p>
        </p:txBody>
      </p:sp>
    </p:spTree>
    <p:extLst>
      <p:ext uri="{BB962C8B-B14F-4D97-AF65-F5344CB8AC3E}">
        <p14:creationId xmlns:p14="http://schemas.microsoft.com/office/powerpoint/2010/main" val="23082292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0C4FC0C-3B7E-46B1-8282-5E60F4A54684}"/>
              </a:ext>
            </a:extLst>
          </p:cNvPr>
          <p:cNvPicPr>
            <a:picLocks xmlns:a="http://schemas.openxmlformats.org/drawingml/2006/main" noChangeAspect="1"/>
          </p:cNvPicPr>
          <p:nvPr/>
        </p:nvPicPr>
        <p:blipFill>
          <a:blip xmlns:r="http://schemas.openxmlformats.org/officeDocument/2006/relationships" xmlns:a="http://schemas.openxmlformats.org/drawingml/2006/main" r:embed="Rbb5cfa2893e5420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A10489-78AB-4087-B8E8-EB60F7C53908}"/>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 CONTEXT</a:t>
            </a:r>
          </a:p>
        </p:txBody>
      </p:sp>
      <p:sp>
        <p:nvSpPr>
          <p:cNvPr id="3" name="">
            <a:extLst xmlns:a="http://schemas.openxmlformats.org/drawingml/2006/main">
              <a:ext uri="{FF2B5EF4-FFF2-40B4-BE49-F238E27FC236}">
                <a16:creationId xmlns:a16="http://schemas.microsoft.com/office/drawing/2014/main" id="{DC3EECDE-4E75-4286-A937-9B454368CA6C}"/>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90E4748E-55C3-4A19-BAA6-214EE95AEAEA}"/>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GAN training and generator inference</a:t>
            </a:r>
          </a:p>
        </p:txBody>
      </p:sp>
      <p:sp>
        <p:nvSpPr>
          <p:cNvPr id="5" name="">
            <a:extLst xmlns:a="http://schemas.openxmlformats.org/drawingml/2006/main">
              <a:ext uri="{FF2B5EF4-FFF2-40B4-BE49-F238E27FC236}">
                <a16:creationId xmlns:a16="http://schemas.microsoft.com/office/drawing/2014/main" id="{3A640204-315B-4C71-BF91-FA54812FFE1B}"/>
              </a:ext>
            </a:extLst>
          </p:cNvPr>
          <p:cNvSpPr>
            <a:spLocks xmlns:a="http://schemas.openxmlformats.org/drawingml/2006/main" noGrp="1"/>
          </p:cNvSpPr>
          <p:nvPr/>
        </p:nvSpPr>
        <p:spPr>
          <a:xfrm xmlns:a="http://schemas.openxmlformats.org/drawingml/2006/main">
            <a:off x="1809750" y="38100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1">
                <a:solidFill>
                  <a:srgbClr val="0E749A"/>
                </a:solidFill>
                <a:latin typeface="Inter Bold"/>
                <a:ea typeface="Inter Bold"/>
                <a:cs typeface="Inter Bold"/>
              </a:defRPr>
            </a:defPPr>
            <a:lvl1pPr>
              <a:defRPr sz="2550" b="1">
                <a:solidFill>
                  <a:srgbClr val="0E749A"/>
                </a:solidFill>
                <a:latin typeface="Inter Bold"/>
                <a:ea typeface="Inter Bold"/>
                <a:cs typeface="Inter Bold"/>
              </a:defRPr>
            </a:lvl1pPr>
            <a:lvl2pPr>
              <a:defRPr sz="2550" b="1">
                <a:solidFill>
                  <a:srgbClr val="0E749A"/>
                </a:solidFill>
                <a:latin typeface="Inter Bold"/>
                <a:ea typeface="Inter Bold"/>
                <a:cs typeface="Inter Bold"/>
              </a:defRPr>
            </a:lvl2pPr>
            <a:lvl3pPr>
              <a:defRPr sz="2550" b="1">
                <a:solidFill>
                  <a:srgbClr val="0E749A"/>
                </a:solidFill>
                <a:latin typeface="Inter Bold"/>
                <a:ea typeface="Inter Bold"/>
                <a:cs typeface="Inter Bold"/>
              </a:defRPr>
            </a:lvl3pPr>
            <a:lvl4pPr>
              <a:defRPr sz="2550" b="1">
                <a:solidFill>
                  <a:srgbClr val="0E749A"/>
                </a:solidFill>
                <a:latin typeface="Inter Bold"/>
                <a:ea typeface="Inter Bold"/>
                <a:cs typeface="Inter Bold"/>
              </a:defRPr>
            </a:lvl4pPr>
            <a:lvl5pPr>
              <a:defRPr sz="2550" b="1">
                <a:solidFill>
                  <a:srgbClr val="0E749A"/>
                </a:solidFill>
                <a:latin typeface="Inter Bold"/>
                <a:ea typeface="Inter Bold"/>
                <a:cs typeface="Inter Bold"/>
              </a:defRPr>
            </a:lvl5pPr>
            <a:lvl6pPr>
              <a:defRPr sz="2550" b="1">
                <a:solidFill>
                  <a:srgbClr val="0E749A"/>
                </a:solidFill>
                <a:latin typeface="Inter Bold"/>
                <a:ea typeface="Inter Bold"/>
                <a:cs typeface="Inter Bold"/>
              </a:defRPr>
            </a:lvl6pPr>
            <a:lvl7pPr>
              <a:defRPr sz="2550" b="1">
                <a:solidFill>
                  <a:srgbClr val="0E749A"/>
                </a:solidFill>
                <a:latin typeface="Inter Bold"/>
                <a:ea typeface="Inter Bold"/>
                <a:cs typeface="Inter Bold"/>
              </a:defRPr>
            </a:lvl7pPr>
            <a:lvl8pPr>
              <a:defRPr sz="2550" b="1">
                <a:solidFill>
                  <a:srgbClr val="0E749A"/>
                </a:solidFill>
                <a:latin typeface="Inter Bold"/>
                <a:ea typeface="Inter Bold"/>
                <a:cs typeface="Inter Bold"/>
              </a:defRPr>
            </a:lvl8pPr>
            <a:lvl9pPr>
              <a:defRPr sz="2550" b="1">
                <a:solidFill>
                  <a:srgbClr val="0E749A"/>
                </a:solidFill>
                <a:latin typeface="Inter Bold"/>
                <a:ea typeface="Inter Bold"/>
                <a:cs typeface="Inter Bold"/>
              </a:defRPr>
            </a:lvl9pPr>
          </a:lstStyle>
          <a:p xmlns:a="http://schemas.openxmlformats.org/drawingml/2006/main">
            <a:pPr>
              <a:defRPr sz="2550" b="1">
                <a:solidFill>
                  <a:srgbClr val="0E749A"/>
                </a:solidFill>
                <a:latin typeface="Inter Bold"/>
                <a:ea typeface="Inter Bold"/>
                <a:cs typeface="Inter Bold"/>
              </a:defRPr>
            </a:pPr>
            <a:r>
              <a:rPr sz="2550" b="1">
                <a:solidFill>
                  <a:srgbClr val="0E749A"/>
                </a:solidFill>
                <a:latin typeface="Inter Bold"/>
                <a:ea typeface="Inter Bold"/>
                <a:cs typeface="Inter Bold"/>
              </a:rPr>
              <a:t>TRAINING, BEFORE DEPLOYMENT</a:t>
            </a:r>
          </a:p>
        </p:txBody>
      </p:sp>
      <p:sp>
        <p:nvSpPr>
          <p:cNvPr id="6" name="">
            <a:extLst xmlns:a="http://schemas.openxmlformats.org/drawingml/2006/main">
              <a:ext uri="{FF2B5EF4-FFF2-40B4-BE49-F238E27FC236}">
                <a16:creationId xmlns:a16="http://schemas.microsoft.com/office/drawing/2014/main" id="{4706A036-1809-406C-9DE2-D5EC8B523F4F}"/>
              </a:ext>
            </a:extLst>
          </p:cNvPr>
          <p:cNvSpPr>
            <a:spLocks xmlns:a="http://schemas.openxmlformats.org/drawingml/2006/main" noGrp="1"/>
          </p:cNvSpPr>
          <p:nvPr/>
        </p:nvSpPr>
        <p:spPr>
          <a:xfrm xmlns:a="http://schemas.openxmlformats.org/drawingml/2006/main">
            <a:off x="1809750" y="4857750"/>
            <a:ext cx="2952750" cy="104775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400">
                <a:solidFill>
                  <a:srgbClr val="002B57"/>
                </a:solidFill>
                <a:latin typeface="Inter"/>
                <a:ea typeface="Inter"/>
                <a:cs typeface="Inter"/>
              </a:defRPr>
            </a:defPPr>
            <a:lvl1pPr algn="ctr">
              <a:defRPr sz="2400">
                <a:solidFill>
                  <a:srgbClr val="002B57"/>
                </a:solidFill>
                <a:latin typeface="Inter"/>
                <a:ea typeface="Inter"/>
                <a:cs typeface="Inter"/>
              </a:defRPr>
            </a:lvl1pPr>
            <a:lvl2pPr algn="ctr">
              <a:defRPr sz="2400">
                <a:solidFill>
                  <a:srgbClr val="002B57"/>
                </a:solidFill>
                <a:latin typeface="Inter"/>
                <a:ea typeface="Inter"/>
                <a:cs typeface="Inter"/>
              </a:defRPr>
            </a:lvl2pPr>
            <a:lvl3pPr algn="ctr">
              <a:defRPr sz="2400">
                <a:solidFill>
                  <a:srgbClr val="002B57"/>
                </a:solidFill>
                <a:latin typeface="Inter"/>
                <a:ea typeface="Inter"/>
                <a:cs typeface="Inter"/>
              </a:defRPr>
            </a:lvl3pPr>
            <a:lvl4pPr algn="ctr">
              <a:defRPr sz="2400">
                <a:solidFill>
                  <a:srgbClr val="002B57"/>
                </a:solidFill>
                <a:latin typeface="Inter"/>
                <a:ea typeface="Inter"/>
                <a:cs typeface="Inter"/>
              </a:defRPr>
            </a:lvl4pPr>
            <a:lvl5pPr algn="ctr">
              <a:defRPr sz="2400">
                <a:solidFill>
                  <a:srgbClr val="002B57"/>
                </a:solidFill>
                <a:latin typeface="Inter"/>
                <a:ea typeface="Inter"/>
                <a:cs typeface="Inter"/>
              </a:defRPr>
            </a:lvl5pPr>
            <a:lvl6pPr algn="ctr">
              <a:defRPr sz="2400">
                <a:solidFill>
                  <a:srgbClr val="002B57"/>
                </a:solidFill>
                <a:latin typeface="Inter"/>
                <a:ea typeface="Inter"/>
                <a:cs typeface="Inter"/>
              </a:defRPr>
            </a:lvl6pPr>
            <a:lvl7pPr algn="ctr">
              <a:defRPr sz="2400">
                <a:solidFill>
                  <a:srgbClr val="002B57"/>
                </a:solidFill>
                <a:latin typeface="Inter"/>
                <a:ea typeface="Inter"/>
                <a:cs typeface="Inter"/>
              </a:defRPr>
            </a:lvl7pPr>
            <a:lvl8pPr algn="ctr">
              <a:defRPr sz="2400">
                <a:solidFill>
                  <a:srgbClr val="002B57"/>
                </a:solidFill>
                <a:latin typeface="Inter"/>
                <a:ea typeface="Inter"/>
                <a:cs typeface="Inter"/>
              </a:defRPr>
            </a:lvl8pPr>
            <a:lvl9pPr algn="ctr">
              <a:defRPr sz="2400">
                <a:solidFill>
                  <a:srgbClr val="002B57"/>
                </a:solidFill>
                <a:latin typeface="Inter"/>
                <a:ea typeface="Inter"/>
                <a:cs typeface="Inter"/>
              </a:defRPr>
            </a:lvl9pPr>
          </a:lstStyle>
          <a:p xmlns:a="http://schemas.openxmlformats.org/drawingml/2006/main">
            <a:pPr algn="ctr">
              <a:defRPr sz="2400">
                <a:solidFill>
                  <a:srgbClr val="002B57"/>
                </a:solidFill>
                <a:latin typeface="Inter"/>
                <a:ea typeface="Inter"/>
                <a:cs typeface="Inter"/>
              </a:defRPr>
            </a:pPr>
            <a:r>
              <a:rPr sz="2400">
                <a:solidFill>
                  <a:srgbClr val="002B57"/>
                </a:solidFill>
                <a:latin typeface="Inter"/>
                <a:ea typeface="Inter"/>
                <a:cs typeface="Inter"/>
              </a:rPr>
              <a:t>Latent input</a:t>
            </a:r>
          </a:p>
        </p:txBody>
      </p:sp>
      <p:sp>
        <p:nvSpPr>
          <p:cNvPr id="7" name="">
            <a:extLst xmlns:a="http://schemas.openxmlformats.org/drawingml/2006/main">
              <a:ext uri="{FF2B5EF4-FFF2-40B4-BE49-F238E27FC236}">
                <a16:creationId xmlns:a16="http://schemas.microsoft.com/office/drawing/2014/main" id="{987BE50C-BBDD-4450-BA09-AB8A2600F244}"/>
              </a:ext>
            </a:extLst>
          </p:cNvPr>
          <p:cNvSpPr>
            <a:spLocks xmlns:a="http://schemas.openxmlformats.org/drawingml/2006/main" noGrp="1"/>
          </p:cNvSpPr>
          <p:nvPr/>
        </p:nvSpPr>
        <p:spPr>
          <a:xfrm xmlns:a="http://schemas.openxmlformats.org/drawingml/2006/main">
            <a:off x="6096000" y="4857750"/>
            <a:ext cx="3619500" cy="104775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400">
                <a:solidFill>
                  <a:srgbClr val="002B57"/>
                </a:solidFill>
                <a:latin typeface="Inter"/>
                <a:ea typeface="Inter"/>
                <a:cs typeface="Inter"/>
              </a:defRPr>
            </a:defPPr>
            <a:lvl1pPr algn="ctr">
              <a:defRPr sz="2400">
                <a:solidFill>
                  <a:srgbClr val="002B57"/>
                </a:solidFill>
                <a:latin typeface="Inter"/>
                <a:ea typeface="Inter"/>
                <a:cs typeface="Inter"/>
              </a:defRPr>
            </a:lvl1pPr>
            <a:lvl2pPr algn="ctr">
              <a:defRPr sz="2400">
                <a:solidFill>
                  <a:srgbClr val="002B57"/>
                </a:solidFill>
                <a:latin typeface="Inter"/>
                <a:ea typeface="Inter"/>
                <a:cs typeface="Inter"/>
              </a:defRPr>
            </a:lvl2pPr>
            <a:lvl3pPr algn="ctr">
              <a:defRPr sz="2400">
                <a:solidFill>
                  <a:srgbClr val="002B57"/>
                </a:solidFill>
                <a:latin typeface="Inter"/>
                <a:ea typeface="Inter"/>
                <a:cs typeface="Inter"/>
              </a:defRPr>
            </a:lvl3pPr>
            <a:lvl4pPr algn="ctr">
              <a:defRPr sz="2400">
                <a:solidFill>
                  <a:srgbClr val="002B57"/>
                </a:solidFill>
                <a:latin typeface="Inter"/>
                <a:ea typeface="Inter"/>
                <a:cs typeface="Inter"/>
              </a:defRPr>
            </a:lvl4pPr>
            <a:lvl5pPr algn="ctr">
              <a:defRPr sz="2400">
                <a:solidFill>
                  <a:srgbClr val="002B57"/>
                </a:solidFill>
                <a:latin typeface="Inter"/>
                <a:ea typeface="Inter"/>
                <a:cs typeface="Inter"/>
              </a:defRPr>
            </a:lvl5pPr>
            <a:lvl6pPr algn="ctr">
              <a:defRPr sz="2400">
                <a:solidFill>
                  <a:srgbClr val="002B57"/>
                </a:solidFill>
                <a:latin typeface="Inter"/>
                <a:ea typeface="Inter"/>
                <a:cs typeface="Inter"/>
              </a:defRPr>
            </a:lvl6pPr>
            <a:lvl7pPr algn="ctr">
              <a:defRPr sz="2400">
                <a:solidFill>
                  <a:srgbClr val="002B57"/>
                </a:solidFill>
                <a:latin typeface="Inter"/>
                <a:ea typeface="Inter"/>
                <a:cs typeface="Inter"/>
              </a:defRPr>
            </a:lvl7pPr>
            <a:lvl8pPr algn="ctr">
              <a:defRPr sz="2400">
                <a:solidFill>
                  <a:srgbClr val="002B57"/>
                </a:solidFill>
                <a:latin typeface="Inter"/>
                <a:ea typeface="Inter"/>
                <a:cs typeface="Inter"/>
              </a:defRPr>
            </a:lvl8pPr>
            <a:lvl9pPr algn="ctr">
              <a:defRPr sz="2400">
                <a:solidFill>
                  <a:srgbClr val="002B57"/>
                </a:solidFill>
                <a:latin typeface="Inter"/>
                <a:ea typeface="Inter"/>
                <a:cs typeface="Inter"/>
              </a:defRPr>
            </a:lvl9pPr>
          </a:lstStyle>
          <a:p xmlns:a="http://schemas.openxmlformats.org/drawingml/2006/main">
            <a:pPr algn="ctr">
              <a:defRPr sz="2400">
                <a:solidFill>
                  <a:srgbClr val="002B57"/>
                </a:solidFill>
                <a:latin typeface="Inter"/>
                <a:ea typeface="Inter"/>
                <a:cs typeface="Inter"/>
              </a:defRPr>
            </a:pPr>
            <a:r>
              <a:rPr sz="2400">
                <a:solidFill>
                  <a:srgbClr val="002B57"/>
                </a:solidFill>
                <a:latin typeface="Inter"/>
                <a:ea typeface="Inter"/>
                <a:cs typeface="Inter"/>
              </a:rPr>
              <a:t>Generator</a:t>
            </a:r>
          </a:p>
        </p:txBody>
      </p:sp>
      <p:sp>
        <p:nvSpPr>
          <p:cNvPr id="8" name="">
            <a:extLst xmlns:a="http://schemas.openxmlformats.org/drawingml/2006/main">
              <a:ext uri="{FF2B5EF4-FFF2-40B4-BE49-F238E27FC236}">
                <a16:creationId xmlns:a16="http://schemas.microsoft.com/office/drawing/2014/main" id="{E130E8C3-840A-4EEB-B49C-16A81CEEA6CC}"/>
              </a:ext>
            </a:extLst>
          </p:cNvPr>
          <p:cNvSpPr>
            <a:spLocks xmlns:a="http://schemas.openxmlformats.org/drawingml/2006/main" noGrp="1"/>
          </p:cNvSpPr>
          <p:nvPr/>
        </p:nvSpPr>
        <p:spPr>
          <a:xfrm xmlns:a="http://schemas.openxmlformats.org/drawingml/2006/main">
            <a:off x="11144250" y="4857750"/>
            <a:ext cx="4762500" cy="142875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400">
                <a:solidFill>
                  <a:srgbClr val="002B57"/>
                </a:solidFill>
                <a:latin typeface="Inter"/>
                <a:ea typeface="Inter"/>
                <a:cs typeface="Inter"/>
              </a:defRPr>
            </a:defPPr>
            <a:lvl1pPr algn="ctr">
              <a:defRPr sz="2400">
                <a:solidFill>
                  <a:srgbClr val="002B57"/>
                </a:solidFill>
                <a:latin typeface="Inter"/>
                <a:ea typeface="Inter"/>
                <a:cs typeface="Inter"/>
              </a:defRPr>
            </a:lvl1pPr>
            <a:lvl2pPr algn="ctr">
              <a:defRPr sz="2400">
                <a:solidFill>
                  <a:srgbClr val="002B57"/>
                </a:solidFill>
                <a:latin typeface="Inter"/>
                <a:ea typeface="Inter"/>
                <a:cs typeface="Inter"/>
              </a:defRPr>
            </a:lvl2pPr>
            <a:lvl3pPr algn="ctr">
              <a:defRPr sz="2400">
                <a:solidFill>
                  <a:srgbClr val="002B57"/>
                </a:solidFill>
                <a:latin typeface="Inter"/>
                <a:ea typeface="Inter"/>
                <a:cs typeface="Inter"/>
              </a:defRPr>
            </a:lvl3pPr>
            <a:lvl4pPr algn="ctr">
              <a:defRPr sz="2400">
                <a:solidFill>
                  <a:srgbClr val="002B57"/>
                </a:solidFill>
                <a:latin typeface="Inter"/>
                <a:ea typeface="Inter"/>
                <a:cs typeface="Inter"/>
              </a:defRPr>
            </a:lvl4pPr>
            <a:lvl5pPr algn="ctr">
              <a:defRPr sz="2400">
                <a:solidFill>
                  <a:srgbClr val="002B57"/>
                </a:solidFill>
                <a:latin typeface="Inter"/>
                <a:ea typeface="Inter"/>
                <a:cs typeface="Inter"/>
              </a:defRPr>
            </a:lvl5pPr>
            <a:lvl6pPr algn="ctr">
              <a:defRPr sz="2400">
                <a:solidFill>
                  <a:srgbClr val="002B57"/>
                </a:solidFill>
                <a:latin typeface="Inter"/>
                <a:ea typeface="Inter"/>
                <a:cs typeface="Inter"/>
              </a:defRPr>
            </a:lvl6pPr>
            <a:lvl7pPr algn="ctr">
              <a:defRPr sz="2400">
                <a:solidFill>
                  <a:srgbClr val="002B57"/>
                </a:solidFill>
                <a:latin typeface="Inter"/>
                <a:ea typeface="Inter"/>
                <a:cs typeface="Inter"/>
              </a:defRPr>
            </a:lvl7pPr>
            <a:lvl8pPr algn="ctr">
              <a:defRPr sz="2400">
                <a:solidFill>
                  <a:srgbClr val="002B57"/>
                </a:solidFill>
                <a:latin typeface="Inter"/>
                <a:ea typeface="Inter"/>
                <a:cs typeface="Inter"/>
              </a:defRPr>
            </a:lvl8pPr>
            <a:lvl9pPr algn="ctr">
              <a:defRPr sz="2400">
                <a:solidFill>
                  <a:srgbClr val="002B57"/>
                </a:solidFill>
                <a:latin typeface="Inter"/>
                <a:ea typeface="Inter"/>
                <a:cs typeface="Inter"/>
              </a:defRPr>
            </a:lvl9pPr>
          </a:lstStyle>
          <a:p xmlns:a="http://schemas.openxmlformats.org/drawingml/2006/main">
            <a:pPr algn="ctr">
              <a:defRPr sz="2400">
                <a:solidFill>
                  <a:srgbClr val="002B57"/>
                </a:solidFill>
                <a:latin typeface="Inter"/>
                <a:ea typeface="Inter"/>
                <a:cs typeface="Inter"/>
              </a:defRPr>
            </a:pPr>
            <a:r>
              <a:rPr sz="2400">
                <a:solidFill>
                  <a:srgbClr val="002B57"/>
                </a:solidFill>
                <a:latin typeface="Inter"/>
                <a:ea typeface="Inter"/>
                <a:cs typeface="Inter"/>
              </a:rPr>
              <a:t>Discriminator</a:t>
            </a:r>
          </a:p>
          <a:p xmlns:a="http://schemas.openxmlformats.org/drawingml/2006/main">
            <a:pPr algn="ctr">
              <a:defRPr sz="2400">
                <a:solidFill>
                  <a:srgbClr val="002B57"/>
                </a:solidFill>
                <a:latin typeface="Inter"/>
                <a:ea typeface="Inter"/>
                <a:cs typeface="Inter"/>
              </a:defRPr>
            </a:pPr>
            <a:r>
              <a:rPr sz="2400">
                <a:solidFill>
                  <a:srgbClr val="002B57"/>
                </a:solidFill>
                <a:latin typeface="Inter"/>
                <a:ea typeface="Inter"/>
                <a:cs typeface="Inter"/>
              </a:rPr>
              <a:t>Real or generated?</a:t>
            </a:r>
          </a:p>
        </p:txBody>
      </p:sp>
      <p:sp>
        <p:nvSpPr>
          <p:cNvPr id="9" name="">
            <a:extLst xmlns:a="http://schemas.openxmlformats.org/drawingml/2006/main">
              <a:ext uri="{FF2B5EF4-FFF2-40B4-BE49-F238E27FC236}">
                <a16:creationId xmlns:a16="http://schemas.microsoft.com/office/drawing/2014/main" id="{7D343AEB-5C1B-4F7F-A457-60DE245F5A1D}"/>
              </a:ext>
            </a:extLst>
          </p:cNvPr>
          <p:cNvSpPr>
            <a:spLocks xmlns:a="http://schemas.openxmlformats.org/drawingml/2006/main" noGrp="1"/>
          </p:cNvSpPr>
          <p:nvPr/>
        </p:nvSpPr>
        <p:spPr>
          <a:xfrm xmlns:a="http://schemas.openxmlformats.org/drawingml/2006/main">
            <a:off x="5048250" y="49530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500" b="0">
                <a:solidFill>
                  <a:srgbClr val="0E749A"/>
                </a:solidFill>
                <a:latin typeface="Inter"/>
                <a:ea typeface="Inter"/>
                <a:cs typeface="Inter"/>
              </a:defRPr>
            </a:defPPr>
            <a:lvl1pPr>
              <a:defRPr sz="4500" b="0">
                <a:solidFill>
                  <a:srgbClr val="0E749A"/>
                </a:solidFill>
                <a:latin typeface="Inter"/>
                <a:ea typeface="Inter"/>
                <a:cs typeface="Inter"/>
              </a:defRPr>
            </a:lvl1pPr>
            <a:lvl2pPr>
              <a:defRPr sz="4500" b="0">
                <a:solidFill>
                  <a:srgbClr val="0E749A"/>
                </a:solidFill>
                <a:latin typeface="Inter"/>
                <a:ea typeface="Inter"/>
                <a:cs typeface="Inter"/>
              </a:defRPr>
            </a:lvl2pPr>
            <a:lvl3pPr>
              <a:defRPr sz="4500" b="0">
                <a:solidFill>
                  <a:srgbClr val="0E749A"/>
                </a:solidFill>
                <a:latin typeface="Inter"/>
                <a:ea typeface="Inter"/>
                <a:cs typeface="Inter"/>
              </a:defRPr>
            </a:lvl3pPr>
            <a:lvl4pPr>
              <a:defRPr sz="4500" b="0">
                <a:solidFill>
                  <a:srgbClr val="0E749A"/>
                </a:solidFill>
                <a:latin typeface="Inter"/>
                <a:ea typeface="Inter"/>
                <a:cs typeface="Inter"/>
              </a:defRPr>
            </a:lvl4pPr>
            <a:lvl5pPr>
              <a:defRPr sz="4500" b="0">
                <a:solidFill>
                  <a:srgbClr val="0E749A"/>
                </a:solidFill>
                <a:latin typeface="Inter"/>
                <a:ea typeface="Inter"/>
                <a:cs typeface="Inter"/>
              </a:defRPr>
            </a:lvl5pPr>
            <a:lvl6pPr>
              <a:defRPr sz="4500" b="0">
                <a:solidFill>
                  <a:srgbClr val="0E749A"/>
                </a:solidFill>
                <a:latin typeface="Inter"/>
                <a:ea typeface="Inter"/>
                <a:cs typeface="Inter"/>
              </a:defRPr>
            </a:lvl6pPr>
            <a:lvl7pPr>
              <a:defRPr sz="4500" b="0">
                <a:solidFill>
                  <a:srgbClr val="0E749A"/>
                </a:solidFill>
                <a:latin typeface="Inter"/>
                <a:ea typeface="Inter"/>
                <a:cs typeface="Inter"/>
              </a:defRPr>
            </a:lvl7pPr>
            <a:lvl8pPr>
              <a:defRPr sz="4500" b="0">
                <a:solidFill>
                  <a:srgbClr val="0E749A"/>
                </a:solidFill>
                <a:latin typeface="Inter"/>
                <a:ea typeface="Inter"/>
                <a:cs typeface="Inter"/>
              </a:defRPr>
            </a:lvl8pPr>
            <a:lvl9pPr>
              <a:defRPr sz="4500" b="0">
                <a:solidFill>
                  <a:srgbClr val="0E749A"/>
                </a:solidFill>
                <a:latin typeface="Inter"/>
                <a:ea typeface="Inter"/>
                <a:cs typeface="Inter"/>
              </a:defRPr>
            </a:lvl9pPr>
          </a:lstStyle>
          <a:p xmlns:a="http://schemas.openxmlformats.org/drawingml/2006/main">
            <a:pPr>
              <a:defRPr sz="4500" b="0">
                <a:solidFill>
                  <a:srgbClr val="0E749A"/>
                </a:solidFill>
                <a:latin typeface="Inter"/>
                <a:ea typeface="Inter"/>
                <a:cs typeface="Inter"/>
              </a:defRPr>
            </a:pPr>
            <a:r>
              <a:rPr sz="4500" b="0">
                <a:solidFill>
                  <a:srgbClr val="0E749A"/>
                </a:solidFill>
                <a:latin typeface="Inter"/>
                <a:ea typeface="Inter"/>
                <a:cs typeface="Inter"/>
              </a:rPr>
              <a:t>→</a:t>
            </a:r>
          </a:p>
        </p:txBody>
      </p:sp>
      <p:sp>
        <p:nvSpPr>
          <p:cNvPr id="10" name="">
            <a:extLst xmlns:a="http://schemas.openxmlformats.org/drawingml/2006/main">
              <a:ext uri="{FF2B5EF4-FFF2-40B4-BE49-F238E27FC236}">
                <a16:creationId xmlns:a16="http://schemas.microsoft.com/office/drawing/2014/main" id="{E36AC121-A373-4D87-9061-569E0607365C}"/>
              </a:ext>
            </a:extLst>
          </p:cNvPr>
          <p:cNvSpPr>
            <a:spLocks xmlns:a="http://schemas.openxmlformats.org/drawingml/2006/main" noGrp="1"/>
          </p:cNvSpPr>
          <p:nvPr/>
        </p:nvSpPr>
        <p:spPr>
          <a:xfrm xmlns:a="http://schemas.openxmlformats.org/drawingml/2006/main">
            <a:off x="10096500" y="495300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500" b="0">
                <a:solidFill>
                  <a:srgbClr val="0E749A"/>
                </a:solidFill>
                <a:latin typeface="Inter"/>
                <a:ea typeface="Inter"/>
                <a:cs typeface="Inter"/>
              </a:defRPr>
            </a:defPPr>
            <a:lvl1pPr>
              <a:defRPr sz="4500" b="0">
                <a:solidFill>
                  <a:srgbClr val="0E749A"/>
                </a:solidFill>
                <a:latin typeface="Inter"/>
                <a:ea typeface="Inter"/>
                <a:cs typeface="Inter"/>
              </a:defRPr>
            </a:lvl1pPr>
            <a:lvl2pPr>
              <a:defRPr sz="4500" b="0">
                <a:solidFill>
                  <a:srgbClr val="0E749A"/>
                </a:solidFill>
                <a:latin typeface="Inter"/>
                <a:ea typeface="Inter"/>
                <a:cs typeface="Inter"/>
              </a:defRPr>
            </a:lvl2pPr>
            <a:lvl3pPr>
              <a:defRPr sz="4500" b="0">
                <a:solidFill>
                  <a:srgbClr val="0E749A"/>
                </a:solidFill>
                <a:latin typeface="Inter"/>
                <a:ea typeface="Inter"/>
                <a:cs typeface="Inter"/>
              </a:defRPr>
            </a:lvl3pPr>
            <a:lvl4pPr>
              <a:defRPr sz="4500" b="0">
                <a:solidFill>
                  <a:srgbClr val="0E749A"/>
                </a:solidFill>
                <a:latin typeface="Inter"/>
                <a:ea typeface="Inter"/>
                <a:cs typeface="Inter"/>
              </a:defRPr>
            </a:lvl4pPr>
            <a:lvl5pPr>
              <a:defRPr sz="4500" b="0">
                <a:solidFill>
                  <a:srgbClr val="0E749A"/>
                </a:solidFill>
                <a:latin typeface="Inter"/>
                <a:ea typeface="Inter"/>
                <a:cs typeface="Inter"/>
              </a:defRPr>
            </a:lvl5pPr>
            <a:lvl6pPr>
              <a:defRPr sz="4500" b="0">
                <a:solidFill>
                  <a:srgbClr val="0E749A"/>
                </a:solidFill>
                <a:latin typeface="Inter"/>
                <a:ea typeface="Inter"/>
                <a:cs typeface="Inter"/>
              </a:defRPr>
            </a:lvl6pPr>
            <a:lvl7pPr>
              <a:defRPr sz="4500" b="0">
                <a:solidFill>
                  <a:srgbClr val="0E749A"/>
                </a:solidFill>
                <a:latin typeface="Inter"/>
                <a:ea typeface="Inter"/>
                <a:cs typeface="Inter"/>
              </a:defRPr>
            </a:lvl7pPr>
            <a:lvl8pPr>
              <a:defRPr sz="4500" b="0">
                <a:solidFill>
                  <a:srgbClr val="0E749A"/>
                </a:solidFill>
                <a:latin typeface="Inter"/>
                <a:ea typeface="Inter"/>
                <a:cs typeface="Inter"/>
              </a:defRPr>
            </a:lvl8pPr>
            <a:lvl9pPr>
              <a:defRPr sz="4500" b="0">
                <a:solidFill>
                  <a:srgbClr val="0E749A"/>
                </a:solidFill>
                <a:latin typeface="Inter"/>
                <a:ea typeface="Inter"/>
                <a:cs typeface="Inter"/>
              </a:defRPr>
            </a:lvl9pPr>
          </a:lstStyle>
          <a:p xmlns:a="http://schemas.openxmlformats.org/drawingml/2006/main">
            <a:pPr>
              <a:defRPr sz="4500" b="0">
                <a:solidFill>
                  <a:srgbClr val="0E749A"/>
                </a:solidFill>
                <a:latin typeface="Inter"/>
                <a:ea typeface="Inter"/>
                <a:cs typeface="Inter"/>
              </a:defRPr>
            </a:pPr>
            <a:r>
              <a:rPr sz="4500" b="0">
                <a:solidFill>
                  <a:srgbClr val="0E749A"/>
                </a:solidFill>
                <a:latin typeface="Inter"/>
                <a:ea typeface="Inter"/>
                <a:cs typeface="Inter"/>
              </a:rPr>
              <a:t>→</a:t>
            </a:r>
          </a:p>
        </p:txBody>
      </p:sp>
      <p:sp>
        <p:nvSpPr>
          <p:cNvPr id="11" name="">
            <a:extLst xmlns:a="http://schemas.openxmlformats.org/drawingml/2006/main">
              <a:ext uri="{FF2B5EF4-FFF2-40B4-BE49-F238E27FC236}">
                <a16:creationId xmlns:a16="http://schemas.microsoft.com/office/drawing/2014/main" id="{21C003FE-B7D7-48A8-B190-04C405CEF779}"/>
              </a:ext>
            </a:extLst>
          </p:cNvPr>
          <p:cNvSpPr>
            <a:spLocks xmlns:a="http://schemas.openxmlformats.org/drawingml/2006/main" noGrp="1"/>
          </p:cNvSpPr>
          <p:nvPr/>
        </p:nvSpPr>
        <p:spPr>
          <a:xfrm xmlns:a="http://schemas.openxmlformats.org/drawingml/2006/main">
            <a:off x="11144250" y="3762375"/>
            <a:ext cx="4762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250">
                <a:solidFill>
                  <a:srgbClr val="002B57"/>
                </a:solidFill>
                <a:latin typeface="Inter"/>
                <a:ea typeface="Inter"/>
                <a:cs typeface="Inter"/>
              </a:defRPr>
            </a:defPPr>
            <a:lvl1pPr algn="ctr">
              <a:defRPr sz="2250">
                <a:solidFill>
                  <a:srgbClr val="002B57"/>
                </a:solidFill>
                <a:latin typeface="Inter"/>
                <a:ea typeface="Inter"/>
                <a:cs typeface="Inter"/>
              </a:defRPr>
            </a:lvl1pPr>
            <a:lvl2pPr algn="ctr">
              <a:defRPr sz="2250">
                <a:solidFill>
                  <a:srgbClr val="002B57"/>
                </a:solidFill>
                <a:latin typeface="Inter"/>
                <a:ea typeface="Inter"/>
                <a:cs typeface="Inter"/>
              </a:defRPr>
            </a:lvl2pPr>
            <a:lvl3pPr algn="ctr">
              <a:defRPr sz="2250">
                <a:solidFill>
                  <a:srgbClr val="002B57"/>
                </a:solidFill>
                <a:latin typeface="Inter"/>
                <a:ea typeface="Inter"/>
                <a:cs typeface="Inter"/>
              </a:defRPr>
            </a:lvl3pPr>
            <a:lvl4pPr algn="ctr">
              <a:defRPr sz="2250">
                <a:solidFill>
                  <a:srgbClr val="002B57"/>
                </a:solidFill>
                <a:latin typeface="Inter"/>
                <a:ea typeface="Inter"/>
                <a:cs typeface="Inter"/>
              </a:defRPr>
            </a:lvl4pPr>
            <a:lvl5pPr algn="ctr">
              <a:defRPr sz="2250">
                <a:solidFill>
                  <a:srgbClr val="002B57"/>
                </a:solidFill>
                <a:latin typeface="Inter"/>
                <a:ea typeface="Inter"/>
                <a:cs typeface="Inter"/>
              </a:defRPr>
            </a:lvl5pPr>
            <a:lvl6pPr algn="ctr">
              <a:defRPr sz="2250">
                <a:solidFill>
                  <a:srgbClr val="002B57"/>
                </a:solidFill>
                <a:latin typeface="Inter"/>
                <a:ea typeface="Inter"/>
                <a:cs typeface="Inter"/>
              </a:defRPr>
            </a:lvl6pPr>
            <a:lvl7pPr algn="ctr">
              <a:defRPr sz="2250">
                <a:solidFill>
                  <a:srgbClr val="002B57"/>
                </a:solidFill>
                <a:latin typeface="Inter"/>
                <a:ea typeface="Inter"/>
                <a:cs typeface="Inter"/>
              </a:defRPr>
            </a:lvl7pPr>
            <a:lvl8pPr algn="ctr">
              <a:defRPr sz="2250">
                <a:solidFill>
                  <a:srgbClr val="002B57"/>
                </a:solidFill>
                <a:latin typeface="Inter"/>
                <a:ea typeface="Inter"/>
                <a:cs typeface="Inter"/>
              </a:defRPr>
            </a:lvl8pPr>
            <a:lvl9pPr algn="ctr">
              <a:defRPr sz="2250">
                <a:solidFill>
                  <a:srgbClr val="002B57"/>
                </a:solidFill>
                <a:latin typeface="Inter"/>
                <a:ea typeface="Inter"/>
                <a:cs typeface="Inter"/>
              </a:defRPr>
            </a:lvl9pPr>
          </a:lstStyle>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Real training images</a:t>
            </a:r>
          </a:p>
        </p:txBody>
      </p:sp>
      <p:sp>
        <p:nvSpPr>
          <p:cNvPr id="12" name="">
            <a:extLst xmlns:a="http://schemas.openxmlformats.org/drawingml/2006/main">
              <a:ext uri="{FF2B5EF4-FFF2-40B4-BE49-F238E27FC236}">
                <a16:creationId xmlns:a16="http://schemas.microsoft.com/office/drawing/2014/main" id="{009647D0-F5DD-4634-9900-715D91A8082F}"/>
              </a:ext>
            </a:extLst>
          </p:cNvPr>
          <p:cNvSpPr>
            <a:spLocks xmlns:a="http://schemas.openxmlformats.org/drawingml/2006/main" noGrp="1"/>
          </p:cNvSpPr>
          <p:nvPr/>
        </p:nvSpPr>
        <p:spPr>
          <a:xfrm xmlns:a="http://schemas.openxmlformats.org/drawingml/2006/main">
            <a:off x="6096000" y="681037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Training feedback updates both networks</a:t>
            </a:r>
          </a:p>
        </p:txBody>
      </p:sp>
      <p:sp>
        <p:nvSpPr>
          <p:cNvPr id="13" name="">
            <a:extLst xmlns:a="http://schemas.openxmlformats.org/drawingml/2006/main">
              <a:ext uri="{FF2B5EF4-FFF2-40B4-BE49-F238E27FC236}">
                <a16:creationId xmlns:a16="http://schemas.microsoft.com/office/drawing/2014/main" id="{C5A718A5-9351-43FB-8339-8E0227CFAC23}"/>
              </a:ext>
            </a:extLst>
          </p:cNvPr>
          <p:cNvSpPr>
            <a:spLocks xmlns:a="http://schemas.openxmlformats.org/drawingml/2006/main" noGrp="1"/>
          </p:cNvSpPr>
          <p:nvPr/>
        </p:nvSpPr>
        <p:spPr>
          <a:xfrm xmlns:a="http://schemas.openxmlformats.org/drawingml/2006/main">
            <a:off x="1809750" y="7810500"/>
            <a:ext cx="14097000" cy="0"/>
          </a:xfrm>
          <a:prstGeom xmlns:a="http://schemas.openxmlformats.org/drawingml/2006/main" prst="line">
            <a:avLst/>
          </a:prstGeom>
          <a:ln xmlns:a="http://schemas.openxmlformats.org/drawingml/2006/main" w="28575">
            <a:solidFill>
              <a:srgbClr val="0E749A"/>
            </a:solidFill>
          </a:ln>
        </p:spPr>
      </p:sp>
      <p:sp>
        <p:nvSpPr>
          <p:cNvPr id="14" name="">
            <a:extLst xmlns:a="http://schemas.openxmlformats.org/drawingml/2006/main">
              <a:ext uri="{FF2B5EF4-FFF2-40B4-BE49-F238E27FC236}">
                <a16:creationId xmlns:a16="http://schemas.microsoft.com/office/drawing/2014/main" id="{53861B0F-892D-4B32-ADAF-9823FE50A771}"/>
              </a:ext>
            </a:extLst>
          </p:cNvPr>
          <p:cNvSpPr>
            <a:spLocks xmlns:a="http://schemas.openxmlformats.org/drawingml/2006/main" noGrp="1"/>
          </p:cNvSpPr>
          <p:nvPr/>
        </p:nvSpPr>
        <p:spPr>
          <a:xfrm xmlns:a="http://schemas.openxmlformats.org/drawingml/2006/main">
            <a:off x="1809750" y="82391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1">
                <a:solidFill>
                  <a:srgbClr val="F25903"/>
                </a:solidFill>
                <a:latin typeface="Inter Bold"/>
                <a:ea typeface="Inter Bold"/>
                <a:cs typeface="Inter Bold"/>
              </a:defRPr>
            </a:defPPr>
            <a:lvl1pPr>
              <a:defRPr sz="2550" b="1">
                <a:solidFill>
                  <a:srgbClr val="F25903"/>
                </a:solidFill>
                <a:latin typeface="Inter Bold"/>
                <a:ea typeface="Inter Bold"/>
                <a:cs typeface="Inter Bold"/>
              </a:defRPr>
            </a:lvl1pPr>
            <a:lvl2pPr>
              <a:defRPr sz="2550" b="1">
                <a:solidFill>
                  <a:srgbClr val="F25903"/>
                </a:solidFill>
                <a:latin typeface="Inter Bold"/>
                <a:ea typeface="Inter Bold"/>
                <a:cs typeface="Inter Bold"/>
              </a:defRPr>
            </a:lvl2pPr>
            <a:lvl3pPr>
              <a:defRPr sz="2550" b="1">
                <a:solidFill>
                  <a:srgbClr val="F25903"/>
                </a:solidFill>
                <a:latin typeface="Inter Bold"/>
                <a:ea typeface="Inter Bold"/>
                <a:cs typeface="Inter Bold"/>
              </a:defRPr>
            </a:lvl3pPr>
            <a:lvl4pPr>
              <a:defRPr sz="2550" b="1">
                <a:solidFill>
                  <a:srgbClr val="F25903"/>
                </a:solidFill>
                <a:latin typeface="Inter Bold"/>
                <a:ea typeface="Inter Bold"/>
                <a:cs typeface="Inter Bold"/>
              </a:defRPr>
            </a:lvl4pPr>
            <a:lvl5pPr>
              <a:defRPr sz="2550" b="1">
                <a:solidFill>
                  <a:srgbClr val="F25903"/>
                </a:solidFill>
                <a:latin typeface="Inter Bold"/>
                <a:ea typeface="Inter Bold"/>
                <a:cs typeface="Inter Bold"/>
              </a:defRPr>
            </a:lvl5pPr>
            <a:lvl6pPr>
              <a:defRPr sz="2550" b="1">
                <a:solidFill>
                  <a:srgbClr val="F25903"/>
                </a:solidFill>
                <a:latin typeface="Inter Bold"/>
                <a:ea typeface="Inter Bold"/>
                <a:cs typeface="Inter Bold"/>
              </a:defRPr>
            </a:lvl6pPr>
            <a:lvl7pPr>
              <a:defRPr sz="2550" b="1">
                <a:solidFill>
                  <a:srgbClr val="F25903"/>
                </a:solidFill>
                <a:latin typeface="Inter Bold"/>
                <a:ea typeface="Inter Bold"/>
                <a:cs typeface="Inter Bold"/>
              </a:defRPr>
            </a:lvl7pPr>
            <a:lvl8pPr>
              <a:defRPr sz="2550" b="1">
                <a:solidFill>
                  <a:srgbClr val="F25903"/>
                </a:solidFill>
                <a:latin typeface="Inter Bold"/>
                <a:ea typeface="Inter Bold"/>
                <a:cs typeface="Inter Bold"/>
              </a:defRPr>
            </a:lvl8pPr>
            <a:lvl9pPr>
              <a:defRPr sz="2550" b="1">
                <a:solidFill>
                  <a:srgbClr val="F25903"/>
                </a:solidFill>
                <a:latin typeface="Inter Bold"/>
                <a:ea typeface="Inter Bold"/>
                <a:cs typeface="Inter Bold"/>
              </a:defRPr>
            </a:lvl9pPr>
          </a:lstStyle>
          <a:p xmlns:a="http://schemas.openxmlformats.org/drawingml/2006/main">
            <a:pPr>
              <a:defRPr sz="2550" b="1">
                <a:solidFill>
                  <a:srgbClr val="F25903"/>
                </a:solidFill>
                <a:latin typeface="Inter Bold"/>
                <a:ea typeface="Inter Bold"/>
                <a:cs typeface="Inter Bold"/>
              </a:defRPr>
            </a:pPr>
            <a:r>
              <a:rPr sz="2550" b="1">
                <a:solidFill>
                  <a:srgbClr val="F25903"/>
                </a:solidFill>
                <a:latin typeface="Inter Bold"/>
                <a:ea typeface="Inter Bold"/>
                <a:cs typeface="Inter Bold"/>
              </a:rPr>
              <a:t>THIS HARDWARE STUDY</a:t>
            </a:r>
          </a:p>
        </p:txBody>
      </p:sp>
      <p:sp>
        <p:nvSpPr>
          <p:cNvPr id="15" name="">
            <a:extLst xmlns:a="http://schemas.openxmlformats.org/drawingml/2006/main">
              <a:ext uri="{FF2B5EF4-FFF2-40B4-BE49-F238E27FC236}">
                <a16:creationId xmlns:a16="http://schemas.microsoft.com/office/drawing/2014/main" id="{B50557AF-8A92-4D5D-85F0-CA1BD0172669}"/>
              </a:ext>
            </a:extLst>
          </p:cNvPr>
          <p:cNvSpPr>
            <a:spLocks xmlns:a="http://schemas.openxmlformats.org/drawingml/2006/main" noGrp="1"/>
          </p:cNvSpPr>
          <p:nvPr/>
        </p:nvSpPr>
        <p:spPr>
          <a:xfrm xmlns:a="http://schemas.openxmlformats.org/drawingml/2006/main">
            <a:off x="8572500" y="814387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Pretrained generator inference</a:t>
            </a:r>
          </a:p>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No on-chip training or discriminator</a:t>
            </a:r>
          </a:p>
        </p:txBody>
      </p:sp>
      <p:sp>
        <p:nvSpPr>
          <p:cNvPr id="16" name="">
            <a:extLst xmlns:a="http://schemas.openxmlformats.org/drawingml/2006/main">
              <a:ext uri="{FF2B5EF4-FFF2-40B4-BE49-F238E27FC236}">
                <a16:creationId xmlns:a16="http://schemas.microsoft.com/office/drawing/2014/main" id="{A36AAE44-0B41-40B2-AEE7-E6DD2BEC9A98}"/>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04</a:t>
            </a:r>
          </a:p>
        </p:txBody>
      </p:sp>
    </p:spTree>
    <p:extLst>
      <p:ext uri="{BB962C8B-B14F-4D97-AF65-F5344CB8AC3E}">
        <p14:creationId xmlns:p14="http://schemas.microsoft.com/office/powerpoint/2010/main" val="1072691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68CD985-0DE9-4AED-9AEA-2A7ED0801A7D}"/>
              </a:ext>
            </a:extLst>
          </p:cNvPr>
          <p:cNvPicPr>
            <a:picLocks xmlns:a="http://schemas.openxmlformats.org/drawingml/2006/main" noChangeAspect="1"/>
          </p:cNvPicPr>
          <p:nvPr/>
        </p:nvPicPr>
        <p:blipFill>
          <a:blip xmlns:r="http://schemas.openxmlformats.org/officeDocument/2006/relationships" xmlns:a="http://schemas.openxmlformats.org/drawingml/2006/main" r:embed="R815205e2eb7f4aa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AE93B7A-4DFD-4512-8B92-4CE58C5AAC13}"/>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 CONTEXT</a:t>
            </a:r>
          </a:p>
        </p:txBody>
      </p:sp>
      <p:sp>
        <p:nvSpPr>
          <p:cNvPr id="3" name="">
            <a:extLst xmlns:a="http://schemas.openxmlformats.org/drawingml/2006/main">
              <a:ext uri="{FF2B5EF4-FFF2-40B4-BE49-F238E27FC236}">
                <a16:creationId xmlns:a16="http://schemas.microsoft.com/office/drawing/2014/main" id="{9418274C-7F68-4C8A-B108-4CBDC71C00B1}"/>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3A239BFD-6AED-4B5A-BB34-959E607A24AE}"/>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Research goal: use less chip area for image generation</a:t>
            </a:r>
          </a:p>
        </p:txBody>
      </p:sp>
      <p:sp>
        <p:nvSpPr>
          <p:cNvPr id="5" name="">
            <a:extLst xmlns:a="http://schemas.openxmlformats.org/drawingml/2006/main">
              <a:ext uri="{FF2B5EF4-FFF2-40B4-BE49-F238E27FC236}">
                <a16:creationId xmlns:a16="http://schemas.microsoft.com/office/drawing/2014/main" id="{87FC794B-432F-498D-BB07-6EB7E5609B65}"/>
              </a:ext>
            </a:extLst>
          </p:cNvPr>
          <p:cNvSpPr>
            <a:spLocks xmlns:a="http://schemas.openxmlformats.org/drawingml/2006/main" noGrp="1"/>
          </p:cNvSpPr>
          <p:nvPr/>
        </p:nvSpPr>
        <p:spPr>
          <a:xfrm xmlns:a="http://schemas.openxmlformats.org/drawingml/2006/main">
            <a:off x="1809750" y="3857625"/>
            <a:ext cx="1428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600" b="1">
                <a:solidFill>
                  <a:srgbClr val="002B57"/>
                </a:solidFill>
                <a:latin typeface="Inter Bold"/>
                <a:ea typeface="Inter Bold"/>
                <a:cs typeface="Inter Bold"/>
              </a:defRPr>
            </a:defPPr>
            <a:lvl1pPr>
              <a:defRPr sz="3600" b="1">
                <a:solidFill>
                  <a:srgbClr val="002B57"/>
                </a:solidFill>
                <a:latin typeface="Inter Bold"/>
                <a:ea typeface="Inter Bold"/>
                <a:cs typeface="Inter Bold"/>
              </a:defRPr>
            </a:lvl1pPr>
            <a:lvl2pPr>
              <a:defRPr sz="3600" b="1">
                <a:solidFill>
                  <a:srgbClr val="002B57"/>
                </a:solidFill>
                <a:latin typeface="Inter Bold"/>
                <a:ea typeface="Inter Bold"/>
                <a:cs typeface="Inter Bold"/>
              </a:defRPr>
            </a:lvl2pPr>
            <a:lvl3pPr>
              <a:defRPr sz="3600" b="1">
                <a:solidFill>
                  <a:srgbClr val="002B57"/>
                </a:solidFill>
                <a:latin typeface="Inter Bold"/>
                <a:ea typeface="Inter Bold"/>
                <a:cs typeface="Inter Bold"/>
              </a:defRPr>
            </a:lvl3pPr>
            <a:lvl4pPr>
              <a:defRPr sz="3600" b="1">
                <a:solidFill>
                  <a:srgbClr val="002B57"/>
                </a:solidFill>
                <a:latin typeface="Inter Bold"/>
                <a:ea typeface="Inter Bold"/>
                <a:cs typeface="Inter Bold"/>
              </a:defRPr>
            </a:lvl4pPr>
            <a:lvl5pPr>
              <a:defRPr sz="3600" b="1">
                <a:solidFill>
                  <a:srgbClr val="002B57"/>
                </a:solidFill>
                <a:latin typeface="Inter Bold"/>
                <a:ea typeface="Inter Bold"/>
                <a:cs typeface="Inter Bold"/>
              </a:defRPr>
            </a:lvl5pPr>
            <a:lvl6pPr>
              <a:defRPr sz="3600" b="1">
                <a:solidFill>
                  <a:srgbClr val="002B57"/>
                </a:solidFill>
                <a:latin typeface="Inter Bold"/>
                <a:ea typeface="Inter Bold"/>
                <a:cs typeface="Inter Bold"/>
              </a:defRPr>
            </a:lvl6pPr>
            <a:lvl7pPr>
              <a:defRPr sz="3600" b="1">
                <a:solidFill>
                  <a:srgbClr val="002B57"/>
                </a:solidFill>
                <a:latin typeface="Inter Bold"/>
                <a:ea typeface="Inter Bold"/>
                <a:cs typeface="Inter Bold"/>
              </a:defRPr>
            </a:lvl7pPr>
            <a:lvl8pPr>
              <a:defRPr sz="3600" b="1">
                <a:solidFill>
                  <a:srgbClr val="002B57"/>
                </a:solidFill>
                <a:latin typeface="Inter Bold"/>
                <a:ea typeface="Inter Bold"/>
                <a:cs typeface="Inter Bold"/>
              </a:defRPr>
            </a:lvl8pPr>
            <a:lvl9pPr>
              <a:defRPr sz="3600" b="1">
                <a:solidFill>
                  <a:srgbClr val="002B57"/>
                </a:solidFill>
                <a:latin typeface="Inter Bold"/>
                <a:ea typeface="Inter Bold"/>
                <a:cs typeface="Inter Bold"/>
              </a:defRPr>
            </a:lvl9pPr>
          </a:lstStyle>
          <a:p xmlns:a="http://schemas.openxmlformats.org/drawingml/2006/main">
            <a:pPr>
              <a:defRPr sz="3600" b="1">
                <a:solidFill>
                  <a:srgbClr val="002B57"/>
                </a:solidFill>
                <a:latin typeface="Inter Bold"/>
                <a:ea typeface="Inter Bold"/>
                <a:cs typeface="Inter Bold"/>
              </a:defRPr>
            </a:pPr>
            <a:r>
              <a:rPr sz="3600" b="1">
                <a:solidFill>
                  <a:srgbClr val="002B57"/>
                </a:solidFill>
                <a:latin typeface="Inter Bold"/>
                <a:ea typeface="Inter Bold"/>
                <a:cs typeface="Inter Bold"/>
              </a:rPr>
              <a:t>The earlier chip reserved too much memory for its results.</a:t>
            </a:r>
          </a:p>
        </p:txBody>
      </p:sp>
      <p:sp>
        <p:nvSpPr>
          <p:cNvPr id="6" name="">
            <a:extLst xmlns:a="http://schemas.openxmlformats.org/drawingml/2006/main">
              <a:ext uri="{FF2B5EF4-FFF2-40B4-BE49-F238E27FC236}">
                <a16:creationId xmlns:a16="http://schemas.microsoft.com/office/drawing/2014/main" id="{CCD86288-A9E1-4289-B343-932832AFA91E}"/>
              </a:ext>
            </a:extLst>
          </p:cNvPr>
          <p:cNvSpPr>
            <a:spLocks xmlns:a="http://schemas.openxmlformats.org/drawingml/2006/main" noGrp="1"/>
          </p:cNvSpPr>
          <p:nvPr/>
        </p:nvSpPr>
        <p:spPr>
          <a:xfrm xmlns:a="http://schemas.openxmlformats.org/drawingml/2006/main">
            <a:off x="1809750" y="5524500"/>
            <a:ext cx="40005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Same trained</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image generator</a:t>
            </a:r>
          </a:p>
        </p:txBody>
      </p:sp>
      <p:sp>
        <p:nvSpPr>
          <p:cNvPr id="7" name="">
            <a:extLst xmlns:a="http://schemas.openxmlformats.org/drawingml/2006/main">
              <a:ext uri="{FF2B5EF4-FFF2-40B4-BE49-F238E27FC236}">
                <a16:creationId xmlns:a16="http://schemas.microsoft.com/office/drawing/2014/main" id="{0983EE26-3DD0-41F4-AF10-F0C50F0426B8}"/>
              </a:ext>
            </a:extLst>
          </p:cNvPr>
          <p:cNvSpPr>
            <a:spLocks xmlns:a="http://schemas.openxmlformats.org/drawingml/2006/main" noGrp="1"/>
          </p:cNvSpPr>
          <p:nvPr/>
        </p:nvSpPr>
        <p:spPr>
          <a:xfrm xmlns:a="http://schemas.openxmlformats.org/drawingml/2006/main">
            <a:off x="5981700" y="5924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8" name="">
            <a:extLst xmlns:a="http://schemas.openxmlformats.org/drawingml/2006/main">
              <a:ext uri="{FF2B5EF4-FFF2-40B4-BE49-F238E27FC236}">
                <a16:creationId xmlns:a16="http://schemas.microsoft.com/office/drawing/2014/main" id="{7E1DC9A6-34C2-4773-A379-B8E40AE25A18}"/>
              </a:ext>
            </a:extLst>
          </p:cNvPr>
          <p:cNvSpPr>
            <a:spLocks xmlns:a="http://schemas.openxmlformats.org/drawingml/2006/main" noGrp="1"/>
          </p:cNvSpPr>
          <p:nvPr/>
        </p:nvSpPr>
        <p:spPr>
          <a:xfrm xmlns:a="http://schemas.openxmlformats.org/drawingml/2006/main">
            <a:off x="6762750" y="5524500"/>
            <a:ext cx="40005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Smaller result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memory</a:t>
            </a:r>
          </a:p>
        </p:txBody>
      </p:sp>
      <p:sp>
        <p:nvSpPr>
          <p:cNvPr id="9" name="">
            <a:extLst xmlns:a="http://schemas.openxmlformats.org/drawingml/2006/main">
              <a:ext uri="{FF2B5EF4-FFF2-40B4-BE49-F238E27FC236}">
                <a16:creationId xmlns:a16="http://schemas.microsoft.com/office/drawing/2014/main" id="{E45647AC-37E6-43E6-ADF9-956D91CAA64B}"/>
              </a:ext>
            </a:extLst>
          </p:cNvPr>
          <p:cNvSpPr>
            <a:spLocks xmlns:a="http://schemas.openxmlformats.org/drawingml/2006/main" noGrp="1"/>
          </p:cNvSpPr>
          <p:nvPr/>
        </p:nvSpPr>
        <p:spPr>
          <a:xfrm xmlns:a="http://schemas.openxmlformats.org/drawingml/2006/main">
            <a:off x="10934700" y="5924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10" name="">
            <a:extLst xmlns:a="http://schemas.openxmlformats.org/drawingml/2006/main">
              <a:ext uri="{FF2B5EF4-FFF2-40B4-BE49-F238E27FC236}">
                <a16:creationId xmlns:a16="http://schemas.microsoft.com/office/drawing/2014/main" id="{CFE33613-2007-4DF7-8E99-D4D362E876AA}"/>
              </a:ext>
            </a:extLst>
          </p:cNvPr>
          <p:cNvSpPr>
            <a:spLocks xmlns:a="http://schemas.openxmlformats.org/drawingml/2006/main" noGrp="1"/>
          </p:cNvSpPr>
          <p:nvPr/>
        </p:nvSpPr>
        <p:spPr>
          <a:xfrm xmlns:a="http://schemas.openxmlformats.org/drawingml/2006/main">
            <a:off x="11715750" y="5524500"/>
            <a:ext cx="42862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Smaller physical</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accelerator</a:t>
            </a:r>
          </a:p>
        </p:txBody>
      </p:sp>
      <p:sp>
        <p:nvSpPr>
          <p:cNvPr id="11" name="">
            <a:extLst xmlns:a="http://schemas.openxmlformats.org/drawingml/2006/main">
              <a:ext uri="{FF2B5EF4-FFF2-40B4-BE49-F238E27FC236}">
                <a16:creationId xmlns:a16="http://schemas.microsoft.com/office/drawing/2014/main" id="{D062247E-F7E2-47E2-B590-30AF1187E1D1}"/>
              </a:ext>
            </a:extLst>
          </p:cNvPr>
          <p:cNvSpPr>
            <a:spLocks xmlns:a="http://schemas.openxmlformats.org/drawingml/2006/main" noGrp="1"/>
          </p:cNvSpPr>
          <p:nvPr/>
        </p:nvSpPr>
        <p:spPr>
          <a:xfrm xmlns:a="http://schemas.openxmlformats.org/drawingml/2006/main">
            <a:off x="1809750" y="7715250"/>
            <a:ext cx="1428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0">
                <a:solidFill>
                  <a:srgbClr val="002B57"/>
                </a:solidFill>
                <a:latin typeface="Inter"/>
                <a:ea typeface="Inter"/>
                <a:cs typeface="Inter"/>
              </a:defRPr>
            </a:defPPr>
            <a:lvl1pPr>
              <a:defRPr sz="2850" b="0">
                <a:solidFill>
                  <a:srgbClr val="002B57"/>
                </a:solidFill>
                <a:latin typeface="Inter"/>
                <a:ea typeface="Inter"/>
                <a:cs typeface="Inter"/>
              </a:defRPr>
            </a:lvl1pPr>
            <a:lvl2pPr>
              <a:defRPr sz="2850" b="0">
                <a:solidFill>
                  <a:srgbClr val="002B57"/>
                </a:solidFill>
                <a:latin typeface="Inter"/>
                <a:ea typeface="Inter"/>
                <a:cs typeface="Inter"/>
              </a:defRPr>
            </a:lvl2pPr>
            <a:lvl3pPr>
              <a:defRPr sz="2850" b="0">
                <a:solidFill>
                  <a:srgbClr val="002B57"/>
                </a:solidFill>
                <a:latin typeface="Inter"/>
                <a:ea typeface="Inter"/>
                <a:cs typeface="Inter"/>
              </a:defRPr>
            </a:lvl3pPr>
            <a:lvl4pPr>
              <a:defRPr sz="2850" b="0">
                <a:solidFill>
                  <a:srgbClr val="002B57"/>
                </a:solidFill>
                <a:latin typeface="Inter"/>
                <a:ea typeface="Inter"/>
                <a:cs typeface="Inter"/>
              </a:defRPr>
            </a:lvl4pPr>
            <a:lvl5pPr>
              <a:defRPr sz="2850" b="0">
                <a:solidFill>
                  <a:srgbClr val="002B57"/>
                </a:solidFill>
                <a:latin typeface="Inter"/>
                <a:ea typeface="Inter"/>
                <a:cs typeface="Inter"/>
              </a:defRPr>
            </a:lvl5pPr>
            <a:lvl6pPr>
              <a:defRPr sz="2850" b="0">
                <a:solidFill>
                  <a:srgbClr val="002B57"/>
                </a:solidFill>
                <a:latin typeface="Inter"/>
                <a:ea typeface="Inter"/>
                <a:cs typeface="Inter"/>
              </a:defRPr>
            </a:lvl6pPr>
            <a:lvl7pPr>
              <a:defRPr sz="2850" b="0">
                <a:solidFill>
                  <a:srgbClr val="002B57"/>
                </a:solidFill>
                <a:latin typeface="Inter"/>
                <a:ea typeface="Inter"/>
                <a:cs typeface="Inter"/>
              </a:defRPr>
            </a:lvl7pPr>
            <a:lvl8pPr>
              <a:defRPr sz="2850" b="0">
                <a:solidFill>
                  <a:srgbClr val="002B57"/>
                </a:solidFill>
                <a:latin typeface="Inter"/>
                <a:ea typeface="Inter"/>
                <a:cs typeface="Inter"/>
              </a:defRPr>
            </a:lvl8pPr>
            <a:lvl9pPr>
              <a:defRPr sz="2850" b="0">
                <a:solidFill>
                  <a:srgbClr val="002B57"/>
                </a:solidFill>
                <a:latin typeface="Inter"/>
                <a:ea typeface="Inter"/>
                <a:cs typeface="Inter"/>
              </a:defRPr>
            </a:lvl9pPr>
          </a:lstStyle>
          <a:p xmlns:a="http://schemas.openxmlformats.org/drawingml/2006/main">
            <a:pPr>
              <a:defRPr sz="2850" b="0">
                <a:solidFill>
                  <a:srgbClr val="002B57"/>
                </a:solidFill>
                <a:latin typeface="Inter"/>
                <a:ea typeface="Inter"/>
                <a:cs typeface="Inter"/>
              </a:defRPr>
            </a:pPr>
            <a:r>
              <a:rPr sz="2850" b="0">
                <a:solidFill>
                  <a:srgbClr val="002B57"/>
                </a:solidFill>
                <a:latin typeface="Inter"/>
                <a:ea typeface="Inter"/>
                <a:cs typeface="Inter"/>
              </a:rPr>
              <a:t>We test the area benefit, the time penalty and numerical correctness.</a:t>
            </a:r>
          </a:p>
        </p:txBody>
      </p:sp>
      <p:sp>
        <p:nvSpPr>
          <p:cNvPr id="12" name="">
            <a:extLst xmlns:a="http://schemas.openxmlformats.org/drawingml/2006/main">
              <a:ext uri="{FF2B5EF4-FFF2-40B4-BE49-F238E27FC236}">
                <a16:creationId xmlns:a16="http://schemas.microsoft.com/office/drawing/2014/main" id="{EEF02B17-9B90-4835-90B4-72FA45CAE2A2}"/>
              </a:ext>
            </a:extLst>
          </p:cNvPr>
          <p:cNvSpPr>
            <a:spLocks xmlns:a="http://schemas.openxmlformats.org/drawingml/2006/main" noGrp="1"/>
          </p:cNvSpPr>
          <p:nvPr/>
        </p:nvSpPr>
        <p:spPr>
          <a:xfrm xmlns:a="http://schemas.openxmlformats.org/drawingml/2006/main">
            <a:off x="1809750" y="8810625"/>
            <a:ext cx="1438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E749A"/>
                </a:solidFill>
                <a:latin typeface="Inter Bold"/>
                <a:ea typeface="Inter Bold"/>
                <a:cs typeface="Inter Bold"/>
              </a:defRPr>
            </a:defPPr>
            <a:lvl1pPr>
              <a:defRPr sz="3150" b="1">
                <a:solidFill>
                  <a:srgbClr val="0E749A"/>
                </a:solidFill>
                <a:latin typeface="Inter Bold"/>
                <a:ea typeface="Inter Bold"/>
                <a:cs typeface="Inter Bold"/>
              </a:defRPr>
            </a:lvl1pPr>
            <a:lvl2pPr>
              <a:defRPr sz="3150" b="1">
                <a:solidFill>
                  <a:srgbClr val="0E749A"/>
                </a:solidFill>
                <a:latin typeface="Inter Bold"/>
                <a:ea typeface="Inter Bold"/>
                <a:cs typeface="Inter Bold"/>
              </a:defRPr>
            </a:lvl2pPr>
            <a:lvl3pPr>
              <a:defRPr sz="3150" b="1">
                <a:solidFill>
                  <a:srgbClr val="0E749A"/>
                </a:solidFill>
                <a:latin typeface="Inter Bold"/>
                <a:ea typeface="Inter Bold"/>
                <a:cs typeface="Inter Bold"/>
              </a:defRPr>
            </a:lvl3pPr>
            <a:lvl4pPr>
              <a:defRPr sz="3150" b="1">
                <a:solidFill>
                  <a:srgbClr val="0E749A"/>
                </a:solidFill>
                <a:latin typeface="Inter Bold"/>
                <a:ea typeface="Inter Bold"/>
                <a:cs typeface="Inter Bold"/>
              </a:defRPr>
            </a:lvl4pPr>
            <a:lvl5pPr>
              <a:defRPr sz="3150" b="1">
                <a:solidFill>
                  <a:srgbClr val="0E749A"/>
                </a:solidFill>
                <a:latin typeface="Inter Bold"/>
                <a:ea typeface="Inter Bold"/>
                <a:cs typeface="Inter Bold"/>
              </a:defRPr>
            </a:lvl5pPr>
            <a:lvl6pPr>
              <a:defRPr sz="3150" b="1">
                <a:solidFill>
                  <a:srgbClr val="0E749A"/>
                </a:solidFill>
                <a:latin typeface="Inter Bold"/>
                <a:ea typeface="Inter Bold"/>
                <a:cs typeface="Inter Bold"/>
              </a:defRPr>
            </a:lvl6pPr>
            <a:lvl7pPr>
              <a:defRPr sz="3150" b="1">
                <a:solidFill>
                  <a:srgbClr val="0E749A"/>
                </a:solidFill>
                <a:latin typeface="Inter Bold"/>
                <a:ea typeface="Inter Bold"/>
                <a:cs typeface="Inter Bold"/>
              </a:defRPr>
            </a:lvl7pPr>
            <a:lvl8pPr>
              <a:defRPr sz="3150" b="1">
                <a:solidFill>
                  <a:srgbClr val="0E749A"/>
                </a:solidFill>
                <a:latin typeface="Inter Bold"/>
                <a:ea typeface="Inter Bold"/>
                <a:cs typeface="Inter Bold"/>
              </a:defRPr>
            </a:lvl8pPr>
            <a:lvl9pPr>
              <a:defRPr sz="3150" b="1">
                <a:solidFill>
                  <a:srgbClr val="0E749A"/>
                </a:solidFill>
                <a:latin typeface="Inter Bold"/>
                <a:ea typeface="Inter Bold"/>
                <a:cs typeface="Inter Bold"/>
              </a:defRPr>
            </a:lvl9pPr>
          </a:lstStyle>
          <a:p xmlns:a="http://schemas.openxmlformats.org/drawingml/2006/main">
            <a:pPr>
              <a:defRPr sz="3150" b="1">
                <a:solidFill>
                  <a:srgbClr val="0E749A"/>
                </a:solidFill>
                <a:latin typeface="Inter Bold"/>
                <a:ea typeface="Inter Bold"/>
                <a:cs typeface="Inter Bold"/>
              </a:defRPr>
            </a:pPr>
            <a:r>
              <a:rPr sz="3150" b="1">
                <a:solidFill>
                  <a:srgbClr val="0E749A"/>
                </a:solidFill>
                <a:latin typeface="Inter Bold"/>
                <a:ea typeface="Inter Bold"/>
                <a:cs typeface="Inter Bold"/>
              </a:rPr>
              <a:t>Why it matters: unused memory still occupies chip area.</a:t>
            </a:r>
          </a:p>
        </p:txBody>
      </p:sp>
      <p:sp>
        <p:nvSpPr>
          <p:cNvPr id="13" name="">
            <a:extLst xmlns:a="http://schemas.openxmlformats.org/drawingml/2006/main">
              <a:ext uri="{FF2B5EF4-FFF2-40B4-BE49-F238E27FC236}">
                <a16:creationId xmlns:a16="http://schemas.microsoft.com/office/drawing/2014/main" id="{BD9944A3-5DB5-444C-A6D4-BE2DCD3501F1}"/>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05</a:t>
            </a:r>
          </a:p>
        </p:txBody>
      </p:sp>
    </p:spTree>
    <p:extLst>
      <p:ext uri="{BB962C8B-B14F-4D97-AF65-F5344CB8AC3E}">
        <p14:creationId xmlns:p14="http://schemas.microsoft.com/office/powerpoint/2010/main" val="15845361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9DA4955D-95EC-40A4-B575-8D6CB2515F31}"/>
              </a:ext>
            </a:extLst>
          </p:cNvPr>
          <p:cNvPicPr>
            <a:picLocks xmlns:a="http://schemas.openxmlformats.org/drawingml/2006/main" noChangeAspect="1"/>
          </p:cNvPicPr>
          <p:nvPr/>
        </p:nvPicPr>
        <p:blipFill>
          <a:blip xmlns:r="http://schemas.openxmlformats.org/officeDocument/2006/relationships" xmlns:a="http://schemas.openxmlformats.org/drawingml/2006/main" r:embed="Radda4f9b3d18499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817ED9-AAE9-427A-A5EF-39858D0F38B2}"/>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 CONTEXT</a:t>
            </a:r>
          </a:p>
        </p:txBody>
      </p:sp>
      <p:sp>
        <p:nvSpPr>
          <p:cNvPr id="3" name="">
            <a:extLst xmlns:a="http://schemas.openxmlformats.org/drawingml/2006/main">
              <a:ext uri="{FF2B5EF4-FFF2-40B4-BE49-F238E27FC236}">
                <a16:creationId xmlns:a16="http://schemas.microsoft.com/office/drawing/2014/main" id="{AAE6547F-96B1-415E-B7DC-8B6105D7135A}"/>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21638AFA-F70A-402B-984B-BC475582D7C9}"/>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The generator turns 64 numbers into 784 pixels</a:t>
            </a:r>
          </a:p>
        </p:txBody>
      </p:sp>
      <p:sp>
        <p:nvSpPr>
          <p:cNvPr id="5" name="">
            <a:extLst xmlns:a="http://schemas.openxmlformats.org/drawingml/2006/main">
              <a:ext uri="{FF2B5EF4-FFF2-40B4-BE49-F238E27FC236}">
                <a16:creationId xmlns:a16="http://schemas.microsoft.com/office/drawing/2014/main" id="{3EB8F6C0-A7F6-4575-BF82-77096683E1DC}"/>
              </a:ext>
            </a:extLst>
          </p:cNvPr>
          <p:cNvSpPr>
            <a:spLocks xmlns:a="http://schemas.openxmlformats.org/drawingml/2006/main" noGrp="1"/>
          </p:cNvSpPr>
          <p:nvPr/>
        </p:nvSpPr>
        <p:spPr>
          <a:xfrm xmlns:a="http://schemas.openxmlformats.org/drawingml/2006/main">
            <a:off x="1809750" y="4429125"/>
            <a:ext cx="24765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64 input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values</a:t>
            </a:r>
          </a:p>
        </p:txBody>
      </p:sp>
      <p:sp>
        <p:nvSpPr>
          <p:cNvPr id="6" name="">
            <a:extLst xmlns:a="http://schemas.openxmlformats.org/drawingml/2006/main">
              <a:ext uri="{FF2B5EF4-FFF2-40B4-BE49-F238E27FC236}">
                <a16:creationId xmlns:a16="http://schemas.microsoft.com/office/drawing/2014/main" id="{4B6C5E76-9001-4A26-AEDE-4DFE789AFC35}"/>
              </a:ext>
            </a:extLst>
          </p:cNvPr>
          <p:cNvSpPr>
            <a:spLocks xmlns:a="http://schemas.openxmlformats.org/drawingml/2006/main" noGrp="1"/>
          </p:cNvSpPr>
          <p:nvPr/>
        </p:nvSpPr>
        <p:spPr>
          <a:xfrm xmlns:a="http://schemas.openxmlformats.org/drawingml/2006/main">
            <a:off x="4457700" y="4829175"/>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A530CAD7-4C1A-4CE3-A66C-F28462A18BA0}"/>
              </a:ext>
            </a:extLst>
          </p:cNvPr>
          <p:cNvSpPr>
            <a:spLocks xmlns:a="http://schemas.openxmlformats.org/drawingml/2006/main" noGrp="1"/>
          </p:cNvSpPr>
          <p:nvPr/>
        </p:nvSpPr>
        <p:spPr>
          <a:xfrm xmlns:a="http://schemas.openxmlformats.org/drawingml/2006/main">
            <a:off x="5238750" y="4429125"/>
            <a:ext cx="2952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256 neurons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ReLU</a:t>
            </a:r>
          </a:p>
        </p:txBody>
      </p:sp>
      <p:sp>
        <p:nvSpPr>
          <p:cNvPr id="8" name="">
            <a:extLst xmlns:a="http://schemas.openxmlformats.org/drawingml/2006/main">
              <a:ext uri="{FF2B5EF4-FFF2-40B4-BE49-F238E27FC236}">
                <a16:creationId xmlns:a16="http://schemas.microsoft.com/office/drawing/2014/main" id="{81767C30-2406-4E49-98B9-06B2F738DFE6}"/>
              </a:ext>
            </a:extLst>
          </p:cNvPr>
          <p:cNvSpPr>
            <a:spLocks xmlns:a="http://schemas.openxmlformats.org/drawingml/2006/main" noGrp="1"/>
          </p:cNvSpPr>
          <p:nvPr/>
        </p:nvSpPr>
        <p:spPr>
          <a:xfrm xmlns:a="http://schemas.openxmlformats.org/drawingml/2006/main">
            <a:off x="8362950" y="4829175"/>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9" name="">
            <a:extLst xmlns:a="http://schemas.openxmlformats.org/drawingml/2006/main">
              <a:ext uri="{FF2B5EF4-FFF2-40B4-BE49-F238E27FC236}">
                <a16:creationId xmlns:a16="http://schemas.microsoft.com/office/drawing/2014/main" id="{93DD8C89-7534-423D-B345-E275C7A2F92D}"/>
              </a:ext>
            </a:extLst>
          </p:cNvPr>
          <p:cNvSpPr>
            <a:spLocks xmlns:a="http://schemas.openxmlformats.org/drawingml/2006/main" noGrp="1"/>
          </p:cNvSpPr>
          <p:nvPr/>
        </p:nvSpPr>
        <p:spPr>
          <a:xfrm xmlns:a="http://schemas.openxmlformats.org/drawingml/2006/main">
            <a:off x="9144000" y="4429125"/>
            <a:ext cx="2952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256 neurons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ReLU</a:t>
            </a:r>
          </a:p>
        </p:txBody>
      </p:sp>
      <p:sp>
        <p:nvSpPr>
          <p:cNvPr id="10" name="">
            <a:extLst xmlns:a="http://schemas.openxmlformats.org/drawingml/2006/main">
              <a:ext uri="{FF2B5EF4-FFF2-40B4-BE49-F238E27FC236}">
                <a16:creationId xmlns:a16="http://schemas.microsoft.com/office/drawing/2014/main" id="{A6C58F73-7B3A-4C5C-AF1B-CB9B6A039CF8}"/>
              </a:ext>
            </a:extLst>
          </p:cNvPr>
          <p:cNvSpPr>
            <a:spLocks xmlns:a="http://schemas.openxmlformats.org/drawingml/2006/main" noGrp="1"/>
          </p:cNvSpPr>
          <p:nvPr/>
        </p:nvSpPr>
        <p:spPr>
          <a:xfrm xmlns:a="http://schemas.openxmlformats.org/drawingml/2006/main">
            <a:off x="12268200" y="4829175"/>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11" name="">
            <a:extLst xmlns:a="http://schemas.openxmlformats.org/drawingml/2006/main">
              <a:ext uri="{FF2B5EF4-FFF2-40B4-BE49-F238E27FC236}">
                <a16:creationId xmlns:a16="http://schemas.microsoft.com/office/drawing/2014/main" id="{62BBC3E7-2252-4588-8290-347A439CC3F2}"/>
              </a:ext>
            </a:extLst>
          </p:cNvPr>
          <p:cNvSpPr>
            <a:spLocks xmlns:a="http://schemas.openxmlformats.org/drawingml/2006/main" noGrp="1"/>
          </p:cNvSpPr>
          <p:nvPr/>
        </p:nvSpPr>
        <p:spPr>
          <a:xfrm xmlns:a="http://schemas.openxmlformats.org/drawingml/2006/main">
            <a:off x="13049250" y="4429125"/>
            <a:ext cx="2952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784 pixels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tanh</a:t>
            </a:r>
          </a:p>
        </p:txBody>
      </p:sp>
      <p:pic>
        <p:nvPicPr>
          <p:cNvPr id="12" name="">
            <a:extLst xmlns:a="http://schemas.openxmlformats.org/drawingml/2006/main">
              <a:ext uri="{FF2B5EF4-FFF2-40B4-BE49-F238E27FC236}">
                <a16:creationId xmlns:a16="http://schemas.microsoft.com/office/drawing/2014/main" id="{2AC639B3-4605-4285-AA9D-59EF0D7D2478}"/>
              </a:ext>
            </a:extLst>
          </p:cNvPr>
          <p:cNvPicPr>
            <a:picLocks xmlns:a="http://schemas.openxmlformats.org/drawingml/2006/main" noChangeAspect="1"/>
          </p:cNvPicPr>
          <p:nvPr/>
        </p:nvPicPr>
        <p:blipFill>
          <a:blip xmlns:r="http://schemas.openxmlformats.org/officeDocument/2006/relationships" xmlns:a="http://schemas.openxmlformats.org/drawingml/2006/main" r:embed="R9a3e1759a69c49f9"/>
          <a:stretch xmlns:a="http://schemas.openxmlformats.org/drawingml/2006/main"/>
        </p:blipFill>
        <p:spPr>
          <a:xfrm xmlns:a="http://schemas.openxmlformats.org/drawingml/2006/main">
            <a:off x="13430250" y="6667500"/>
            <a:ext cx="1714500" cy="1714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6575C11-24B9-420F-935F-B872EACA4206}"/>
              </a:ext>
            </a:extLst>
          </p:cNvPr>
          <p:cNvSpPr>
            <a:spLocks xmlns:a="http://schemas.openxmlformats.org/drawingml/2006/main" noGrp="1"/>
          </p:cNvSpPr>
          <p:nvPr/>
        </p:nvSpPr>
        <p:spPr>
          <a:xfrm xmlns:a="http://schemas.openxmlformats.org/drawingml/2006/main">
            <a:off x="9144000" y="71437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E749A"/>
                </a:solidFill>
                <a:latin typeface="Inter Bold"/>
                <a:ea typeface="Inter Bold"/>
                <a:cs typeface="Inter Bold"/>
              </a:defRPr>
            </a:defPPr>
            <a:lvl1pPr>
              <a:defRPr sz="2700" b="1">
                <a:solidFill>
                  <a:srgbClr val="0E749A"/>
                </a:solidFill>
                <a:latin typeface="Inter Bold"/>
                <a:ea typeface="Inter Bold"/>
                <a:cs typeface="Inter Bold"/>
              </a:defRPr>
            </a:lvl1pPr>
            <a:lvl2pPr>
              <a:defRPr sz="2700" b="1">
                <a:solidFill>
                  <a:srgbClr val="0E749A"/>
                </a:solidFill>
                <a:latin typeface="Inter Bold"/>
                <a:ea typeface="Inter Bold"/>
                <a:cs typeface="Inter Bold"/>
              </a:defRPr>
            </a:lvl2pPr>
            <a:lvl3pPr>
              <a:defRPr sz="2700" b="1">
                <a:solidFill>
                  <a:srgbClr val="0E749A"/>
                </a:solidFill>
                <a:latin typeface="Inter Bold"/>
                <a:ea typeface="Inter Bold"/>
                <a:cs typeface="Inter Bold"/>
              </a:defRPr>
            </a:lvl3pPr>
            <a:lvl4pPr>
              <a:defRPr sz="2700" b="1">
                <a:solidFill>
                  <a:srgbClr val="0E749A"/>
                </a:solidFill>
                <a:latin typeface="Inter Bold"/>
                <a:ea typeface="Inter Bold"/>
                <a:cs typeface="Inter Bold"/>
              </a:defRPr>
            </a:lvl4pPr>
            <a:lvl5pPr>
              <a:defRPr sz="2700" b="1">
                <a:solidFill>
                  <a:srgbClr val="0E749A"/>
                </a:solidFill>
                <a:latin typeface="Inter Bold"/>
                <a:ea typeface="Inter Bold"/>
                <a:cs typeface="Inter Bold"/>
              </a:defRPr>
            </a:lvl5pPr>
            <a:lvl6pPr>
              <a:defRPr sz="2700" b="1">
                <a:solidFill>
                  <a:srgbClr val="0E749A"/>
                </a:solidFill>
                <a:latin typeface="Inter Bold"/>
                <a:ea typeface="Inter Bold"/>
                <a:cs typeface="Inter Bold"/>
              </a:defRPr>
            </a:lvl6pPr>
            <a:lvl7pPr>
              <a:defRPr sz="2700" b="1">
                <a:solidFill>
                  <a:srgbClr val="0E749A"/>
                </a:solidFill>
                <a:latin typeface="Inter Bold"/>
                <a:ea typeface="Inter Bold"/>
                <a:cs typeface="Inter Bold"/>
              </a:defRPr>
            </a:lvl7pPr>
            <a:lvl8pPr>
              <a:defRPr sz="2700" b="1">
                <a:solidFill>
                  <a:srgbClr val="0E749A"/>
                </a:solidFill>
                <a:latin typeface="Inter Bold"/>
                <a:ea typeface="Inter Bold"/>
                <a:cs typeface="Inter Bold"/>
              </a:defRPr>
            </a:lvl8pPr>
            <a:lvl9pPr>
              <a:defRPr sz="2700" b="1">
                <a:solidFill>
                  <a:srgbClr val="0E749A"/>
                </a:solidFill>
                <a:latin typeface="Inter Bold"/>
                <a:ea typeface="Inter Bold"/>
                <a:cs typeface="Inter Bold"/>
              </a:defRPr>
            </a:lvl9pPr>
          </a:lstStyle>
          <a:p xmlns:a="http://schemas.openxmlformats.org/drawingml/2006/main">
            <a:pPr>
              <a:defRPr sz="2700" b="1">
                <a:solidFill>
                  <a:srgbClr val="0E749A"/>
                </a:solidFill>
                <a:latin typeface="Inter Bold"/>
                <a:ea typeface="Inter Bold"/>
                <a:cs typeface="Inter Bold"/>
              </a:defRPr>
            </a:pPr>
            <a:r>
              <a:rPr sz="2700" b="1">
                <a:solidFill>
                  <a:srgbClr val="0E749A"/>
                </a:solidFill>
                <a:latin typeface="Inter Bold"/>
                <a:ea typeface="Inter Bold"/>
                <a:cs typeface="Inter Bold"/>
              </a:rPr>
              <a:t>28 × 28 grayscale image</a:t>
            </a:r>
          </a:p>
        </p:txBody>
      </p:sp>
      <p:sp>
        <p:nvSpPr>
          <p:cNvPr id="14" name="">
            <a:extLst xmlns:a="http://schemas.openxmlformats.org/drawingml/2006/main">
              <a:ext uri="{FF2B5EF4-FFF2-40B4-BE49-F238E27FC236}">
                <a16:creationId xmlns:a16="http://schemas.microsoft.com/office/drawing/2014/main" id="{3A5BF155-C878-4D62-8C4C-8A08D9A93A17}"/>
              </a:ext>
            </a:extLst>
          </p:cNvPr>
          <p:cNvSpPr>
            <a:spLocks xmlns:a="http://schemas.openxmlformats.org/drawingml/2006/main" noGrp="1"/>
          </p:cNvSpPr>
          <p:nvPr/>
        </p:nvSpPr>
        <p:spPr>
          <a:xfrm xmlns:a="http://schemas.openxmlformats.org/drawingml/2006/main">
            <a:off x="1809750" y="6905625"/>
            <a:ext cx="704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ReLU keeps positive values. tanh limits the output range.</a:t>
            </a:r>
          </a:p>
        </p:txBody>
      </p:sp>
      <p:sp>
        <p:nvSpPr>
          <p:cNvPr id="15" name="">
            <a:extLst xmlns:a="http://schemas.openxmlformats.org/drawingml/2006/main">
              <a:ext uri="{FF2B5EF4-FFF2-40B4-BE49-F238E27FC236}">
                <a16:creationId xmlns:a16="http://schemas.microsoft.com/office/drawing/2014/main" id="{9E71977F-2BA8-4269-A624-C1A260EF6E7A}"/>
              </a:ext>
            </a:extLst>
          </p:cNvPr>
          <p:cNvSpPr>
            <a:spLocks xmlns:a="http://schemas.openxmlformats.org/drawingml/2006/main" noGrp="1"/>
          </p:cNvSpPr>
          <p:nvPr/>
        </p:nvSpPr>
        <p:spPr>
          <a:xfrm xmlns:a="http://schemas.openxmlformats.org/drawingml/2006/main">
            <a:off x="1809750" y="8620125"/>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02B57"/>
                </a:solidFill>
                <a:latin typeface="Inter Bold"/>
                <a:ea typeface="Inter Bold"/>
                <a:cs typeface="Inter Bold"/>
              </a:defRPr>
            </a:defPPr>
            <a:lvl1pPr>
              <a:defRPr sz="3150" b="1">
                <a:solidFill>
                  <a:srgbClr val="002B57"/>
                </a:solidFill>
                <a:latin typeface="Inter Bold"/>
                <a:ea typeface="Inter Bold"/>
                <a:cs typeface="Inter Bold"/>
              </a:defRPr>
            </a:lvl1pPr>
            <a:lvl2pPr>
              <a:defRPr sz="3150" b="1">
                <a:solidFill>
                  <a:srgbClr val="002B57"/>
                </a:solidFill>
                <a:latin typeface="Inter Bold"/>
                <a:ea typeface="Inter Bold"/>
                <a:cs typeface="Inter Bold"/>
              </a:defRPr>
            </a:lvl2pPr>
            <a:lvl3pPr>
              <a:defRPr sz="3150" b="1">
                <a:solidFill>
                  <a:srgbClr val="002B57"/>
                </a:solidFill>
                <a:latin typeface="Inter Bold"/>
                <a:ea typeface="Inter Bold"/>
                <a:cs typeface="Inter Bold"/>
              </a:defRPr>
            </a:lvl3pPr>
            <a:lvl4pPr>
              <a:defRPr sz="3150" b="1">
                <a:solidFill>
                  <a:srgbClr val="002B57"/>
                </a:solidFill>
                <a:latin typeface="Inter Bold"/>
                <a:ea typeface="Inter Bold"/>
                <a:cs typeface="Inter Bold"/>
              </a:defRPr>
            </a:lvl4pPr>
            <a:lvl5pPr>
              <a:defRPr sz="3150" b="1">
                <a:solidFill>
                  <a:srgbClr val="002B57"/>
                </a:solidFill>
                <a:latin typeface="Inter Bold"/>
                <a:ea typeface="Inter Bold"/>
                <a:cs typeface="Inter Bold"/>
              </a:defRPr>
            </a:lvl5pPr>
            <a:lvl6pPr>
              <a:defRPr sz="3150" b="1">
                <a:solidFill>
                  <a:srgbClr val="002B57"/>
                </a:solidFill>
                <a:latin typeface="Inter Bold"/>
                <a:ea typeface="Inter Bold"/>
                <a:cs typeface="Inter Bold"/>
              </a:defRPr>
            </a:lvl6pPr>
            <a:lvl7pPr>
              <a:defRPr sz="3150" b="1">
                <a:solidFill>
                  <a:srgbClr val="002B57"/>
                </a:solidFill>
                <a:latin typeface="Inter Bold"/>
                <a:ea typeface="Inter Bold"/>
                <a:cs typeface="Inter Bold"/>
              </a:defRPr>
            </a:lvl7pPr>
            <a:lvl8pPr>
              <a:defRPr sz="3150" b="1">
                <a:solidFill>
                  <a:srgbClr val="002B57"/>
                </a:solidFill>
                <a:latin typeface="Inter Bold"/>
                <a:ea typeface="Inter Bold"/>
                <a:cs typeface="Inter Bold"/>
              </a:defRPr>
            </a:lvl8pPr>
            <a:lvl9pPr>
              <a:defRPr sz="3150" b="1">
                <a:solidFill>
                  <a:srgbClr val="002B57"/>
                </a:solidFill>
                <a:latin typeface="Inter Bold"/>
                <a:ea typeface="Inter Bold"/>
                <a:cs typeface="Inter Bold"/>
              </a:defRPr>
            </a:lvl9pPr>
          </a:lstStyle>
          <a:p xmlns:a="http://schemas.openxmlformats.org/drawingml/2006/main">
            <a:pPr>
              <a:defRPr sz="3150" b="1">
                <a:solidFill>
                  <a:srgbClr val="002B57"/>
                </a:solidFill>
                <a:latin typeface="Inter Bold"/>
                <a:ea typeface="Inter Bold"/>
                <a:cs typeface="Inter Bold"/>
              </a:defRPr>
            </a:pPr>
            <a:r>
              <a:rPr sz="3150" b="1">
                <a:solidFill>
                  <a:srgbClr val="002B57"/>
                </a:solidFill>
                <a:latin typeface="Inter Bold"/>
                <a:ea typeface="Inter Bold"/>
                <a:cs typeface="Inter Bold"/>
              </a:rPr>
              <a:t>282,624 multiply–accumulate operations per image</a:t>
            </a:r>
          </a:p>
        </p:txBody>
      </p:sp>
      <p:sp>
        <p:nvSpPr>
          <p:cNvPr id="16" name="">
            <a:extLst xmlns:a="http://schemas.openxmlformats.org/drawingml/2006/main">
              <a:ext uri="{FF2B5EF4-FFF2-40B4-BE49-F238E27FC236}">
                <a16:creationId xmlns:a16="http://schemas.microsoft.com/office/drawing/2014/main" id="{C949F64F-3A85-4B82-81A9-D08D3FB308C2}"/>
              </a:ext>
            </a:extLst>
          </p:cNvPr>
          <p:cNvSpPr>
            <a:spLocks xmlns:a="http://schemas.openxmlformats.org/drawingml/2006/main" noGrp="1"/>
          </p:cNvSpPr>
          <p:nvPr/>
        </p:nvSpPr>
        <p:spPr>
          <a:xfrm xmlns:a="http://schemas.openxmlformats.org/drawingml/2006/main">
            <a:off x="1809750" y="9477375"/>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 multiply–accumulate (MAC) multiplies two numbers and adds the product to a running sum.</a:t>
            </a:r>
          </a:p>
        </p:txBody>
      </p:sp>
      <p:sp>
        <p:nvSpPr>
          <p:cNvPr id="17" name="">
            <a:extLst xmlns:a="http://schemas.openxmlformats.org/drawingml/2006/main">
              <a:ext uri="{FF2B5EF4-FFF2-40B4-BE49-F238E27FC236}">
                <a16:creationId xmlns:a16="http://schemas.microsoft.com/office/drawing/2014/main" id="{9C7217DF-742F-4B35-A1AB-DDFC7FAE8352}"/>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06</a:t>
            </a:r>
          </a:p>
        </p:txBody>
      </p:sp>
    </p:spTree>
    <p:extLst>
      <p:ext uri="{BB962C8B-B14F-4D97-AF65-F5344CB8AC3E}">
        <p14:creationId xmlns:p14="http://schemas.microsoft.com/office/powerpoint/2010/main" val="13941227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CC67381-DE5A-4317-955E-89C79E856D9D}"/>
              </a:ext>
            </a:extLst>
          </p:cNvPr>
          <p:cNvPicPr>
            <a:picLocks xmlns:a="http://schemas.openxmlformats.org/drawingml/2006/main" noChangeAspect="1"/>
          </p:cNvPicPr>
          <p:nvPr/>
        </p:nvPicPr>
        <p:blipFill>
          <a:blip xmlns:r="http://schemas.openxmlformats.org/officeDocument/2006/relationships" xmlns:a="http://schemas.openxmlformats.org/drawingml/2006/main" r:embed="Rf1f057ebf1a74d3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6D3613-A980-4B62-95A6-6DD12AA94818}"/>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6E29B774-3B2D-4883-A2DC-B953780423ED}"/>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33B18140-BD47-449F-B055-D8249718D99E}"/>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Dense layers map to 324 hardware tiles</a:t>
            </a:r>
          </a:p>
        </p:txBody>
      </p:sp>
      <p:graphicFrame>
        <p:nvGraphicFramePr>
          <p:cNvPr id="5" name="">
            <a:extLst xmlns:a="http://schemas.openxmlformats.org/drawingml/2006/main">
              <a:ext uri="{FF2B5EF4-FFF2-40B4-BE49-F238E27FC236}">
                <a16:creationId xmlns:a16="http://schemas.microsoft.com/office/drawing/2014/main" id="{EC37C97E-9391-406D-9108-E83AA966A278}"/>
              </a:ext>
            </a:extLst>
          </p:cNvPr>
          <p:cNvGraphicFramePr/>
          <p:nvPr/>
        </p:nvGraphicFramePr>
        <p:xfrm>
          <a:off xmlns:a="http://schemas.openxmlformats.org/drawingml/2006/main" x="1809750" y="3952875"/>
          <a:ext xmlns:a="http://schemas.openxmlformats.org/drawingml/2006/main" cx="14097000" cy="3143250"/>
        </p:xfrm>
        <a:graphic xmlns:a="http://schemas.openxmlformats.org/drawingml/2006/main">
          <a:graphicData uri="http://schemas.openxmlformats.org/drawingml/2006/table">
            <a:tbl>
              <a:tblPr/>
              <a:tblGrid>
                <a:gridCol w="2857500"/>
                <a:gridCol w="4762500"/>
                <a:gridCol w="4000500"/>
                <a:gridCol w="2476500"/>
              </a:tblGrid>
              <a:tr h="628650">
                <a:tc>
                  <a:txBody>
                    <a:bodyPr/>
                    <a:lstStyle/>
                    <a:p>
                      <a:r>
                        <a:rPr sz="2325" b="1">
                          <a:solidFill>
                            <a:srgbClr val="FFFFFF"/>
                          </a:solidFill>
                          <a:latin typeface="Inter Bold"/>
                          <a:ea typeface="Inter Bold"/>
                          <a:cs typeface="Inter Bold"/>
                        </a:rPr>
                        <a:t>Layer</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Dense operation</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Useful outputs/tile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Tiles/image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28650">
                <a:tc>
                  <a:txBody>
                    <a:bodyPr/>
                    <a:lstStyle/>
                    <a:p>
                      <a:r>
                        <a:rPr sz="2325" b="0">
                          <a:solidFill>
                            <a:srgbClr val="002B57"/>
                          </a:solidFill>
                          <a:latin typeface="Inter"/>
                          <a:ea typeface="Inter"/>
                          <a:cs typeface="Inter"/>
                        </a:rPr>
                        <a:t>L0 + ReLU</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256 × 64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64</a:t>
                      </a:r>
                    </a:p>
                  </a:txBody>
                  <a:tcPr marL="91440" marR="91440" marT="45720" marB="45720">
                    <a:lnR w="9525">
                      <a:solidFill>
                        <a:srgbClr val="D4DEE3"/>
                      </a:solidFill>
                      <a:prstDash val="solid"/>
                    </a:lnR>
                    <a:lnB w="9525">
                      <a:solidFill>
                        <a:srgbClr val="D4DEE3"/>
                      </a:solidFill>
                      <a:prstDash val="solid"/>
                    </a:lnB>
                    <a:solidFill>
                      <a:srgbClr val="FFFFFF"/>
                    </a:solidFill>
                  </a:tcPr>
                </a:tc>
              </a:tr>
              <a:tr h="628650">
                <a:tc>
                  <a:txBody>
                    <a:bodyPr/>
                    <a:lstStyle/>
                    <a:p>
                      <a:r>
                        <a:rPr sz="2325" b="0">
                          <a:solidFill>
                            <a:srgbClr val="002B57"/>
                          </a:solidFill>
                          <a:latin typeface="Inter"/>
                          <a:ea typeface="Inter"/>
                          <a:cs typeface="Inter"/>
                        </a:rPr>
                        <a:t>L2 + ReLU</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256 × 256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64</a:t>
                      </a:r>
                    </a:p>
                  </a:txBody>
                  <a:tcPr marL="91440" marR="91440" marT="45720" marB="45720">
                    <a:lnR w="9525">
                      <a:solidFill>
                        <a:srgbClr val="D4DEE3"/>
                      </a:solidFill>
                      <a:prstDash val="solid"/>
                    </a:lnR>
                    <a:lnB w="9525">
                      <a:solidFill>
                        <a:srgbClr val="D4DEE3"/>
                      </a:solidFill>
                      <a:prstDash val="solid"/>
                    </a:lnB>
                    <a:solidFill>
                      <a:srgbClr val="FFFFFF"/>
                    </a:solidFill>
                  </a:tcPr>
                </a:tc>
              </a:tr>
              <a:tr h="628650">
                <a:tc>
                  <a:txBody>
                    <a:bodyPr/>
                    <a:lstStyle/>
                    <a:p>
                      <a:r>
                        <a:rPr sz="2325" b="0">
                          <a:solidFill>
                            <a:srgbClr val="002B57"/>
                          </a:solidFill>
                          <a:latin typeface="Inter"/>
                          <a:ea typeface="Inter"/>
                          <a:cs typeface="Inter"/>
                        </a:rPr>
                        <a:t>L4 + tanh</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784 × 256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196</a:t>
                      </a:r>
                    </a:p>
                  </a:txBody>
                  <a:tcPr marL="91440" marR="91440" marT="45720" marB="45720">
                    <a:lnR w="9525">
                      <a:solidFill>
                        <a:srgbClr val="D4DEE3"/>
                      </a:solidFill>
                      <a:prstDash val="solid"/>
                    </a:lnR>
                    <a:lnB w="9525">
                      <a:solidFill>
                        <a:srgbClr val="D4DEE3"/>
                      </a:solidFill>
                      <a:prstDash val="solid"/>
                    </a:lnB>
                    <a:solidFill>
                      <a:srgbClr val="FFFFFF"/>
                    </a:solidFill>
                  </a:tcPr>
                </a:tc>
              </a:tr>
              <a:tr h="628650">
                <a:tc>
                  <a:txBody>
                    <a:bodyPr/>
                    <a:lstStyle/>
                    <a:p>
                      <a:r>
                        <a:rPr sz="2325" b="1">
                          <a:solidFill>
                            <a:srgbClr val="002B57"/>
                          </a:solidFill>
                          <a:latin typeface="Inter Bold"/>
                          <a:ea typeface="Inter Bold"/>
                          <a:cs typeface="Inter Bold"/>
                        </a:rPr>
                        <a:t>Total</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282,624 useful MACs</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4</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324</a:t>
                      </a:r>
                    </a:p>
                  </a:txBody>
                  <a:tcPr marL="91440" marR="91440" marT="45720" marB="45720">
                    <a:lnR w="9525">
                      <a:solidFill>
                        <a:srgbClr val="D4DEE3"/>
                      </a:solidFill>
                      <a:prstDash val="solid"/>
                    </a:lnR>
                    <a:lnB w="9525">
                      <a:solidFill>
                        <a:srgbClr val="D4DEE3"/>
                      </a:solidFill>
                      <a:prstDash val="solid"/>
                    </a:lnB>
                    <a:solidFill>
                      <a:srgbClr val="E9F2F5"/>
                    </a:solidFill>
                  </a:tcPr>
                </a:tc>
              </a:tr>
            </a:tbl>
          </a:graphicData>
        </a:graphic>
      </p:graphicFrame>
      <p:sp>
        <p:nvSpPr>
          <p:cNvPr id="6" name="">
            <a:extLst xmlns:a="http://schemas.openxmlformats.org/drawingml/2006/main">
              <a:ext uri="{FF2B5EF4-FFF2-40B4-BE49-F238E27FC236}">
                <a16:creationId xmlns:a16="http://schemas.microsoft.com/office/drawing/2014/main" id="{2CC7A9E1-1E26-4C10-BC64-5EDAE7279879}"/>
              </a:ext>
            </a:extLst>
          </p:cNvPr>
          <p:cNvSpPr>
            <a:spLocks xmlns:a="http://schemas.openxmlformats.org/drawingml/2006/main" noGrp="1"/>
          </p:cNvSpPr>
          <p:nvPr/>
        </p:nvSpPr>
        <p:spPr>
          <a:xfrm xmlns:a="http://schemas.openxmlformats.org/drawingml/2006/main">
            <a:off x="1809750" y="7572375"/>
            <a:ext cx="1428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E749A"/>
                </a:solidFill>
                <a:latin typeface="Inter Bold"/>
                <a:ea typeface="Inter Bold"/>
                <a:cs typeface="Inter Bold"/>
              </a:defRPr>
            </a:defPPr>
            <a:lvl1pPr>
              <a:defRPr sz="2775" b="1">
                <a:solidFill>
                  <a:srgbClr val="0E749A"/>
                </a:solidFill>
                <a:latin typeface="Inter Bold"/>
                <a:ea typeface="Inter Bold"/>
                <a:cs typeface="Inter Bold"/>
              </a:defRPr>
            </a:lvl1pPr>
            <a:lvl2pPr>
              <a:defRPr sz="2775" b="1">
                <a:solidFill>
                  <a:srgbClr val="0E749A"/>
                </a:solidFill>
                <a:latin typeface="Inter Bold"/>
                <a:ea typeface="Inter Bold"/>
                <a:cs typeface="Inter Bold"/>
              </a:defRPr>
            </a:lvl2pPr>
            <a:lvl3pPr>
              <a:defRPr sz="2775" b="1">
                <a:solidFill>
                  <a:srgbClr val="0E749A"/>
                </a:solidFill>
                <a:latin typeface="Inter Bold"/>
                <a:ea typeface="Inter Bold"/>
                <a:cs typeface="Inter Bold"/>
              </a:defRPr>
            </a:lvl3pPr>
            <a:lvl4pPr>
              <a:defRPr sz="2775" b="1">
                <a:solidFill>
                  <a:srgbClr val="0E749A"/>
                </a:solidFill>
                <a:latin typeface="Inter Bold"/>
                <a:ea typeface="Inter Bold"/>
                <a:cs typeface="Inter Bold"/>
              </a:defRPr>
            </a:lvl4pPr>
            <a:lvl5pPr>
              <a:defRPr sz="2775" b="1">
                <a:solidFill>
                  <a:srgbClr val="0E749A"/>
                </a:solidFill>
                <a:latin typeface="Inter Bold"/>
                <a:ea typeface="Inter Bold"/>
                <a:cs typeface="Inter Bold"/>
              </a:defRPr>
            </a:lvl5pPr>
            <a:lvl6pPr>
              <a:defRPr sz="2775" b="1">
                <a:solidFill>
                  <a:srgbClr val="0E749A"/>
                </a:solidFill>
                <a:latin typeface="Inter Bold"/>
                <a:ea typeface="Inter Bold"/>
                <a:cs typeface="Inter Bold"/>
              </a:defRPr>
            </a:lvl6pPr>
            <a:lvl7pPr>
              <a:defRPr sz="2775" b="1">
                <a:solidFill>
                  <a:srgbClr val="0E749A"/>
                </a:solidFill>
                <a:latin typeface="Inter Bold"/>
                <a:ea typeface="Inter Bold"/>
                <a:cs typeface="Inter Bold"/>
              </a:defRPr>
            </a:lvl7pPr>
            <a:lvl8pPr>
              <a:defRPr sz="2775" b="1">
                <a:solidFill>
                  <a:srgbClr val="0E749A"/>
                </a:solidFill>
                <a:latin typeface="Inter Bold"/>
                <a:ea typeface="Inter Bold"/>
                <a:cs typeface="Inter Bold"/>
              </a:defRPr>
            </a:lvl8pPr>
            <a:lvl9pPr>
              <a:defRPr sz="2775" b="1">
                <a:solidFill>
                  <a:srgbClr val="0E749A"/>
                </a:solidFill>
                <a:latin typeface="Inter Bold"/>
                <a:ea typeface="Inter Bold"/>
                <a:cs typeface="Inter Bold"/>
              </a:defRPr>
            </a:lvl9pPr>
          </a:lstStyle>
          <a:p xmlns:a="http://schemas.openxmlformats.org/drawingml/2006/main">
            <a:pPr>
              <a:defRPr sz="2775" b="1">
                <a:solidFill>
                  <a:srgbClr val="0E749A"/>
                </a:solidFill>
                <a:latin typeface="Inter Bold"/>
                <a:ea typeface="Inter Bold"/>
                <a:cs typeface="Inter Bold"/>
              </a:defRPr>
            </a:pPr>
            <a:r>
              <a:rPr sz="2775" b="1">
                <a:solidFill>
                  <a:srgbClr val="0E749A"/>
                </a:solidFill>
                <a:latin typeface="Inter Bold"/>
                <a:ea typeface="Inter Bold"/>
                <a:cs typeface="Inter Bold"/>
              </a:rPr>
              <a:t>For each tile: four weight rows enter A; the input vector enters B.</a:t>
            </a:r>
          </a:p>
        </p:txBody>
      </p:sp>
      <p:sp>
        <p:nvSpPr>
          <p:cNvPr id="7" name="">
            <a:extLst xmlns:a="http://schemas.openxmlformats.org/drawingml/2006/main">
              <a:ext uri="{FF2B5EF4-FFF2-40B4-BE49-F238E27FC236}">
                <a16:creationId xmlns:a16="http://schemas.microsoft.com/office/drawing/2014/main" id="{37DCF9CB-645C-40CF-BCF7-38603BB19A00}"/>
              </a:ext>
            </a:extLst>
          </p:cNvPr>
          <p:cNvSpPr>
            <a:spLocks xmlns:a="http://schemas.openxmlformats.org/drawingml/2006/main" noGrp="1"/>
          </p:cNvSpPr>
          <p:nvPr/>
        </p:nvSpPr>
        <p:spPr>
          <a:xfrm xmlns:a="http://schemas.openxmlformats.org/drawingml/2006/main">
            <a:off x="1809750" y="8572500"/>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K = 256 is accumulation time. L0 pads its 64 inputs to that depth.</a:t>
            </a:r>
          </a:p>
        </p:txBody>
      </p:sp>
      <p:sp>
        <p:nvSpPr>
          <p:cNvPr id="8" name="">
            <a:extLst xmlns:a="http://schemas.openxmlformats.org/drawingml/2006/main">
              <a:ext uri="{FF2B5EF4-FFF2-40B4-BE49-F238E27FC236}">
                <a16:creationId xmlns:a16="http://schemas.microsoft.com/office/drawing/2014/main" id="{0F1130B6-4B90-4723-AE24-A38EACFC593D}"/>
              </a:ext>
            </a:extLst>
          </p:cNvPr>
          <p:cNvSpPr>
            <a:spLocks xmlns:a="http://schemas.openxmlformats.org/drawingml/2006/main" noGrp="1"/>
          </p:cNvSpPr>
          <p:nvPr/>
        </p:nvSpPr>
        <p:spPr>
          <a:xfrm xmlns:a="http://schemas.openxmlformats.org/drawingml/2006/main">
            <a:off x="1809750" y="9429750"/>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 single latent input uses one PE column for useful neurons. Batching can use the other columns.</a:t>
            </a:r>
          </a:p>
        </p:txBody>
      </p:sp>
      <p:sp>
        <p:nvSpPr>
          <p:cNvPr id="9" name="">
            <a:extLst xmlns:a="http://schemas.openxmlformats.org/drawingml/2006/main">
              <a:ext uri="{FF2B5EF4-FFF2-40B4-BE49-F238E27FC236}">
                <a16:creationId xmlns:a16="http://schemas.microsoft.com/office/drawing/2014/main" id="{612C3737-4F5B-4A88-A901-B556E212D84E}"/>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07</a:t>
            </a:r>
          </a:p>
        </p:txBody>
      </p:sp>
    </p:spTree>
    <p:extLst>
      <p:ext uri="{BB962C8B-B14F-4D97-AF65-F5344CB8AC3E}">
        <p14:creationId xmlns:p14="http://schemas.microsoft.com/office/powerpoint/2010/main" val="142771351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49AB616-8D25-4B22-A50D-039E30350B87}"/>
              </a:ext>
            </a:extLst>
          </p:cNvPr>
          <p:cNvPicPr>
            <a:picLocks xmlns:a="http://schemas.openxmlformats.org/drawingml/2006/main" noChangeAspect="1"/>
          </p:cNvPicPr>
          <p:nvPr/>
        </p:nvPicPr>
        <p:blipFill>
          <a:blip xmlns:r="http://schemas.openxmlformats.org/officeDocument/2006/relationships" xmlns:a="http://schemas.openxmlformats.org/drawingml/2006/main" r:embed="Reec5ee1d1f124e0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E3767A-6159-4BD4-9A96-FDD4AA0D47E1}"/>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 PROBLEM</a:t>
            </a:r>
          </a:p>
        </p:txBody>
      </p:sp>
      <p:sp>
        <p:nvSpPr>
          <p:cNvPr id="3" name="">
            <a:extLst xmlns:a="http://schemas.openxmlformats.org/drawingml/2006/main">
              <a:ext uri="{FF2B5EF4-FFF2-40B4-BE49-F238E27FC236}">
                <a16:creationId xmlns:a16="http://schemas.microsoft.com/office/drawing/2014/main" id="{8CF57801-2607-41F8-953F-A4596828FE26}"/>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0D1D16E1-9B99-4A46-99C3-694C64E47A64}"/>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The earlier result memory was 93.75% unused</a:t>
            </a:r>
          </a:p>
        </p:txBody>
      </p:sp>
      <p:graphicFrame>
        <p:nvGraphicFramePr>
          <p:cNvPr id="5" name="">
            <a:extLst xmlns:a="http://schemas.openxmlformats.org/drawingml/2006/main">
              <a:ext uri="{FF2B5EF4-FFF2-40B4-BE49-F238E27FC236}">
                <a16:creationId xmlns:a16="http://schemas.microsoft.com/office/drawing/2014/main" id="{3BA464E9-4CEC-40B8-8219-06E1D0685E24}"/>
              </a:ext>
            </a:extLst>
          </p:cNvPr>
          <p:cNvGraphicFramePr/>
          <p:nvPr/>
        </p:nvGraphicFramePr>
        <p:xfrm>
          <a:off xmlns:a="http://schemas.openxmlformats.org/drawingml/2006/main" x="1809750" y="3905250"/>
          <a:ext xmlns:a="http://schemas.openxmlformats.org/drawingml/2006/main" cx="14097000" cy="2381250"/>
        </p:xfrm>
        <a:graphic xmlns:a="http://schemas.openxmlformats.org/drawingml/2006/main">
          <a:graphicData uri="http://schemas.openxmlformats.org/drawingml/2006/table">
            <a:tbl>
              <a:tblPr/>
              <a:tblGrid>
                <a:gridCol w="7048500"/>
                <a:gridCol w="7048500"/>
              </a:tblGrid>
              <a:tr h="793750">
                <a:tc>
                  <a:txBody>
                    <a:bodyPr/>
                    <a:lstStyle/>
                    <a:p>
                      <a:r>
                        <a:rPr sz="2775" b="1">
                          <a:solidFill>
                            <a:srgbClr val="FFFFFF"/>
                          </a:solidFill>
                          <a:latin typeface="Inter Bold"/>
                          <a:ea typeface="Inter Bold"/>
                          <a:cs typeface="Inter Bold"/>
                        </a:rPr>
                        <a:t>What must be stored?</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775" b="1">
                          <a:solidFill>
                            <a:srgbClr val="FFFFFF"/>
                          </a:solidFill>
                          <a:latin typeface="Inter Bold"/>
                          <a:ea typeface="Inter Bold"/>
                          <a:cs typeface="Inter Bold"/>
                        </a:rPr>
                        <a:t>How much memory was reserved?</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793750">
                <a:tc>
                  <a:txBody>
                    <a:bodyPr/>
                    <a:lstStyle/>
                    <a:p>
                      <a:r>
                        <a:rPr sz="2775" b="0">
                          <a:solidFill>
                            <a:srgbClr val="002B57"/>
                          </a:solidFill>
                          <a:latin typeface="Inter"/>
                          <a:ea typeface="Inter"/>
                          <a:cs typeface="Inter"/>
                        </a:rPr>
                        <a:t>16 results × 3 bytes each</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775" b="0">
                          <a:solidFill>
                            <a:srgbClr val="002B57"/>
                          </a:solidFill>
                          <a:latin typeface="Inter"/>
                          <a:ea typeface="Inter"/>
                          <a:cs typeface="Inter"/>
                        </a:rPr>
                        <a:t>3 memory blocks × 256 bytes</a:t>
                      </a:r>
                    </a:p>
                  </a:txBody>
                  <a:tcPr marL="91440" marR="91440" marT="45720" marB="45720">
                    <a:lnR w="9525">
                      <a:solidFill>
                        <a:srgbClr val="D4DEE3"/>
                      </a:solidFill>
                      <a:prstDash val="solid"/>
                    </a:lnR>
                    <a:lnB w="9525">
                      <a:solidFill>
                        <a:srgbClr val="D4DEE3"/>
                      </a:solidFill>
                      <a:prstDash val="solid"/>
                    </a:lnB>
                    <a:solidFill>
                      <a:srgbClr val="FFFFFF"/>
                    </a:solidFill>
                  </a:tcPr>
                </a:tc>
              </a:tr>
              <a:tr h="793750">
                <a:tc>
                  <a:txBody>
                    <a:bodyPr/>
                    <a:lstStyle/>
                    <a:p>
                      <a:r>
                        <a:rPr sz="2775" b="0">
                          <a:solidFill>
                            <a:srgbClr val="002B57"/>
                          </a:solidFill>
                          <a:latin typeface="Inter"/>
                          <a:ea typeface="Inter"/>
                          <a:cs typeface="Inter"/>
                        </a:rPr>
                        <a:t>48 bytes needed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775" b="0">
                          <a:solidFill>
                            <a:srgbClr val="002B57"/>
                          </a:solidFill>
                          <a:latin typeface="Inter"/>
                          <a:ea typeface="Inter"/>
                          <a:cs typeface="Inter"/>
                        </a:rPr>
                        <a:t>768 bytes reserved</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E34E529-AF6B-4A35-914D-F6B826EA2F0F}"/>
              </a:ext>
            </a:extLst>
          </p:cNvPr>
          <p:cNvSpPr>
            <a:spLocks xmlns:a="http://schemas.openxmlformats.org/drawingml/2006/main" noGrp="1"/>
          </p:cNvSpPr>
          <p:nvPr/>
        </p:nvSpPr>
        <p:spPr>
          <a:xfrm xmlns:a="http://schemas.openxmlformats.org/drawingml/2006/main">
            <a:off x="1809750" y="6905625"/>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550" b="1">
                <a:solidFill>
                  <a:srgbClr val="F25903"/>
                </a:solidFill>
                <a:latin typeface="Inter Bold"/>
                <a:ea typeface="Inter Bold"/>
                <a:cs typeface="Inter Bold"/>
              </a:defRPr>
            </a:defPPr>
            <a:lvl1pPr>
              <a:defRPr sz="5550" b="1">
                <a:solidFill>
                  <a:srgbClr val="F25903"/>
                </a:solidFill>
                <a:latin typeface="Inter Bold"/>
                <a:ea typeface="Inter Bold"/>
                <a:cs typeface="Inter Bold"/>
              </a:defRPr>
            </a:lvl1pPr>
            <a:lvl2pPr>
              <a:defRPr sz="5550" b="1">
                <a:solidFill>
                  <a:srgbClr val="F25903"/>
                </a:solidFill>
                <a:latin typeface="Inter Bold"/>
                <a:ea typeface="Inter Bold"/>
                <a:cs typeface="Inter Bold"/>
              </a:defRPr>
            </a:lvl2pPr>
            <a:lvl3pPr>
              <a:defRPr sz="5550" b="1">
                <a:solidFill>
                  <a:srgbClr val="F25903"/>
                </a:solidFill>
                <a:latin typeface="Inter Bold"/>
                <a:ea typeface="Inter Bold"/>
                <a:cs typeface="Inter Bold"/>
              </a:defRPr>
            </a:lvl3pPr>
            <a:lvl4pPr>
              <a:defRPr sz="5550" b="1">
                <a:solidFill>
                  <a:srgbClr val="F25903"/>
                </a:solidFill>
                <a:latin typeface="Inter Bold"/>
                <a:ea typeface="Inter Bold"/>
                <a:cs typeface="Inter Bold"/>
              </a:defRPr>
            </a:lvl4pPr>
            <a:lvl5pPr>
              <a:defRPr sz="5550" b="1">
                <a:solidFill>
                  <a:srgbClr val="F25903"/>
                </a:solidFill>
                <a:latin typeface="Inter Bold"/>
                <a:ea typeface="Inter Bold"/>
                <a:cs typeface="Inter Bold"/>
              </a:defRPr>
            </a:lvl5pPr>
            <a:lvl6pPr>
              <a:defRPr sz="5550" b="1">
                <a:solidFill>
                  <a:srgbClr val="F25903"/>
                </a:solidFill>
                <a:latin typeface="Inter Bold"/>
                <a:ea typeface="Inter Bold"/>
                <a:cs typeface="Inter Bold"/>
              </a:defRPr>
            </a:lvl6pPr>
            <a:lvl7pPr>
              <a:defRPr sz="5550" b="1">
                <a:solidFill>
                  <a:srgbClr val="F25903"/>
                </a:solidFill>
                <a:latin typeface="Inter Bold"/>
                <a:ea typeface="Inter Bold"/>
                <a:cs typeface="Inter Bold"/>
              </a:defRPr>
            </a:lvl7pPr>
            <a:lvl8pPr>
              <a:defRPr sz="5550" b="1">
                <a:solidFill>
                  <a:srgbClr val="F25903"/>
                </a:solidFill>
                <a:latin typeface="Inter Bold"/>
                <a:ea typeface="Inter Bold"/>
                <a:cs typeface="Inter Bold"/>
              </a:defRPr>
            </a:lvl8pPr>
            <a:lvl9pPr>
              <a:defRPr sz="5550" b="1">
                <a:solidFill>
                  <a:srgbClr val="F25903"/>
                </a:solidFill>
                <a:latin typeface="Inter Bold"/>
                <a:ea typeface="Inter Bold"/>
                <a:cs typeface="Inter Bold"/>
              </a:defRPr>
            </a:lvl9pPr>
          </a:lstStyle>
          <a:p xmlns:a="http://schemas.openxmlformats.org/drawingml/2006/main">
            <a:pPr>
              <a:defRPr sz="5550" b="1">
                <a:solidFill>
                  <a:srgbClr val="F25903"/>
                </a:solidFill>
                <a:latin typeface="Inter Bold"/>
                <a:ea typeface="Inter Bold"/>
                <a:cs typeface="Inter Bold"/>
              </a:defRPr>
            </a:pPr>
            <a:r>
              <a:rPr sz="5550" b="1">
                <a:solidFill>
                  <a:srgbClr val="F25903"/>
                </a:solidFill>
                <a:latin typeface="Inter Bold"/>
                <a:ea typeface="Inter Bold"/>
                <a:cs typeface="Inter Bold"/>
              </a:rPr>
              <a:t>6.25% used</a:t>
            </a:r>
          </a:p>
        </p:txBody>
      </p:sp>
      <p:sp>
        <p:nvSpPr>
          <p:cNvPr id="7" name="">
            <a:extLst xmlns:a="http://schemas.openxmlformats.org/drawingml/2006/main">
              <a:ext uri="{FF2B5EF4-FFF2-40B4-BE49-F238E27FC236}">
                <a16:creationId xmlns:a16="http://schemas.microsoft.com/office/drawing/2014/main" id="{37DF7B2E-8CB2-43A5-88E0-A2E87BF630F8}"/>
              </a:ext>
            </a:extLst>
          </p:cNvPr>
          <p:cNvSpPr>
            <a:spLocks xmlns:a="http://schemas.openxmlformats.org/drawingml/2006/main" noGrp="1"/>
          </p:cNvSpPr>
          <p:nvPr/>
        </p:nvSpPr>
        <p:spPr>
          <a:xfrm xmlns:a="http://schemas.openxmlformats.org/drawingml/2006/main">
            <a:off x="9334500" y="6905625"/>
            <a:ext cx="666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5550" b="1">
                <a:solidFill>
                  <a:srgbClr val="0E749A"/>
                </a:solidFill>
                <a:latin typeface="Inter Bold"/>
                <a:ea typeface="Inter Bold"/>
                <a:cs typeface="Inter Bold"/>
              </a:defRPr>
            </a:defPPr>
            <a:lvl1pPr>
              <a:defRPr sz="5550" b="1">
                <a:solidFill>
                  <a:srgbClr val="0E749A"/>
                </a:solidFill>
                <a:latin typeface="Inter Bold"/>
                <a:ea typeface="Inter Bold"/>
                <a:cs typeface="Inter Bold"/>
              </a:defRPr>
            </a:lvl1pPr>
            <a:lvl2pPr>
              <a:defRPr sz="5550" b="1">
                <a:solidFill>
                  <a:srgbClr val="0E749A"/>
                </a:solidFill>
                <a:latin typeface="Inter Bold"/>
                <a:ea typeface="Inter Bold"/>
                <a:cs typeface="Inter Bold"/>
              </a:defRPr>
            </a:lvl2pPr>
            <a:lvl3pPr>
              <a:defRPr sz="5550" b="1">
                <a:solidFill>
                  <a:srgbClr val="0E749A"/>
                </a:solidFill>
                <a:latin typeface="Inter Bold"/>
                <a:ea typeface="Inter Bold"/>
                <a:cs typeface="Inter Bold"/>
              </a:defRPr>
            </a:lvl3pPr>
            <a:lvl4pPr>
              <a:defRPr sz="5550" b="1">
                <a:solidFill>
                  <a:srgbClr val="0E749A"/>
                </a:solidFill>
                <a:latin typeface="Inter Bold"/>
                <a:ea typeface="Inter Bold"/>
                <a:cs typeface="Inter Bold"/>
              </a:defRPr>
            </a:lvl4pPr>
            <a:lvl5pPr>
              <a:defRPr sz="5550" b="1">
                <a:solidFill>
                  <a:srgbClr val="0E749A"/>
                </a:solidFill>
                <a:latin typeface="Inter Bold"/>
                <a:ea typeface="Inter Bold"/>
                <a:cs typeface="Inter Bold"/>
              </a:defRPr>
            </a:lvl5pPr>
            <a:lvl6pPr>
              <a:defRPr sz="5550" b="1">
                <a:solidFill>
                  <a:srgbClr val="0E749A"/>
                </a:solidFill>
                <a:latin typeface="Inter Bold"/>
                <a:ea typeface="Inter Bold"/>
                <a:cs typeface="Inter Bold"/>
              </a:defRPr>
            </a:lvl6pPr>
            <a:lvl7pPr>
              <a:defRPr sz="5550" b="1">
                <a:solidFill>
                  <a:srgbClr val="0E749A"/>
                </a:solidFill>
                <a:latin typeface="Inter Bold"/>
                <a:ea typeface="Inter Bold"/>
                <a:cs typeface="Inter Bold"/>
              </a:defRPr>
            </a:lvl7pPr>
            <a:lvl8pPr>
              <a:defRPr sz="5550" b="1">
                <a:solidFill>
                  <a:srgbClr val="0E749A"/>
                </a:solidFill>
                <a:latin typeface="Inter Bold"/>
                <a:ea typeface="Inter Bold"/>
                <a:cs typeface="Inter Bold"/>
              </a:defRPr>
            </a:lvl8pPr>
            <a:lvl9pPr>
              <a:defRPr sz="5550" b="1">
                <a:solidFill>
                  <a:srgbClr val="0E749A"/>
                </a:solidFill>
                <a:latin typeface="Inter Bold"/>
                <a:ea typeface="Inter Bold"/>
                <a:cs typeface="Inter Bold"/>
              </a:defRPr>
            </a:lvl9pPr>
          </a:lstStyle>
          <a:p xmlns:a="http://schemas.openxmlformats.org/drawingml/2006/main">
            <a:pPr>
              <a:defRPr sz="5550" b="1">
                <a:solidFill>
                  <a:srgbClr val="0E749A"/>
                </a:solidFill>
                <a:latin typeface="Inter Bold"/>
                <a:ea typeface="Inter Bold"/>
                <a:cs typeface="Inter Bold"/>
              </a:defRPr>
            </a:pPr>
            <a:r>
              <a:rPr sz="5550" b="1">
                <a:solidFill>
                  <a:srgbClr val="0E749A"/>
                </a:solidFill>
                <a:latin typeface="Inter Bold"/>
                <a:ea typeface="Inter Bold"/>
                <a:cs typeface="Inter Bold"/>
              </a:rPr>
              <a:t>93.75% unused</a:t>
            </a:r>
          </a:p>
        </p:txBody>
      </p:sp>
      <p:sp>
        <p:nvSpPr>
          <p:cNvPr id="8" name="">
            <a:extLst xmlns:a="http://schemas.openxmlformats.org/drawingml/2006/main">
              <a:ext uri="{FF2B5EF4-FFF2-40B4-BE49-F238E27FC236}">
                <a16:creationId xmlns:a16="http://schemas.microsoft.com/office/drawing/2014/main" id="{13C9401B-85D1-445B-AC4C-3B7F25442B76}"/>
              </a:ext>
            </a:extLst>
          </p:cNvPr>
          <p:cNvSpPr>
            <a:spLocks xmlns:a="http://schemas.openxmlformats.org/drawingml/2006/main" noGrp="1"/>
          </p:cNvSpPr>
          <p:nvPr/>
        </p:nvSpPr>
        <p:spPr>
          <a:xfrm xmlns:a="http://schemas.openxmlformats.org/drawingml/2006/main">
            <a:off x="1809750" y="823912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0">
                <a:solidFill>
                  <a:srgbClr val="002B57"/>
                </a:solidFill>
                <a:latin typeface="Inter"/>
                <a:ea typeface="Inter"/>
                <a:cs typeface="Inter"/>
              </a:defRPr>
            </a:defPPr>
            <a:lvl1pPr>
              <a:defRPr sz="2775" b="0">
                <a:solidFill>
                  <a:srgbClr val="002B57"/>
                </a:solidFill>
                <a:latin typeface="Inter"/>
                <a:ea typeface="Inter"/>
                <a:cs typeface="Inter"/>
              </a:defRPr>
            </a:lvl1pPr>
            <a:lvl2pPr>
              <a:defRPr sz="2775" b="0">
                <a:solidFill>
                  <a:srgbClr val="002B57"/>
                </a:solidFill>
                <a:latin typeface="Inter"/>
                <a:ea typeface="Inter"/>
                <a:cs typeface="Inter"/>
              </a:defRPr>
            </a:lvl2pPr>
            <a:lvl3pPr>
              <a:defRPr sz="2775" b="0">
                <a:solidFill>
                  <a:srgbClr val="002B57"/>
                </a:solidFill>
                <a:latin typeface="Inter"/>
                <a:ea typeface="Inter"/>
                <a:cs typeface="Inter"/>
              </a:defRPr>
            </a:lvl3pPr>
            <a:lvl4pPr>
              <a:defRPr sz="2775" b="0">
                <a:solidFill>
                  <a:srgbClr val="002B57"/>
                </a:solidFill>
                <a:latin typeface="Inter"/>
                <a:ea typeface="Inter"/>
                <a:cs typeface="Inter"/>
              </a:defRPr>
            </a:lvl4pPr>
            <a:lvl5pPr>
              <a:defRPr sz="2775" b="0">
                <a:solidFill>
                  <a:srgbClr val="002B57"/>
                </a:solidFill>
                <a:latin typeface="Inter"/>
                <a:ea typeface="Inter"/>
                <a:cs typeface="Inter"/>
              </a:defRPr>
            </a:lvl5pPr>
            <a:lvl6pPr>
              <a:defRPr sz="2775" b="0">
                <a:solidFill>
                  <a:srgbClr val="002B57"/>
                </a:solidFill>
                <a:latin typeface="Inter"/>
                <a:ea typeface="Inter"/>
                <a:cs typeface="Inter"/>
              </a:defRPr>
            </a:lvl6pPr>
            <a:lvl7pPr>
              <a:defRPr sz="2775" b="0">
                <a:solidFill>
                  <a:srgbClr val="002B57"/>
                </a:solidFill>
                <a:latin typeface="Inter"/>
                <a:ea typeface="Inter"/>
                <a:cs typeface="Inter"/>
              </a:defRPr>
            </a:lvl7pPr>
            <a:lvl8pPr>
              <a:defRPr sz="2775" b="0">
                <a:solidFill>
                  <a:srgbClr val="002B57"/>
                </a:solidFill>
                <a:latin typeface="Inter"/>
                <a:ea typeface="Inter"/>
                <a:cs typeface="Inter"/>
              </a:defRPr>
            </a:lvl8pPr>
            <a:lvl9pPr>
              <a:defRPr sz="2775" b="0">
                <a:solidFill>
                  <a:srgbClr val="002B57"/>
                </a:solidFill>
                <a:latin typeface="Inter"/>
                <a:ea typeface="Inter"/>
                <a:cs typeface="Inter"/>
              </a:defRPr>
            </a:lvl9pPr>
          </a:lstStyle>
          <a:p xmlns:a="http://schemas.openxmlformats.org/drawingml/2006/main">
            <a:pPr>
              <a:defRPr sz="2775" b="0">
                <a:solidFill>
                  <a:srgbClr val="002B57"/>
                </a:solidFill>
                <a:latin typeface="Inter"/>
                <a:ea typeface="Inter"/>
                <a:cs typeface="Inter"/>
              </a:defRPr>
            </a:pPr>
            <a:r>
              <a:rPr sz="2775" b="0">
                <a:solidFill>
                  <a:srgbClr val="002B57"/>
                </a:solidFill>
                <a:latin typeface="Inter"/>
                <a:ea typeface="Inter"/>
                <a:cs typeface="Inter"/>
              </a:rPr>
              <a:t>Each tile is one small block of computation with 16 results.</a:t>
            </a:r>
          </a:p>
        </p:txBody>
      </p:sp>
      <p:sp>
        <p:nvSpPr>
          <p:cNvPr id="9" name="">
            <a:extLst xmlns:a="http://schemas.openxmlformats.org/drawingml/2006/main">
              <a:ext uri="{FF2B5EF4-FFF2-40B4-BE49-F238E27FC236}">
                <a16:creationId xmlns:a16="http://schemas.microsoft.com/office/drawing/2014/main" id="{A0B0BC52-462A-494E-A94A-EEF5884DF85B}"/>
              </a:ext>
            </a:extLst>
          </p:cNvPr>
          <p:cNvSpPr>
            <a:spLocks xmlns:a="http://schemas.openxmlformats.org/drawingml/2006/main" noGrp="1"/>
          </p:cNvSpPr>
          <p:nvPr/>
        </p:nvSpPr>
        <p:spPr>
          <a:xfrm xmlns:a="http://schemas.openxmlformats.org/drawingml/2006/main">
            <a:off x="1809750" y="900112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002B57"/>
                </a:solidFill>
                <a:latin typeface="Inter Bold"/>
                <a:ea typeface="Inter Bold"/>
                <a:cs typeface="Inter Bold"/>
              </a:defRPr>
            </a:defPPr>
            <a:lvl1pPr>
              <a:defRPr sz="2850" b="1">
                <a:solidFill>
                  <a:srgbClr val="002B57"/>
                </a:solidFill>
                <a:latin typeface="Inter Bold"/>
                <a:ea typeface="Inter Bold"/>
                <a:cs typeface="Inter Bold"/>
              </a:defRPr>
            </a:lvl1pPr>
            <a:lvl2pPr>
              <a:defRPr sz="2850" b="1">
                <a:solidFill>
                  <a:srgbClr val="002B57"/>
                </a:solidFill>
                <a:latin typeface="Inter Bold"/>
                <a:ea typeface="Inter Bold"/>
                <a:cs typeface="Inter Bold"/>
              </a:defRPr>
            </a:lvl2pPr>
            <a:lvl3pPr>
              <a:defRPr sz="2850" b="1">
                <a:solidFill>
                  <a:srgbClr val="002B57"/>
                </a:solidFill>
                <a:latin typeface="Inter Bold"/>
                <a:ea typeface="Inter Bold"/>
                <a:cs typeface="Inter Bold"/>
              </a:defRPr>
            </a:lvl3pPr>
            <a:lvl4pPr>
              <a:defRPr sz="2850" b="1">
                <a:solidFill>
                  <a:srgbClr val="002B57"/>
                </a:solidFill>
                <a:latin typeface="Inter Bold"/>
                <a:ea typeface="Inter Bold"/>
                <a:cs typeface="Inter Bold"/>
              </a:defRPr>
            </a:lvl4pPr>
            <a:lvl5pPr>
              <a:defRPr sz="2850" b="1">
                <a:solidFill>
                  <a:srgbClr val="002B57"/>
                </a:solidFill>
                <a:latin typeface="Inter Bold"/>
                <a:ea typeface="Inter Bold"/>
                <a:cs typeface="Inter Bold"/>
              </a:defRPr>
            </a:lvl5pPr>
            <a:lvl6pPr>
              <a:defRPr sz="2850" b="1">
                <a:solidFill>
                  <a:srgbClr val="002B57"/>
                </a:solidFill>
                <a:latin typeface="Inter Bold"/>
                <a:ea typeface="Inter Bold"/>
                <a:cs typeface="Inter Bold"/>
              </a:defRPr>
            </a:lvl6pPr>
            <a:lvl7pPr>
              <a:defRPr sz="2850" b="1">
                <a:solidFill>
                  <a:srgbClr val="002B57"/>
                </a:solidFill>
                <a:latin typeface="Inter Bold"/>
                <a:ea typeface="Inter Bold"/>
                <a:cs typeface="Inter Bold"/>
              </a:defRPr>
            </a:lvl7pPr>
            <a:lvl8pPr>
              <a:defRPr sz="2850" b="1">
                <a:solidFill>
                  <a:srgbClr val="002B57"/>
                </a:solidFill>
                <a:latin typeface="Inter Bold"/>
                <a:ea typeface="Inter Bold"/>
                <a:cs typeface="Inter Bold"/>
              </a:defRPr>
            </a:lvl8pPr>
            <a:lvl9pPr>
              <a:defRPr sz="2850" b="1">
                <a:solidFill>
                  <a:srgbClr val="002B57"/>
                </a:solidFill>
                <a:latin typeface="Inter Bold"/>
                <a:ea typeface="Inter Bold"/>
                <a:cs typeface="Inter Bold"/>
              </a:defRPr>
            </a:lvl9pPr>
          </a:lstStyle>
          <a:p xmlns:a="http://schemas.openxmlformats.org/drawingml/2006/main">
            <a:pPr>
              <a:defRPr sz="2850" b="1">
                <a:solidFill>
                  <a:srgbClr val="002B57"/>
                </a:solidFill>
                <a:latin typeface="Inter Bold"/>
                <a:ea typeface="Inter Bold"/>
                <a:cs typeface="Inter Bold"/>
              </a:defRPr>
            </a:pPr>
            <a:r>
              <a:rPr sz="2850" b="1">
                <a:solidFill>
                  <a:srgbClr val="002B57"/>
                </a:solidFill>
                <a:latin typeface="Inter Bold"/>
                <a:ea typeface="Inter Bold"/>
                <a:cs typeface="Inter Bold"/>
              </a:rPr>
              <a:t>A larger neural layer needs more tiles, not a larger result buffer.</a:t>
            </a:r>
          </a:p>
        </p:txBody>
      </p:sp>
      <p:sp>
        <p:nvSpPr>
          <p:cNvPr id="10" name="">
            <a:extLst xmlns:a="http://schemas.openxmlformats.org/drawingml/2006/main">
              <a:ext uri="{FF2B5EF4-FFF2-40B4-BE49-F238E27FC236}">
                <a16:creationId xmlns:a16="http://schemas.microsoft.com/office/drawing/2014/main" id="{7345BF6C-F5CA-4969-A02F-4CA5B445FEED}"/>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08</a:t>
            </a:r>
          </a:p>
        </p:txBody>
      </p:sp>
    </p:spTree>
    <p:extLst>
      <p:ext uri="{BB962C8B-B14F-4D97-AF65-F5344CB8AC3E}">
        <p14:creationId xmlns:p14="http://schemas.microsoft.com/office/powerpoint/2010/main" val="14071456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54F629F8-75E2-4284-A18E-B059CE5BC904}"/>
              </a:ext>
            </a:extLst>
          </p:cNvPr>
          <p:cNvPicPr>
            <a:picLocks xmlns:a="http://schemas.openxmlformats.org/drawingml/2006/main" noChangeAspect="1"/>
          </p:cNvPicPr>
          <p:nvPr/>
        </p:nvPicPr>
        <p:blipFill>
          <a:blip xmlns:r="http://schemas.openxmlformats.org/officeDocument/2006/relationships" xmlns:a="http://schemas.openxmlformats.org/drawingml/2006/main" r:embed="R470c57bc513248b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D2F4B0-DB32-4746-B212-875F5367A59F}"/>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58B90658-4560-479E-80CB-ECBD1B37D7B9}"/>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ACEB5944-27E8-45AD-A035-B9C6B6D45F99}"/>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Sixteen arithmetic units share input data</a:t>
            </a:r>
          </a:p>
        </p:txBody>
      </p:sp>
      <p:sp>
        <p:nvSpPr>
          <p:cNvPr id="5" name="">
            <a:extLst xmlns:a="http://schemas.openxmlformats.org/drawingml/2006/main">
              <a:ext uri="{FF2B5EF4-FFF2-40B4-BE49-F238E27FC236}">
                <a16:creationId xmlns:a16="http://schemas.microsoft.com/office/drawing/2014/main" id="{E9BB9189-8B7C-4A43-AAB0-D881463DAFEE}"/>
              </a:ext>
            </a:extLst>
          </p:cNvPr>
          <p:cNvSpPr>
            <a:spLocks xmlns:a="http://schemas.openxmlformats.org/drawingml/2006/main" noGrp="1"/>
          </p:cNvSpPr>
          <p:nvPr/>
        </p:nvSpPr>
        <p:spPr>
          <a:xfrm xmlns:a="http://schemas.openxmlformats.org/drawingml/2006/main">
            <a:off x="1809750" y="4095750"/>
            <a:ext cx="4762500" cy="161925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700">
                <a:solidFill>
                  <a:srgbClr val="002B57"/>
                </a:solidFill>
                <a:latin typeface="Inter"/>
                <a:ea typeface="Inter"/>
                <a:cs typeface="Inter"/>
              </a:defRPr>
            </a:defPPr>
            <a:lvl1pPr algn="ctr">
              <a:defRPr sz="2700">
                <a:solidFill>
                  <a:srgbClr val="002B57"/>
                </a:solidFill>
                <a:latin typeface="Inter"/>
                <a:ea typeface="Inter"/>
                <a:cs typeface="Inter"/>
              </a:defRPr>
            </a:lvl1pPr>
            <a:lvl2pPr algn="ctr">
              <a:defRPr sz="2700">
                <a:solidFill>
                  <a:srgbClr val="002B57"/>
                </a:solidFill>
                <a:latin typeface="Inter"/>
                <a:ea typeface="Inter"/>
                <a:cs typeface="Inter"/>
              </a:defRPr>
            </a:lvl2pPr>
            <a:lvl3pPr algn="ctr">
              <a:defRPr sz="2700">
                <a:solidFill>
                  <a:srgbClr val="002B57"/>
                </a:solidFill>
                <a:latin typeface="Inter"/>
                <a:ea typeface="Inter"/>
                <a:cs typeface="Inter"/>
              </a:defRPr>
            </a:lvl3pPr>
            <a:lvl4pPr algn="ctr">
              <a:defRPr sz="2700">
                <a:solidFill>
                  <a:srgbClr val="002B57"/>
                </a:solidFill>
                <a:latin typeface="Inter"/>
                <a:ea typeface="Inter"/>
                <a:cs typeface="Inter"/>
              </a:defRPr>
            </a:lvl4pPr>
            <a:lvl5pPr algn="ctr">
              <a:defRPr sz="2700">
                <a:solidFill>
                  <a:srgbClr val="002B57"/>
                </a:solidFill>
                <a:latin typeface="Inter"/>
                <a:ea typeface="Inter"/>
                <a:cs typeface="Inter"/>
              </a:defRPr>
            </a:lvl5pPr>
            <a:lvl6pPr algn="ctr">
              <a:defRPr sz="2700">
                <a:solidFill>
                  <a:srgbClr val="002B57"/>
                </a:solidFill>
                <a:latin typeface="Inter"/>
                <a:ea typeface="Inter"/>
                <a:cs typeface="Inter"/>
              </a:defRPr>
            </a:lvl6pPr>
            <a:lvl7pPr algn="ctr">
              <a:defRPr sz="2700">
                <a:solidFill>
                  <a:srgbClr val="002B57"/>
                </a:solidFill>
                <a:latin typeface="Inter"/>
                <a:ea typeface="Inter"/>
                <a:cs typeface="Inter"/>
              </a:defRPr>
            </a:lvl7pPr>
            <a:lvl8pPr algn="ctr">
              <a:defRPr sz="2700">
                <a:solidFill>
                  <a:srgbClr val="002B57"/>
                </a:solidFill>
                <a:latin typeface="Inter"/>
                <a:ea typeface="Inter"/>
                <a:cs typeface="Inter"/>
              </a:defRPr>
            </a:lvl8pPr>
            <a:lvl9pPr algn="ctr">
              <a:defRPr sz="2700">
                <a:solidFill>
                  <a:srgbClr val="002B57"/>
                </a:solidFill>
                <a:latin typeface="Inter"/>
                <a:ea typeface="Inter"/>
                <a:cs typeface="Inter"/>
              </a:defRPr>
            </a:lvl9pPr>
          </a:lstStyle>
          <a:p xmlns:a="http://schemas.openxmlformats.org/drawingml/2006/main">
            <a:pPr algn="ctr">
              <a:defRPr sz="2700">
                <a:solidFill>
                  <a:srgbClr val="002B57"/>
                </a:solidFill>
                <a:latin typeface="Inter"/>
                <a:ea typeface="Inter"/>
                <a:cs typeface="Inter"/>
              </a:defRPr>
            </a:pPr>
            <a:r>
              <a:rPr sz="2700">
                <a:solidFill>
                  <a:srgbClr val="002B57"/>
                </a:solidFill>
                <a:latin typeface="Inter"/>
                <a:ea typeface="Inter"/>
                <a:cs typeface="Inter"/>
              </a:rPr>
              <a:t>A: 4 row lanes</a:t>
            </a:r>
          </a:p>
          <a:p xmlns:a="http://schemas.openxmlformats.org/drawingml/2006/main">
            <a:pPr algn="ctr">
              <a:defRPr sz="2700">
                <a:solidFill>
                  <a:srgbClr val="002B57"/>
                </a:solidFill>
                <a:latin typeface="Inter"/>
                <a:ea typeface="Inter"/>
                <a:cs typeface="Inter"/>
              </a:defRPr>
            </a:pPr>
            <a:r>
              <a:rPr sz="2700">
                <a:solidFill>
                  <a:srgbClr val="002B57"/>
                </a:solidFill>
                <a:latin typeface="Inter"/>
                <a:ea typeface="Inter"/>
                <a:cs typeface="Inter"/>
              </a:rPr>
              <a:t>B: 4 column lanes</a:t>
            </a:r>
          </a:p>
          <a:p xmlns:a="http://schemas.openxmlformats.org/drawingml/2006/main">
            <a:pPr algn="ctr">
              <a:defRPr sz="2700">
                <a:solidFill>
                  <a:srgbClr val="002B57"/>
                </a:solidFill>
                <a:latin typeface="Inter"/>
                <a:ea typeface="Inter"/>
                <a:cs typeface="Inter"/>
              </a:defRPr>
            </a:pPr>
            <a:r>
              <a:rPr sz="2700">
                <a:solidFill>
                  <a:srgbClr val="002B57"/>
                </a:solidFill>
                <a:latin typeface="Inter"/>
                <a:ea typeface="Inter"/>
                <a:cs typeface="Inter"/>
              </a:rPr>
              <a:t>8 bytes each cycle</a:t>
            </a:r>
          </a:p>
        </p:txBody>
      </p:sp>
      <p:sp>
        <p:nvSpPr>
          <p:cNvPr id="6" name="">
            <a:extLst xmlns:a="http://schemas.openxmlformats.org/drawingml/2006/main">
              <a:ext uri="{FF2B5EF4-FFF2-40B4-BE49-F238E27FC236}">
                <a16:creationId xmlns:a16="http://schemas.microsoft.com/office/drawing/2014/main" id="{9D803B53-779D-49FD-9684-FD48FCB80D1E}"/>
              </a:ext>
            </a:extLst>
          </p:cNvPr>
          <p:cNvSpPr>
            <a:spLocks xmlns:a="http://schemas.openxmlformats.org/drawingml/2006/main" noGrp="1"/>
          </p:cNvSpPr>
          <p:nvPr/>
        </p:nvSpPr>
        <p:spPr>
          <a:xfrm xmlns:a="http://schemas.openxmlformats.org/drawingml/2006/main">
            <a:off x="6953250" y="447675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500" b="0">
                <a:solidFill>
                  <a:srgbClr val="0E749A"/>
                </a:solidFill>
                <a:latin typeface="Inter"/>
                <a:ea typeface="Inter"/>
                <a:cs typeface="Inter"/>
              </a:defRPr>
            </a:defPPr>
            <a:lvl1pPr>
              <a:defRPr sz="4500" b="0">
                <a:solidFill>
                  <a:srgbClr val="0E749A"/>
                </a:solidFill>
                <a:latin typeface="Inter"/>
                <a:ea typeface="Inter"/>
                <a:cs typeface="Inter"/>
              </a:defRPr>
            </a:lvl1pPr>
            <a:lvl2pPr>
              <a:defRPr sz="4500" b="0">
                <a:solidFill>
                  <a:srgbClr val="0E749A"/>
                </a:solidFill>
                <a:latin typeface="Inter"/>
                <a:ea typeface="Inter"/>
                <a:cs typeface="Inter"/>
              </a:defRPr>
            </a:lvl2pPr>
            <a:lvl3pPr>
              <a:defRPr sz="4500" b="0">
                <a:solidFill>
                  <a:srgbClr val="0E749A"/>
                </a:solidFill>
                <a:latin typeface="Inter"/>
                <a:ea typeface="Inter"/>
                <a:cs typeface="Inter"/>
              </a:defRPr>
            </a:lvl3pPr>
            <a:lvl4pPr>
              <a:defRPr sz="4500" b="0">
                <a:solidFill>
                  <a:srgbClr val="0E749A"/>
                </a:solidFill>
                <a:latin typeface="Inter"/>
                <a:ea typeface="Inter"/>
                <a:cs typeface="Inter"/>
              </a:defRPr>
            </a:lvl4pPr>
            <a:lvl5pPr>
              <a:defRPr sz="4500" b="0">
                <a:solidFill>
                  <a:srgbClr val="0E749A"/>
                </a:solidFill>
                <a:latin typeface="Inter"/>
                <a:ea typeface="Inter"/>
                <a:cs typeface="Inter"/>
              </a:defRPr>
            </a:lvl5pPr>
            <a:lvl6pPr>
              <a:defRPr sz="4500" b="0">
                <a:solidFill>
                  <a:srgbClr val="0E749A"/>
                </a:solidFill>
                <a:latin typeface="Inter"/>
                <a:ea typeface="Inter"/>
                <a:cs typeface="Inter"/>
              </a:defRPr>
            </a:lvl6pPr>
            <a:lvl7pPr>
              <a:defRPr sz="4500" b="0">
                <a:solidFill>
                  <a:srgbClr val="0E749A"/>
                </a:solidFill>
                <a:latin typeface="Inter"/>
                <a:ea typeface="Inter"/>
                <a:cs typeface="Inter"/>
              </a:defRPr>
            </a:lvl7pPr>
            <a:lvl8pPr>
              <a:defRPr sz="4500" b="0">
                <a:solidFill>
                  <a:srgbClr val="0E749A"/>
                </a:solidFill>
                <a:latin typeface="Inter"/>
                <a:ea typeface="Inter"/>
                <a:cs typeface="Inter"/>
              </a:defRPr>
            </a:lvl8pPr>
            <a:lvl9pPr>
              <a:defRPr sz="4500" b="0">
                <a:solidFill>
                  <a:srgbClr val="0E749A"/>
                </a:solidFill>
                <a:latin typeface="Inter"/>
                <a:ea typeface="Inter"/>
                <a:cs typeface="Inter"/>
              </a:defRPr>
            </a:lvl9pPr>
          </a:lstStyle>
          <a:p xmlns:a="http://schemas.openxmlformats.org/drawingml/2006/main">
            <a:pPr>
              <a:defRPr sz="4500" b="0">
                <a:solidFill>
                  <a:srgbClr val="0E749A"/>
                </a:solidFill>
                <a:latin typeface="Inter"/>
                <a:ea typeface="Inter"/>
                <a:cs typeface="Inter"/>
              </a:defRPr>
            </a:pPr>
            <a:r>
              <a:rPr sz="4500" b="0">
                <a:solidFill>
                  <a:srgbClr val="0E749A"/>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55C0845C-3E38-439F-AB81-68701777FE44}"/>
              </a:ext>
            </a:extLst>
          </p:cNvPr>
          <p:cNvSpPr>
            <a:spLocks xmlns:a="http://schemas.openxmlformats.org/drawingml/2006/main" noGrp="1"/>
          </p:cNvSpPr>
          <p:nvPr/>
        </p:nvSpPr>
        <p:spPr>
          <a:xfrm xmlns:a="http://schemas.openxmlformats.org/drawingml/2006/main">
            <a:off x="8382000" y="40005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8" name="">
            <a:extLst xmlns:a="http://schemas.openxmlformats.org/drawingml/2006/main">
              <a:ext uri="{FF2B5EF4-FFF2-40B4-BE49-F238E27FC236}">
                <a16:creationId xmlns:a16="http://schemas.microsoft.com/office/drawing/2014/main" id="{878B1851-1D33-4869-A14E-3ACD0F53CA57}"/>
              </a:ext>
            </a:extLst>
          </p:cNvPr>
          <p:cNvSpPr>
            <a:spLocks xmlns:a="http://schemas.openxmlformats.org/drawingml/2006/main" noGrp="1"/>
          </p:cNvSpPr>
          <p:nvPr/>
        </p:nvSpPr>
        <p:spPr>
          <a:xfrm xmlns:a="http://schemas.openxmlformats.org/drawingml/2006/main">
            <a:off x="9382125" y="40005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9" name="">
            <a:extLst xmlns:a="http://schemas.openxmlformats.org/drawingml/2006/main">
              <a:ext uri="{FF2B5EF4-FFF2-40B4-BE49-F238E27FC236}">
                <a16:creationId xmlns:a16="http://schemas.microsoft.com/office/drawing/2014/main" id="{D0CB4926-7A65-4B0F-B26F-488D1134C791}"/>
              </a:ext>
            </a:extLst>
          </p:cNvPr>
          <p:cNvSpPr>
            <a:spLocks xmlns:a="http://schemas.openxmlformats.org/drawingml/2006/main" noGrp="1"/>
          </p:cNvSpPr>
          <p:nvPr/>
        </p:nvSpPr>
        <p:spPr>
          <a:xfrm xmlns:a="http://schemas.openxmlformats.org/drawingml/2006/main">
            <a:off x="10382250" y="40005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0" name="">
            <a:extLst xmlns:a="http://schemas.openxmlformats.org/drawingml/2006/main">
              <a:ext uri="{FF2B5EF4-FFF2-40B4-BE49-F238E27FC236}">
                <a16:creationId xmlns:a16="http://schemas.microsoft.com/office/drawing/2014/main" id="{F604D0BA-1BB2-46D0-9309-6DB4869B1024}"/>
              </a:ext>
            </a:extLst>
          </p:cNvPr>
          <p:cNvSpPr>
            <a:spLocks xmlns:a="http://schemas.openxmlformats.org/drawingml/2006/main" noGrp="1"/>
          </p:cNvSpPr>
          <p:nvPr/>
        </p:nvSpPr>
        <p:spPr>
          <a:xfrm xmlns:a="http://schemas.openxmlformats.org/drawingml/2006/main">
            <a:off x="11382375" y="40005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1" name="">
            <a:extLst xmlns:a="http://schemas.openxmlformats.org/drawingml/2006/main">
              <a:ext uri="{FF2B5EF4-FFF2-40B4-BE49-F238E27FC236}">
                <a16:creationId xmlns:a16="http://schemas.microsoft.com/office/drawing/2014/main" id="{2FDB7BE7-AF20-4824-9DB0-29D2C38BA46E}"/>
              </a:ext>
            </a:extLst>
          </p:cNvPr>
          <p:cNvSpPr>
            <a:spLocks xmlns:a="http://schemas.openxmlformats.org/drawingml/2006/main" noGrp="1"/>
          </p:cNvSpPr>
          <p:nvPr/>
        </p:nvSpPr>
        <p:spPr>
          <a:xfrm xmlns:a="http://schemas.openxmlformats.org/drawingml/2006/main">
            <a:off x="8382000" y="48577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2" name="">
            <a:extLst xmlns:a="http://schemas.openxmlformats.org/drawingml/2006/main">
              <a:ext uri="{FF2B5EF4-FFF2-40B4-BE49-F238E27FC236}">
                <a16:creationId xmlns:a16="http://schemas.microsoft.com/office/drawing/2014/main" id="{1B09F196-6CFA-47B5-B0D9-45AECA1A0FBD}"/>
              </a:ext>
            </a:extLst>
          </p:cNvPr>
          <p:cNvSpPr>
            <a:spLocks xmlns:a="http://schemas.openxmlformats.org/drawingml/2006/main" noGrp="1"/>
          </p:cNvSpPr>
          <p:nvPr/>
        </p:nvSpPr>
        <p:spPr>
          <a:xfrm xmlns:a="http://schemas.openxmlformats.org/drawingml/2006/main">
            <a:off x="9382125" y="48577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3" name="">
            <a:extLst xmlns:a="http://schemas.openxmlformats.org/drawingml/2006/main">
              <a:ext uri="{FF2B5EF4-FFF2-40B4-BE49-F238E27FC236}">
                <a16:creationId xmlns:a16="http://schemas.microsoft.com/office/drawing/2014/main" id="{F68BDA54-3D57-40B2-841C-EF181668564A}"/>
              </a:ext>
            </a:extLst>
          </p:cNvPr>
          <p:cNvSpPr>
            <a:spLocks xmlns:a="http://schemas.openxmlformats.org/drawingml/2006/main" noGrp="1"/>
          </p:cNvSpPr>
          <p:nvPr/>
        </p:nvSpPr>
        <p:spPr>
          <a:xfrm xmlns:a="http://schemas.openxmlformats.org/drawingml/2006/main">
            <a:off x="10382250" y="48577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4" name="">
            <a:extLst xmlns:a="http://schemas.openxmlformats.org/drawingml/2006/main">
              <a:ext uri="{FF2B5EF4-FFF2-40B4-BE49-F238E27FC236}">
                <a16:creationId xmlns:a16="http://schemas.microsoft.com/office/drawing/2014/main" id="{9E34585D-7F2B-4F65-8367-4203ABF0CA8B}"/>
              </a:ext>
            </a:extLst>
          </p:cNvPr>
          <p:cNvSpPr>
            <a:spLocks xmlns:a="http://schemas.openxmlformats.org/drawingml/2006/main" noGrp="1"/>
          </p:cNvSpPr>
          <p:nvPr/>
        </p:nvSpPr>
        <p:spPr>
          <a:xfrm xmlns:a="http://schemas.openxmlformats.org/drawingml/2006/main">
            <a:off x="11382375" y="48577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5" name="">
            <a:extLst xmlns:a="http://schemas.openxmlformats.org/drawingml/2006/main">
              <a:ext uri="{FF2B5EF4-FFF2-40B4-BE49-F238E27FC236}">
                <a16:creationId xmlns:a16="http://schemas.microsoft.com/office/drawing/2014/main" id="{0C20FED7-AA47-436A-B84F-409B14DAD047}"/>
              </a:ext>
            </a:extLst>
          </p:cNvPr>
          <p:cNvSpPr>
            <a:spLocks xmlns:a="http://schemas.openxmlformats.org/drawingml/2006/main" noGrp="1"/>
          </p:cNvSpPr>
          <p:nvPr/>
        </p:nvSpPr>
        <p:spPr>
          <a:xfrm xmlns:a="http://schemas.openxmlformats.org/drawingml/2006/main">
            <a:off x="8382000" y="57150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6" name="">
            <a:extLst xmlns:a="http://schemas.openxmlformats.org/drawingml/2006/main">
              <a:ext uri="{FF2B5EF4-FFF2-40B4-BE49-F238E27FC236}">
                <a16:creationId xmlns:a16="http://schemas.microsoft.com/office/drawing/2014/main" id="{F47E84E7-951A-47D6-946D-CF13877B1E54}"/>
              </a:ext>
            </a:extLst>
          </p:cNvPr>
          <p:cNvSpPr>
            <a:spLocks xmlns:a="http://schemas.openxmlformats.org/drawingml/2006/main" noGrp="1"/>
          </p:cNvSpPr>
          <p:nvPr/>
        </p:nvSpPr>
        <p:spPr>
          <a:xfrm xmlns:a="http://schemas.openxmlformats.org/drawingml/2006/main">
            <a:off x="9382125" y="57150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7" name="">
            <a:extLst xmlns:a="http://schemas.openxmlformats.org/drawingml/2006/main">
              <a:ext uri="{FF2B5EF4-FFF2-40B4-BE49-F238E27FC236}">
                <a16:creationId xmlns:a16="http://schemas.microsoft.com/office/drawing/2014/main" id="{8D9FB400-71F4-4DF6-8406-151EDF507B2C}"/>
              </a:ext>
            </a:extLst>
          </p:cNvPr>
          <p:cNvSpPr>
            <a:spLocks xmlns:a="http://schemas.openxmlformats.org/drawingml/2006/main" noGrp="1"/>
          </p:cNvSpPr>
          <p:nvPr/>
        </p:nvSpPr>
        <p:spPr>
          <a:xfrm xmlns:a="http://schemas.openxmlformats.org/drawingml/2006/main">
            <a:off x="10382250" y="57150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8" name="">
            <a:extLst xmlns:a="http://schemas.openxmlformats.org/drawingml/2006/main">
              <a:ext uri="{FF2B5EF4-FFF2-40B4-BE49-F238E27FC236}">
                <a16:creationId xmlns:a16="http://schemas.microsoft.com/office/drawing/2014/main" id="{36DACB17-B7C6-473F-B79F-7D8EE52E9219}"/>
              </a:ext>
            </a:extLst>
          </p:cNvPr>
          <p:cNvSpPr>
            <a:spLocks xmlns:a="http://schemas.openxmlformats.org/drawingml/2006/main" noGrp="1"/>
          </p:cNvSpPr>
          <p:nvPr/>
        </p:nvSpPr>
        <p:spPr>
          <a:xfrm xmlns:a="http://schemas.openxmlformats.org/drawingml/2006/main">
            <a:off x="11382375" y="571500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19" name="">
            <a:extLst xmlns:a="http://schemas.openxmlformats.org/drawingml/2006/main">
              <a:ext uri="{FF2B5EF4-FFF2-40B4-BE49-F238E27FC236}">
                <a16:creationId xmlns:a16="http://schemas.microsoft.com/office/drawing/2014/main" id="{3D91F1A3-71B1-43F1-89C1-66658D031699}"/>
              </a:ext>
            </a:extLst>
          </p:cNvPr>
          <p:cNvSpPr>
            <a:spLocks xmlns:a="http://schemas.openxmlformats.org/drawingml/2006/main" noGrp="1"/>
          </p:cNvSpPr>
          <p:nvPr/>
        </p:nvSpPr>
        <p:spPr>
          <a:xfrm xmlns:a="http://schemas.openxmlformats.org/drawingml/2006/main">
            <a:off x="8382000" y="65722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20" name="">
            <a:extLst xmlns:a="http://schemas.openxmlformats.org/drawingml/2006/main">
              <a:ext uri="{FF2B5EF4-FFF2-40B4-BE49-F238E27FC236}">
                <a16:creationId xmlns:a16="http://schemas.microsoft.com/office/drawing/2014/main" id="{69299CE4-080E-45E1-AA2C-F165F950B7F4}"/>
              </a:ext>
            </a:extLst>
          </p:cNvPr>
          <p:cNvSpPr>
            <a:spLocks xmlns:a="http://schemas.openxmlformats.org/drawingml/2006/main" noGrp="1"/>
          </p:cNvSpPr>
          <p:nvPr/>
        </p:nvSpPr>
        <p:spPr>
          <a:xfrm xmlns:a="http://schemas.openxmlformats.org/drawingml/2006/main">
            <a:off x="9382125" y="65722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21" name="">
            <a:extLst xmlns:a="http://schemas.openxmlformats.org/drawingml/2006/main">
              <a:ext uri="{FF2B5EF4-FFF2-40B4-BE49-F238E27FC236}">
                <a16:creationId xmlns:a16="http://schemas.microsoft.com/office/drawing/2014/main" id="{3CAD0D5C-FF46-47B1-AE1B-20221F56006F}"/>
              </a:ext>
            </a:extLst>
          </p:cNvPr>
          <p:cNvSpPr>
            <a:spLocks xmlns:a="http://schemas.openxmlformats.org/drawingml/2006/main" noGrp="1"/>
          </p:cNvSpPr>
          <p:nvPr/>
        </p:nvSpPr>
        <p:spPr>
          <a:xfrm xmlns:a="http://schemas.openxmlformats.org/drawingml/2006/main">
            <a:off x="10382250" y="65722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22" name="">
            <a:extLst xmlns:a="http://schemas.openxmlformats.org/drawingml/2006/main">
              <a:ext uri="{FF2B5EF4-FFF2-40B4-BE49-F238E27FC236}">
                <a16:creationId xmlns:a16="http://schemas.microsoft.com/office/drawing/2014/main" id="{AD3BE2B7-DF13-4968-8197-E1E0A25766CE}"/>
              </a:ext>
            </a:extLst>
          </p:cNvPr>
          <p:cNvSpPr>
            <a:spLocks xmlns:a="http://schemas.openxmlformats.org/drawingml/2006/main" noGrp="1"/>
          </p:cNvSpPr>
          <p:nvPr/>
        </p:nvSpPr>
        <p:spPr>
          <a:xfrm xmlns:a="http://schemas.openxmlformats.org/drawingml/2006/main">
            <a:off x="11382375" y="6572250"/>
            <a:ext cx="857250" cy="714375"/>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100">
                <a:solidFill>
                  <a:srgbClr val="002B57"/>
                </a:solidFill>
                <a:latin typeface="Inter"/>
                <a:ea typeface="Inter"/>
                <a:cs typeface="Inter"/>
              </a:defRPr>
            </a:defPPr>
            <a:lvl1pPr algn="ctr">
              <a:defRPr sz="2100">
                <a:solidFill>
                  <a:srgbClr val="002B57"/>
                </a:solidFill>
                <a:latin typeface="Inter"/>
                <a:ea typeface="Inter"/>
                <a:cs typeface="Inter"/>
              </a:defRPr>
            </a:lvl1pPr>
            <a:lvl2pPr algn="ctr">
              <a:defRPr sz="2100">
                <a:solidFill>
                  <a:srgbClr val="002B57"/>
                </a:solidFill>
                <a:latin typeface="Inter"/>
                <a:ea typeface="Inter"/>
                <a:cs typeface="Inter"/>
              </a:defRPr>
            </a:lvl2pPr>
            <a:lvl3pPr algn="ctr">
              <a:defRPr sz="2100">
                <a:solidFill>
                  <a:srgbClr val="002B57"/>
                </a:solidFill>
                <a:latin typeface="Inter"/>
                <a:ea typeface="Inter"/>
                <a:cs typeface="Inter"/>
              </a:defRPr>
            </a:lvl3pPr>
            <a:lvl4pPr algn="ctr">
              <a:defRPr sz="2100">
                <a:solidFill>
                  <a:srgbClr val="002B57"/>
                </a:solidFill>
                <a:latin typeface="Inter"/>
                <a:ea typeface="Inter"/>
                <a:cs typeface="Inter"/>
              </a:defRPr>
            </a:lvl4pPr>
            <a:lvl5pPr algn="ctr">
              <a:defRPr sz="2100">
                <a:solidFill>
                  <a:srgbClr val="002B57"/>
                </a:solidFill>
                <a:latin typeface="Inter"/>
                <a:ea typeface="Inter"/>
                <a:cs typeface="Inter"/>
              </a:defRPr>
            </a:lvl5pPr>
            <a:lvl6pPr algn="ctr">
              <a:defRPr sz="2100">
                <a:solidFill>
                  <a:srgbClr val="002B57"/>
                </a:solidFill>
                <a:latin typeface="Inter"/>
                <a:ea typeface="Inter"/>
                <a:cs typeface="Inter"/>
              </a:defRPr>
            </a:lvl6pPr>
            <a:lvl7pPr algn="ctr">
              <a:defRPr sz="2100">
                <a:solidFill>
                  <a:srgbClr val="002B57"/>
                </a:solidFill>
                <a:latin typeface="Inter"/>
                <a:ea typeface="Inter"/>
                <a:cs typeface="Inter"/>
              </a:defRPr>
            </a:lvl7pPr>
            <a:lvl8pPr algn="ctr">
              <a:defRPr sz="2100">
                <a:solidFill>
                  <a:srgbClr val="002B57"/>
                </a:solidFill>
                <a:latin typeface="Inter"/>
                <a:ea typeface="Inter"/>
                <a:cs typeface="Inter"/>
              </a:defRPr>
            </a:lvl8pPr>
            <a:lvl9pPr algn="ctr">
              <a:defRPr sz="2100">
                <a:solidFill>
                  <a:srgbClr val="002B57"/>
                </a:solidFill>
                <a:latin typeface="Inter"/>
                <a:ea typeface="Inter"/>
                <a:cs typeface="Inter"/>
              </a:defRPr>
            </a:lvl9pPr>
          </a:lstStyle>
          <a:p xmlns:a="http://schemas.openxmlformats.org/drawingml/2006/main">
            <a:pPr algn="ctr">
              <a:defRPr sz="2100">
                <a:solidFill>
                  <a:srgbClr val="002B57"/>
                </a:solidFill>
                <a:latin typeface="Inter"/>
                <a:ea typeface="Inter"/>
                <a:cs typeface="Inter"/>
              </a:defRPr>
            </a:pPr>
            <a:r>
              <a:rPr sz="2100">
                <a:solidFill>
                  <a:srgbClr val="002B57"/>
                </a:solidFill>
                <a:latin typeface="Inter"/>
                <a:ea typeface="Inter"/>
                <a:cs typeface="Inter"/>
              </a:rPr>
              <a:t>PE</a:t>
            </a:r>
          </a:p>
        </p:txBody>
      </p:sp>
      <p:sp>
        <p:nvSpPr>
          <p:cNvPr id="23" name="">
            <a:extLst xmlns:a="http://schemas.openxmlformats.org/drawingml/2006/main">
              <a:ext uri="{FF2B5EF4-FFF2-40B4-BE49-F238E27FC236}">
                <a16:creationId xmlns:a16="http://schemas.microsoft.com/office/drawing/2014/main" id="{11379385-EEC5-41D6-B568-9A48DA459BD4}"/>
              </a:ext>
            </a:extLst>
          </p:cNvPr>
          <p:cNvSpPr>
            <a:spLocks xmlns:a="http://schemas.openxmlformats.org/drawingml/2006/main" noGrp="1"/>
          </p:cNvSpPr>
          <p:nvPr/>
        </p:nvSpPr>
        <p:spPr>
          <a:xfrm xmlns:a="http://schemas.openxmlformats.org/drawingml/2006/main">
            <a:off x="12573000" y="5048250"/>
            <a:ext cx="76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500" b="0">
                <a:solidFill>
                  <a:srgbClr val="0E749A"/>
                </a:solidFill>
                <a:latin typeface="Inter"/>
                <a:ea typeface="Inter"/>
                <a:cs typeface="Inter"/>
              </a:defRPr>
            </a:defPPr>
            <a:lvl1pPr>
              <a:defRPr sz="4500" b="0">
                <a:solidFill>
                  <a:srgbClr val="0E749A"/>
                </a:solidFill>
                <a:latin typeface="Inter"/>
                <a:ea typeface="Inter"/>
                <a:cs typeface="Inter"/>
              </a:defRPr>
            </a:lvl1pPr>
            <a:lvl2pPr>
              <a:defRPr sz="4500" b="0">
                <a:solidFill>
                  <a:srgbClr val="0E749A"/>
                </a:solidFill>
                <a:latin typeface="Inter"/>
                <a:ea typeface="Inter"/>
                <a:cs typeface="Inter"/>
              </a:defRPr>
            </a:lvl2pPr>
            <a:lvl3pPr>
              <a:defRPr sz="4500" b="0">
                <a:solidFill>
                  <a:srgbClr val="0E749A"/>
                </a:solidFill>
                <a:latin typeface="Inter"/>
                <a:ea typeface="Inter"/>
                <a:cs typeface="Inter"/>
              </a:defRPr>
            </a:lvl3pPr>
            <a:lvl4pPr>
              <a:defRPr sz="4500" b="0">
                <a:solidFill>
                  <a:srgbClr val="0E749A"/>
                </a:solidFill>
                <a:latin typeface="Inter"/>
                <a:ea typeface="Inter"/>
                <a:cs typeface="Inter"/>
              </a:defRPr>
            </a:lvl4pPr>
            <a:lvl5pPr>
              <a:defRPr sz="4500" b="0">
                <a:solidFill>
                  <a:srgbClr val="0E749A"/>
                </a:solidFill>
                <a:latin typeface="Inter"/>
                <a:ea typeface="Inter"/>
                <a:cs typeface="Inter"/>
              </a:defRPr>
            </a:lvl5pPr>
            <a:lvl6pPr>
              <a:defRPr sz="4500" b="0">
                <a:solidFill>
                  <a:srgbClr val="0E749A"/>
                </a:solidFill>
                <a:latin typeface="Inter"/>
                <a:ea typeface="Inter"/>
                <a:cs typeface="Inter"/>
              </a:defRPr>
            </a:lvl6pPr>
            <a:lvl7pPr>
              <a:defRPr sz="4500" b="0">
                <a:solidFill>
                  <a:srgbClr val="0E749A"/>
                </a:solidFill>
                <a:latin typeface="Inter"/>
                <a:ea typeface="Inter"/>
                <a:cs typeface="Inter"/>
              </a:defRPr>
            </a:lvl7pPr>
            <a:lvl8pPr>
              <a:defRPr sz="4500" b="0">
                <a:solidFill>
                  <a:srgbClr val="0E749A"/>
                </a:solidFill>
                <a:latin typeface="Inter"/>
                <a:ea typeface="Inter"/>
                <a:cs typeface="Inter"/>
              </a:defRPr>
            </a:lvl8pPr>
            <a:lvl9pPr>
              <a:defRPr sz="4500" b="0">
                <a:solidFill>
                  <a:srgbClr val="0E749A"/>
                </a:solidFill>
                <a:latin typeface="Inter"/>
                <a:ea typeface="Inter"/>
                <a:cs typeface="Inter"/>
              </a:defRPr>
            </a:lvl9pPr>
          </a:lstStyle>
          <a:p xmlns:a="http://schemas.openxmlformats.org/drawingml/2006/main">
            <a:pPr>
              <a:defRPr sz="4500" b="0">
                <a:solidFill>
                  <a:srgbClr val="0E749A"/>
                </a:solidFill>
                <a:latin typeface="Inter"/>
                <a:ea typeface="Inter"/>
                <a:cs typeface="Inter"/>
              </a:defRPr>
            </a:pPr>
            <a:r>
              <a:rPr sz="4500" b="0">
                <a:solidFill>
                  <a:srgbClr val="0E749A"/>
                </a:solidFill>
                <a:latin typeface="Inter"/>
                <a:ea typeface="Inter"/>
                <a:cs typeface="Inter"/>
              </a:rPr>
              <a:t>→</a:t>
            </a:r>
          </a:p>
        </p:txBody>
      </p:sp>
      <p:sp>
        <p:nvSpPr>
          <p:cNvPr id="24" name="">
            <a:extLst xmlns:a="http://schemas.openxmlformats.org/drawingml/2006/main">
              <a:ext uri="{FF2B5EF4-FFF2-40B4-BE49-F238E27FC236}">
                <a16:creationId xmlns:a16="http://schemas.microsoft.com/office/drawing/2014/main" id="{EE64A84F-4004-42D4-A15F-C080B600F381}"/>
              </a:ext>
            </a:extLst>
          </p:cNvPr>
          <p:cNvSpPr>
            <a:spLocks xmlns:a="http://schemas.openxmlformats.org/drawingml/2006/main" noGrp="1"/>
          </p:cNvSpPr>
          <p:nvPr/>
        </p:nvSpPr>
        <p:spPr>
          <a:xfrm xmlns:a="http://schemas.openxmlformats.org/drawingml/2006/main">
            <a:off x="13430250" y="4762500"/>
            <a:ext cx="2857500" cy="180975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475">
                <a:solidFill>
                  <a:srgbClr val="002B57"/>
                </a:solidFill>
                <a:latin typeface="Inter"/>
                <a:ea typeface="Inter"/>
                <a:cs typeface="Inter"/>
              </a:defRPr>
            </a:defPPr>
            <a:lvl1pPr algn="ctr">
              <a:defRPr sz="2475">
                <a:solidFill>
                  <a:srgbClr val="002B57"/>
                </a:solidFill>
                <a:latin typeface="Inter"/>
                <a:ea typeface="Inter"/>
                <a:cs typeface="Inter"/>
              </a:defRPr>
            </a:lvl1pPr>
            <a:lvl2pPr algn="ctr">
              <a:defRPr sz="2475">
                <a:solidFill>
                  <a:srgbClr val="002B57"/>
                </a:solidFill>
                <a:latin typeface="Inter"/>
                <a:ea typeface="Inter"/>
                <a:cs typeface="Inter"/>
              </a:defRPr>
            </a:lvl2pPr>
            <a:lvl3pPr algn="ctr">
              <a:defRPr sz="2475">
                <a:solidFill>
                  <a:srgbClr val="002B57"/>
                </a:solidFill>
                <a:latin typeface="Inter"/>
                <a:ea typeface="Inter"/>
                <a:cs typeface="Inter"/>
              </a:defRPr>
            </a:lvl3pPr>
            <a:lvl4pPr algn="ctr">
              <a:defRPr sz="2475">
                <a:solidFill>
                  <a:srgbClr val="002B57"/>
                </a:solidFill>
                <a:latin typeface="Inter"/>
                <a:ea typeface="Inter"/>
                <a:cs typeface="Inter"/>
              </a:defRPr>
            </a:lvl4pPr>
            <a:lvl5pPr algn="ctr">
              <a:defRPr sz="2475">
                <a:solidFill>
                  <a:srgbClr val="002B57"/>
                </a:solidFill>
                <a:latin typeface="Inter"/>
                <a:ea typeface="Inter"/>
                <a:cs typeface="Inter"/>
              </a:defRPr>
            </a:lvl5pPr>
            <a:lvl6pPr algn="ctr">
              <a:defRPr sz="2475">
                <a:solidFill>
                  <a:srgbClr val="002B57"/>
                </a:solidFill>
                <a:latin typeface="Inter"/>
                <a:ea typeface="Inter"/>
                <a:cs typeface="Inter"/>
              </a:defRPr>
            </a:lvl6pPr>
            <a:lvl7pPr algn="ctr">
              <a:defRPr sz="2475">
                <a:solidFill>
                  <a:srgbClr val="002B57"/>
                </a:solidFill>
                <a:latin typeface="Inter"/>
                <a:ea typeface="Inter"/>
                <a:cs typeface="Inter"/>
              </a:defRPr>
            </a:lvl7pPr>
            <a:lvl8pPr algn="ctr">
              <a:defRPr sz="2475">
                <a:solidFill>
                  <a:srgbClr val="002B57"/>
                </a:solidFill>
                <a:latin typeface="Inter"/>
                <a:ea typeface="Inter"/>
                <a:cs typeface="Inter"/>
              </a:defRPr>
            </a:lvl8pPr>
            <a:lvl9pPr algn="ctr">
              <a:defRPr sz="2475">
                <a:solidFill>
                  <a:srgbClr val="002B57"/>
                </a:solidFill>
                <a:latin typeface="Inter"/>
                <a:ea typeface="Inter"/>
                <a:cs typeface="Inter"/>
              </a:defRPr>
            </a:lvl9pPr>
          </a:lstStyle>
          <a:p xmlns:a="http://schemas.openxmlformats.org/drawingml/2006/main">
            <a:pPr algn="ctr">
              <a:defRPr sz="2475">
                <a:solidFill>
                  <a:srgbClr val="002B57"/>
                </a:solidFill>
                <a:latin typeface="Inter"/>
                <a:ea typeface="Inter"/>
                <a:cs typeface="Inter"/>
              </a:defRPr>
            </a:pPr>
            <a:r>
              <a:rPr sz="2475">
                <a:solidFill>
                  <a:srgbClr val="002B57"/>
                </a:solidFill>
                <a:latin typeface="Inter"/>
                <a:ea typeface="Inter"/>
                <a:cs typeface="Inter"/>
              </a:rPr>
              <a:t>C result memory</a:t>
            </a:r>
          </a:p>
          <a:p xmlns:a="http://schemas.openxmlformats.org/drawingml/2006/main">
            <a:pPr algn="ctr">
              <a:defRPr sz="2475">
                <a:solidFill>
                  <a:srgbClr val="002B57"/>
                </a:solidFill>
                <a:latin typeface="Inter"/>
                <a:ea typeface="Inter"/>
                <a:cs typeface="Inter"/>
              </a:defRPr>
            </a:pPr>
            <a:r>
              <a:rPr sz="2475">
                <a:solidFill>
                  <a:srgbClr val="002B57"/>
                </a:solidFill>
                <a:latin typeface="Inter"/>
                <a:ea typeface="Inter"/>
                <a:cs typeface="Inter"/>
              </a:rPr>
              <a:t>Holds 16 results</a:t>
            </a:r>
          </a:p>
        </p:txBody>
      </p:sp>
      <p:sp>
        <p:nvSpPr>
          <p:cNvPr id="25" name="">
            <a:extLst xmlns:a="http://schemas.openxmlformats.org/drawingml/2006/main">
              <a:ext uri="{FF2B5EF4-FFF2-40B4-BE49-F238E27FC236}">
                <a16:creationId xmlns:a16="http://schemas.microsoft.com/office/drawing/2014/main" id="{EE209967-5CAA-4E13-A587-9C8226337755}"/>
              </a:ext>
            </a:extLst>
          </p:cNvPr>
          <p:cNvSpPr>
            <a:spLocks xmlns:a="http://schemas.openxmlformats.org/drawingml/2006/main" noGrp="1"/>
          </p:cNvSpPr>
          <p:nvPr/>
        </p:nvSpPr>
        <p:spPr>
          <a:xfrm xmlns:a="http://schemas.openxmlformats.org/drawingml/2006/main">
            <a:off x="1809750" y="6429375"/>
            <a:ext cx="5429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PE = processing element</a:t>
            </a:r>
          </a:p>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One multiply-and-add unit</a:t>
            </a:r>
          </a:p>
        </p:txBody>
      </p:sp>
      <p:sp>
        <p:nvSpPr>
          <p:cNvPr id="26" name="">
            <a:extLst xmlns:a="http://schemas.openxmlformats.org/drawingml/2006/main">
              <a:ext uri="{FF2B5EF4-FFF2-40B4-BE49-F238E27FC236}">
                <a16:creationId xmlns:a16="http://schemas.microsoft.com/office/drawing/2014/main" id="{128DF8FA-7888-4467-AA21-0FEF32E6E13E}"/>
              </a:ext>
            </a:extLst>
          </p:cNvPr>
          <p:cNvSpPr>
            <a:spLocks xmlns:a="http://schemas.openxmlformats.org/drawingml/2006/main" noGrp="1"/>
          </p:cNvSpPr>
          <p:nvPr/>
        </p:nvSpPr>
        <p:spPr>
          <a:xfrm xmlns:a="http://schemas.openxmlformats.org/drawingml/2006/main">
            <a:off x="8382000" y="7858125"/>
            <a:ext cx="790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Each PE keeps a 24-bit running sum.</a:t>
            </a:r>
          </a:p>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A tile accumulates over 256 cycles.</a:t>
            </a:r>
          </a:p>
        </p:txBody>
      </p:sp>
      <p:sp>
        <p:nvSpPr>
          <p:cNvPr id="27" name="">
            <a:extLst xmlns:a="http://schemas.openxmlformats.org/drawingml/2006/main">
              <a:ext uri="{FF2B5EF4-FFF2-40B4-BE49-F238E27FC236}">
                <a16:creationId xmlns:a16="http://schemas.microsoft.com/office/drawing/2014/main" id="{54E8ABCA-271E-4D50-8CD7-48FDC0827E0A}"/>
              </a:ext>
            </a:extLst>
          </p:cNvPr>
          <p:cNvSpPr>
            <a:spLocks xmlns:a="http://schemas.openxmlformats.org/drawingml/2006/main" noGrp="1"/>
          </p:cNvSpPr>
          <p:nvPr/>
        </p:nvSpPr>
        <p:spPr>
          <a:xfrm xmlns:a="http://schemas.openxmlformats.org/drawingml/2006/main">
            <a:off x="1809750" y="9096375"/>
            <a:ext cx="1438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E749A"/>
                </a:solidFill>
                <a:latin typeface="Inter Bold"/>
                <a:ea typeface="Inter Bold"/>
                <a:cs typeface="Inter Bold"/>
              </a:defRPr>
            </a:defPPr>
            <a:lvl1pPr>
              <a:defRPr sz="3150" b="1">
                <a:solidFill>
                  <a:srgbClr val="0E749A"/>
                </a:solidFill>
                <a:latin typeface="Inter Bold"/>
                <a:ea typeface="Inter Bold"/>
                <a:cs typeface="Inter Bold"/>
              </a:defRPr>
            </a:lvl1pPr>
            <a:lvl2pPr>
              <a:defRPr sz="3150" b="1">
                <a:solidFill>
                  <a:srgbClr val="0E749A"/>
                </a:solidFill>
                <a:latin typeface="Inter Bold"/>
                <a:ea typeface="Inter Bold"/>
                <a:cs typeface="Inter Bold"/>
              </a:defRPr>
            </a:lvl2pPr>
            <a:lvl3pPr>
              <a:defRPr sz="3150" b="1">
                <a:solidFill>
                  <a:srgbClr val="0E749A"/>
                </a:solidFill>
                <a:latin typeface="Inter Bold"/>
                <a:ea typeface="Inter Bold"/>
                <a:cs typeface="Inter Bold"/>
              </a:defRPr>
            </a:lvl3pPr>
            <a:lvl4pPr>
              <a:defRPr sz="3150" b="1">
                <a:solidFill>
                  <a:srgbClr val="0E749A"/>
                </a:solidFill>
                <a:latin typeface="Inter Bold"/>
                <a:ea typeface="Inter Bold"/>
                <a:cs typeface="Inter Bold"/>
              </a:defRPr>
            </a:lvl4pPr>
            <a:lvl5pPr>
              <a:defRPr sz="3150" b="1">
                <a:solidFill>
                  <a:srgbClr val="0E749A"/>
                </a:solidFill>
                <a:latin typeface="Inter Bold"/>
                <a:ea typeface="Inter Bold"/>
                <a:cs typeface="Inter Bold"/>
              </a:defRPr>
            </a:lvl5pPr>
            <a:lvl6pPr>
              <a:defRPr sz="3150" b="1">
                <a:solidFill>
                  <a:srgbClr val="0E749A"/>
                </a:solidFill>
                <a:latin typeface="Inter Bold"/>
                <a:ea typeface="Inter Bold"/>
                <a:cs typeface="Inter Bold"/>
              </a:defRPr>
            </a:lvl6pPr>
            <a:lvl7pPr>
              <a:defRPr sz="3150" b="1">
                <a:solidFill>
                  <a:srgbClr val="0E749A"/>
                </a:solidFill>
                <a:latin typeface="Inter Bold"/>
                <a:ea typeface="Inter Bold"/>
                <a:cs typeface="Inter Bold"/>
              </a:defRPr>
            </a:lvl7pPr>
            <a:lvl8pPr>
              <a:defRPr sz="3150" b="1">
                <a:solidFill>
                  <a:srgbClr val="0E749A"/>
                </a:solidFill>
                <a:latin typeface="Inter Bold"/>
                <a:ea typeface="Inter Bold"/>
                <a:cs typeface="Inter Bold"/>
              </a:defRPr>
            </a:lvl8pPr>
            <a:lvl9pPr>
              <a:defRPr sz="3150" b="1">
                <a:solidFill>
                  <a:srgbClr val="0E749A"/>
                </a:solidFill>
                <a:latin typeface="Inter Bold"/>
                <a:ea typeface="Inter Bold"/>
                <a:cs typeface="Inter Bold"/>
              </a:defRPr>
            </a:lvl9pPr>
          </a:lstStyle>
          <a:p xmlns:a="http://schemas.openxmlformats.org/drawingml/2006/main">
            <a:pPr>
              <a:defRPr sz="3150" b="1">
                <a:solidFill>
                  <a:srgbClr val="0E749A"/>
                </a:solidFill>
                <a:latin typeface="Inter Bold"/>
                <a:ea typeface="Inter Bold"/>
                <a:cs typeface="Inter Bold"/>
              </a:defRPr>
            </a:pPr>
            <a:r>
              <a:rPr sz="3150" b="1">
                <a:solidFill>
                  <a:srgbClr val="0E749A"/>
                </a:solidFill>
                <a:latin typeface="Inter Bold"/>
                <a:ea typeface="Inter Bold"/>
                <a:cs typeface="Inter Bold"/>
              </a:rPr>
              <a:t>The arithmetic stays the same. Only result storage changes.</a:t>
            </a:r>
          </a:p>
        </p:txBody>
      </p:sp>
      <p:sp>
        <p:nvSpPr>
          <p:cNvPr id="28" name="">
            <a:extLst xmlns:a="http://schemas.openxmlformats.org/drawingml/2006/main">
              <a:ext uri="{FF2B5EF4-FFF2-40B4-BE49-F238E27FC236}">
                <a16:creationId xmlns:a16="http://schemas.microsoft.com/office/drawing/2014/main" id="{05AD61F1-C77F-4A05-8A36-A1F87D4F3387}"/>
              </a:ext>
            </a:extLst>
          </p:cNvPr>
          <p:cNvSpPr>
            <a:spLocks xmlns:a="http://schemas.openxmlformats.org/drawingml/2006/main" noGrp="1"/>
          </p:cNvSpPr>
          <p:nvPr/>
        </p:nvSpPr>
        <p:spPr>
          <a:xfrm xmlns:a="http://schemas.openxmlformats.org/drawingml/2006/main">
            <a:off x="1809750" y="76676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66675"/>
                </a:solidFill>
                <a:latin typeface="Inter"/>
                <a:ea typeface="Inter"/>
                <a:cs typeface="Inter"/>
              </a:defRPr>
            </a:defPPr>
            <a:lvl1pPr>
              <a:defRPr sz="2025" b="0">
                <a:solidFill>
                  <a:srgbClr val="566675"/>
                </a:solidFill>
                <a:latin typeface="Inter"/>
                <a:ea typeface="Inter"/>
                <a:cs typeface="Inter"/>
              </a:defRPr>
            </a:lvl1pPr>
            <a:lvl2pPr>
              <a:defRPr sz="2025" b="0">
                <a:solidFill>
                  <a:srgbClr val="566675"/>
                </a:solidFill>
                <a:latin typeface="Inter"/>
                <a:ea typeface="Inter"/>
                <a:cs typeface="Inter"/>
              </a:defRPr>
            </a:lvl2pPr>
            <a:lvl3pPr>
              <a:defRPr sz="2025" b="0">
                <a:solidFill>
                  <a:srgbClr val="566675"/>
                </a:solidFill>
                <a:latin typeface="Inter"/>
                <a:ea typeface="Inter"/>
                <a:cs typeface="Inter"/>
              </a:defRPr>
            </a:lvl3pPr>
            <a:lvl4pPr>
              <a:defRPr sz="2025" b="0">
                <a:solidFill>
                  <a:srgbClr val="566675"/>
                </a:solidFill>
                <a:latin typeface="Inter"/>
                <a:ea typeface="Inter"/>
                <a:cs typeface="Inter"/>
              </a:defRPr>
            </a:lvl4pPr>
            <a:lvl5pPr>
              <a:defRPr sz="2025" b="0">
                <a:solidFill>
                  <a:srgbClr val="566675"/>
                </a:solidFill>
                <a:latin typeface="Inter"/>
                <a:ea typeface="Inter"/>
                <a:cs typeface="Inter"/>
              </a:defRPr>
            </a:lvl5pPr>
            <a:lvl6pPr>
              <a:defRPr sz="2025" b="0">
                <a:solidFill>
                  <a:srgbClr val="566675"/>
                </a:solidFill>
                <a:latin typeface="Inter"/>
                <a:ea typeface="Inter"/>
                <a:cs typeface="Inter"/>
              </a:defRPr>
            </a:lvl6pPr>
            <a:lvl7pPr>
              <a:defRPr sz="2025" b="0">
                <a:solidFill>
                  <a:srgbClr val="566675"/>
                </a:solidFill>
                <a:latin typeface="Inter"/>
                <a:ea typeface="Inter"/>
                <a:cs typeface="Inter"/>
              </a:defRPr>
            </a:lvl7pPr>
            <a:lvl8pPr>
              <a:defRPr sz="2025" b="0">
                <a:solidFill>
                  <a:srgbClr val="566675"/>
                </a:solidFill>
                <a:latin typeface="Inter"/>
                <a:ea typeface="Inter"/>
                <a:cs typeface="Inter"/>
              </a:defRPr>
            </a:lvl8pPr>
            <a:lvl9pPr>
              <a:defRPr sz="2025" b="0">
                <a:solidFill>
                  <a:srgbClr val="566675"/>
                </a:solidFill>
                <a:latin typeface="Inter"/>
                <a:ea typeface="Inter"/>
                <a:cs typeface="Inter"/>
              </a:defRPr>
            </a:lvl9pPr>
          </a:lstStyle>
          <a:p xmlns:a="http://schemas.openxmlformats.org/drawingml/2006/main">
            <a:pPr>
              <a:defRPr sz="2025" b="0">
                <a:solidFill>
                  <a:srgbClr val="566675"/>
                </a:solidFill>
                <a:latin typeface="Inter"/>
                <a:ea typeface="Inter"/>
                <a:cs typeface="Inter"/>
              </a:defRPr>
            </a:pPr>
            <a:r>
              <a:rPr sz="2025" b="0">
                <a:solidFill>
                  <a:srgbClr val="566675"/>
                </a:solidFill>
                <a:latin typeface="Inter"/>
                <a:ea typeface="Inter"/>
                <a:cs typeface="Inter"/>
              </a:rPr>
              <a:t>SRAM = static random-access memory</a:t>
            </a:r>
          </a:p>
        </p:txBody>
      </p:sp>
      <p:sp>
        <p:nvSpPr>
          <p:cNvPr id="29" name="">
            <a:extLst xmlns:a="http://schemas.openxmlformats.org/drawingml/2006/main">
              <a:ext uri="{FF2B5EF4-FFF2-40B4-BE49-F238E27FC236}">
                <a16:creationId xmlns:a16="http://schemas.microsoft.com/office/drawing/2014/main" id="{B8B733DC-AEA3-4100-A178-BEF9BA88649C}"/>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09</a:t>
            </a:r>
          </a:p>
        </p:txBody>
      </p:sp>
    </p:spTree>
    <p:extLst>
      <p:ext uri="{BB962C8B-B14F-4D97-AF65-F5344CB8AC3E}">
        <p14:creationId xmlns:p14="http://schemas.microsoft.com/office/powerpoint/2010/main" val="14508451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3191451-2951-4A2E-9F7B-F3031BCFA1C0}"/>
              </a:ext>
            </a:extLst>
          </p:cNvPr>
          <p:cNvPicPr>
            <a:picLocks xmlns:a="http://schemas.openxmlformats.org/drawingml/2006/main" noChangeAspect="1"/>
          </p:cNvPicPr>
          <p:nvPr/>
        </p:nvPicPr>
        <p:blipFill>
          <a:blip xmlns:r="http://schemas.openxmlformats.org/officeDocument/2006/relationships" xmlns:a="http://schemas.openxmlformats.org/drawingml/2006/main" r:embed="R2f2a89063a9b477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88EA901-45D9-4508-9B16-CE597A089E6F}"/>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A6133935-DDFA-4A1B-9C1A-4BF22946551D}"/>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289BA59C-685B-4D20-AA0E-4BEFB41C7BC1}"/>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PE datapath: multiply, extend, add and store</a:t>
            </a:r>
          </a:p>
        </p:txBody>
      </p:sp>
      <p:pic>
        <p:nvPicPr>
          <p:cNvPr id="5" name="">
            <a:extLst xmlns:a="http://schemas.openxmlformats.org/drawingml/2006/main">
              <a:ext uri="{FF2B5EF4-FFF2-40B4-BE49-F238E27FC236}">
                <a16:creationId xmlns:a16="http://schemas.microsoft.com/office/drawing/2014/main" id="{0CEC0BBE-F6F0-48D0-8F98-4398B7D88798}"/>
              </a:ext>
            </a:extLst>
          </p:cNvPr>
          <p:cNvPicPr>
            <a:picLocks xmlns:a="http://schemas.openxmlformats.org/drawingml/2006/main" noChangeAspect="1"/>
          </p:cNvPicPr>
          <p:nvPr/>
        </p:nvPicPr>
        <p:blipFill>
          <a:blip xmlns:r="http://schemas.openxmlformats.org/officeDocument/2006/relationships" xmlns:a="http://schemas.openxmlformats.org/drawingml/2006/main" r:embed="Ree04eac74f50462c"/>
          <a:stretch xmlns:a="http://schemas.openxmlformats.org/drawingml/2006/main"/>
        </p:blipFill>
        <p:spPr>
          <a:xfrm xmlns:a="http://schemas.openxmlformats.org/drawingml/2006/main">
            <a:off x="1715156" y="3857625"/>
            <a:ext cx="8094938" cy="5572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FA2883-838F-492F-ABD9-F6BB66963254}"/>
              </a:ext>
            </a:extLst>
          </p:cNvPr>
          <p:cNvSpPr>
            <a:spLocks xmlns:a="http://schemas.openxmlformats.org/drawingml/2006/main" noGrp="1"/>
          </p:cNvSpPr>
          <p:nvPr/>
        </p:nvSpPr>
        <p:spPr>
          <a:xfrm xmlns:a="http://schemas.openxmlformats.org/drawingml/2006/main">
            <a:off x="10477500" y="4048125"/>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1  Multiply signed 8-bit a and b</a:t>
            </a:r>
          </a:p>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    The product is 16 bits</a:t>
            </a:r>
          </a:p>
        </p:txBody>
      </p:sp>
      <p:sp>
        <p:nvSpPr>
          <p:cNvPr id="7" name="">
            <a:extLst xmlns:a="http://schemas.openxmlformats.org/drawingml/2006/main">
              <a:ext uri="{FF2B5EF4-FFF2-40B4-BE49-F238E27FC236}">
                <a16:creationId xmlns:a16="http://schemas.microsoft.com/office/drawing/2014/main" id="{99866305-8E8C-4620-B255-1AC10E316BCB}"/>
              </a:ext>
            </a:extLst>
          </p:cNvPr>
          <p:cNvSpPr>
            <a:spLocks xmlns:a="http://schemas.openxmlformats.org/drawingml/2006/main" noGrp="1"/>
          </p:cNvSpPr>
          <p:nvPr/>
        </p:nvSpPr>
        <p:spPr>
          <a:xfrm xmlns:a="http://schemas.openxmlformats.org/drawingml/2006/main">
            <a:off x="10477500" y="5667375"/>
            <a:ext cx="590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2  Sign-extend to 24 bits</a:t>
            </a:r>
          </a:p>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    Preserve the signed value</a:t>
            </a:r>
          </a:p>
        </p:txBody>
      </p:sp>
      <p:sp>
        <p:nvSpPr>
          <p:cNvPr id="8" name="">
            <a:extLst xmlns:a="http://schemas.openxmlformats.org/drawingml/2006/main">
              <a:ext uri="{FF2B5EF4-FFF2-40B4-BE49-F238E27FC236}">
                <a16:creationId xmlns:a16="http://schemas.microsoft.com/office/drawing/2014/main" id="{D8B84096-77C1-4CE4-A256-EE7EF106BBDC}"/>
              </a:ext>
            </a:extLst>
          </p:cNvPr>
          <p:cNvSpPr>
            <a:spLocks xmlns:a="http://schemas.openxmlformats.org/drawingml/2006/main" noGrp="1"/>
          </p:cNvSpPr>
          <p:nvPr/>
        </p:nvSpPr>
        <p:spPr>
          <a:xfrm xmlns:a="http://schemas.openxmlformats.org/drawingml/2006/main">
            <a:off x="10477500" y="7286625"/>
            <a:ext cx="5905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3  Add to the 24-bit register</a:t>
            </a:r>
          </a:p>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    Feedback keeps the running sum</a:t>
            </a:r>
          </a:p>
        </p:txBody>
      </p:sp>
      <p:sp>
        <p:nvSpPr>
          <p:cNvPr id="9" name="">
            <a:extLst xmlns:a="http://schemas.openxmlformats.org/drawingml/2006/main">
              <a:ext uri="{FF2B5EF4-FFF2-40B4-BE49-F238E27FC236}">
                <a16:creationId xmlns:a16="http://schemas.microsoft.com/office/drawing/2014/main" id="{7E4282F0-EB9F-4E38-A9E2-F6C5503C4740}"/>
              </a:ext>
            </a:extLst>
          </p:cNvPr>
          <p:cNvSpPr>
            <a:spLocks xmlns:a="http://schemas.openxmlformats.org/drawingml/2006/main" noGrp="1"/>
          </p:cNvSpPr>
          <p:nvPr/>
        </p:nvSpPr>
        <p:spPr>
          <a:xfrm xmlns:a="http://schemas.openxmlformats.org/drawingml/2006/main">
            <a:off x="1809750" y="947737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E749A"/>
                </a:solidFill>
                <a:latin typeface="Inter Bold"/>
                <a:ea typeface="Inter Bold"/>
                <a:cs typeface="Inter Bold"/>
              </a:defRPr>
            </a:defPPr>
            <a:lvl1pPr>
              <a:defRPr sz="2700" b="1">
                <a:solidFill>
                  <a:srgbClr val="0E749A"/>
                </a:solidFill>
                <a:latin typeface="Inter Bold"/>
                <a:ea typeface="Inter Bold"/>
                <a:cs typeface="Inter Bold"/>
              </a:defRPr>
            </a:lvl1pPr>
            <a:lvl2pPr>
              <a:defRPr sz="2700" b="1">
                <a:solidFill>
                  <a:srgbClr val="0E749A"/>
                </a:solidFill>
                <a:latin typeface="Inter Bold"/>
                <a:ea typeface="Inter Bold"/>
                <a:cs typeface="Inter Bold"/>
              </a:defRPr>
            </a:lvl2pPr>
            <a:lvl3pPr>
              <a:defRPr sz="2700" b="1">
                <a:solidFill>
                  <a:srgbClr val="0E749A"/>
                </a:solidFill>
                <a:latin typeface="Inter Bold"/>
                <a:ea typeface="Inter Bold"/>
                <a:cs typeface="Inter Bold"/>
              </a:defRPr>
            </a:lvl3pPr>
            <a:lvl4pPr>
              <a:defRPr sz="2700" b="1">
                <a:solidFill>
                  <a:srgbClr val="0E749A"/>
                </a:solidFill>
                <a:latin typeface="Inter Bold"/>
                <a:ea typeface="Inter Bold"/>
                <a:cs typeface="Inter Bold"/>
              </a:defRPr>
            </a:lvl4pPr>
            <a:lvl5pPr>
              <a:defRPr sz="2700" b="1">
                <a:solidFill>
                  <a:srgbClr val="0E749A"/>
                </a:solidFill>
                <a:latin typeface="Inter Bold"/>
                <a:ea typeface="Inter Bold"/>
                <a:cs typeface="Inter Bold"/>
              </a:defRPr>
            </a:lvl5pPr>
            <a:lvl6pPr>
              <a:defRPr sz="2700" b="1">
                <a:solidFill>
                  <a:srgbClr val="0E749A"/>
                </a:solidFill>
                <a:latin typeface="Inter Bold"/>
                <a:ea typeface="Inter Bold"/>
                <a:cs typeface="Inter Bold"/>
              </a:defRPr>
            </a:lvl6pPr>
            <a:lvl7pPr>
              <a:defRPr sz="2700" b="1">
                <a:solidFill>
                  <a:srgbClr val="0E749A"/>
                </a:solidFill>
                <a:latin typeface="Inter Bold"/>
                <a:ea typeface="Inter Bold"/>
                <a:cs typeface="Inter Bold"/>
              </a:defRPr>
            </a:lvl7pPr>
            <a:lvl8pPr>
              <a:defRPr sz="2700" b="1">
                <a:solidFill>
                  <a:srgbClr val="0E749A"/>
                </a:solidFill>
                <a:latin typeface="Inter Bold"/>
                <a:ea typeface="Inter Bold"/>
                <a:cs typeface="Inter Bold"/>
              </a:defRPr>
            </a:lvl8pPr>
            <a:lvl9pPr>
              <a:defRPr sz="2700" b="1">
                <a:solidFill>
                  <a:srgbClr val="0E749A"/>
                </a:solidFill>
                <a:latin typeface="Inter Bold"/>
                <a:ea typeface="Inter Bold"/>
                <a:cs typeface="Inter Bold"/>
              </a:defRPr>
            </a:lvl9pPr>
          </a:lstStyle>
          <a:p xmlns:a="http://schemas.openxmlformats.org/drawingml/2006/main">
            <a:pPr>
              <a:defRPr sz="2700" b="1">
                <a:solidFill>
                  <a:srgbClr val="0E749A"/>
                </a:solidFill>
                <a:latin typeface="Inter Bold"/>
                <a:ea typeface="Inter Bold"/>
                <a:cs typeface="Inter Bold"/>
              </a:defRPr>
            </a:pPr>
            <a:r>
              <a:rPr sz="2700" b="1">
                <a:solidFill>
                  <a:srgbClr val="0E749A"/>
                </a:solidFill>
                <a:latin typeface="Inter Bold"/>
                <a:ea typeface="Inter Bold"/>
                <a:cs typeface="Inter Bold"/>
              </a:rPr>
              <a:t>acc[n] = acc[n−1] + a[n] × b[n]</a:t>
            </a:r>
          </a:p>
        </p:txBody>
      </p:sp>
      <p:sp>
        <p:nvSpPr>
          <p:cNvPr id="10" name="">
            <a:extLst xmlns:a="http://schemas.openxmlformats.org/drawingml/2006/main">
              <a:ext uri="{FF2B5EF4-FFF2-40B4-BE49-F238E27FC236}">
                <a16:creationId xmlns:a16="http://schemas.microsoft.com/office/drawing/2014/main" id="{2CF25FEE-D234-4C6E-A0DE-13B85968931E}"/>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10</a:t>
            </a:r>
          </a:p>
        </p:txBody>
      </p:sp>
    </p:spTree>
    <p:extLst>
      <p:ext uri="{BB962C8B-B14F-4D97-AF65-F5344CB8AC3E}">
        <p14:creationId xmlns:p14="http://schemas.microsoft.com/office/powerpoint/2010/main" val="210440097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B4E188F-8F2D-4878-9EE8-E9CD878C9605}"/>
              </a:ext>
            </a:extLst>
          </p:cNvPr>
          <p:cNvPicPr>
            <a:picLocks xmlns:a="http://schemas.openxmlformats.org/drawingml/2006/main" noChangeAspect="1"/>
          </p:cNvPicPr>
          <p:nvPr/>
        </p:nvPicPr>
        <p:blipFill>
          <a:blip xmlns:r="http://schemas.openxmlformats.org/officeDocument/2006/relationships" xmlns:a="http://schemas.openxmlformats.org/drawingml/2006/main" r:embed="R00ce68a46ebc42a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56D350-649D-435E-BDDA-5475C736E360}"/>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9867A6B2-660C-4E2D-B8E5-4B28CDEB1B18}"/>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A5B04DBA-3DA0-44E0-87B4-A69C1FE3E597}"/>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Controller FSM: IDLE, CLEAR, COMPUTE and DONE</a:t>
            </a:r>
          </a:p>
        </p:txBody>
      </p:sp>
      <p:pic>
        <p:nvPicPr>
          <p:cNvPr id="5" name="">
            <a:extLst xmlns:a="http://schemas.openxmlformats.org/drawingml/2006/main">
              <a:ext uri="{FF2B5EF4-FFF2-40B4-BE49-F238E27FC236}">
                <a16:creationId xmlns:a16="http://schemas.microsoft.com/office/drawing/2014/main" id="{DC3803AA-A678-4C36-89A6-DA5925D48F6F}"/>
              </a:ext>
            </a:extLst>
          </p:cNvPr>
          <p:cNvPicPr>
            <a:picLocks xmlns:a="http://schemas.openxmlformats.org/drawingml/2006/main" noChangeAspect="1"/>
          </p:cNvPicPr>
          <p:nvPr/>
        </p:nvPicPr>
        <p:blipFill>
          <a:blip xmlns:r="http://schemas.openxmlformats.org/officeDocument/2006/relationships" xmlns:a="http://schemas.openxmlformats.org/drawingml/2006/main" r:embed="R863c061e8e46443a"/>
          <a:stretch xmlns:a="http://schemas.openxmlformats.org/drawingml/2006/main"/>
        </p:blipFill>
        <p:spPr>
          <a:xfrm xmlns:a="http://schemas.openxmlformats.org/drawingml/2006/main">
            <a:off x="1533807" y="3714750"/>
            <a:ext cx="9219635" cy="552450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8B11533F-ABA7-4AFF-BD40-CCEF176C4A34}"/>
              </a:ext>
            </a:extLst>
          </p:cNvPr>
          <p:cNvGraphicFramePr/>
          <p:nvPr/>
        </p:nvGraphicFramePr>
        <p:xfrm>
          <a:off xmlns:a="http://schemas.openxmlformats.org/drawingml/2006/main" x="11144250" y="4048125"/>
          <a:ext xmlns:a="http://schemas.openxmlformats.org/drawingml/2006/main" cx="5429250" cy="3429000"/>
        </p:xfrm>
        <a:graphic xmlns:a="http://schemas.openxmlformats.org/drawingml/2006/main">
          <a:graphicData uri="http://schemas.openxmlformats.org/drawingml/2006/table">
            <a:tbl>
              <a:tblPr/>
              <a:tblGrid>
                <a:gridCol w="1524000"/>
                <a:gridCol w="3905250"/>
              </a:tblGrid>
              <a:tr h="685800">
                <a:tc>
                  <a:txBody>
                    <a:bodyPr/>
                    <a:lstStyle/>
                    <a:p>
                      <a:r>
                        <a:rPr sz="2025" b="1">
                          <a:solidFill>
                            <a:srgbClr val="FFFFFF"/>
                          </a:solidFill>
                          <a:latin typeface="Inter Bold"/>
                          <a:ea typeface="Inter Bold"/>
                          <a:cs typeface="Inter Bold"/>
                        </a:rPr>
                        <a:t>State</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025" b="1">
                          <a:solidFill>
                            <a:srgbClr val="FFFFFF"/>
                          </a:solidFill>
                          <a:latin typeface="Inter Bold"/>
                          <a:ea typeface="Inter Bold"/>
                          <a:cs typeface="Inter Bold"/>
                        </a:rPr>
                        <a:t>Action</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85800">
                <a:tc>
                  <a:txBody>
                    <a:bodyPr/>
                    <a:lstStyle/>
                    <a:p>
                      <a:r>
                        <a:rPr sz="2025" b="0">
                          <a:solidFill>
                            <a:srgbClr val="002B57"/>
                          </a:solidFill>
                          <a:latin typeface="Inter"/>
                          <a:ea typeface="Inter"/>
                          <a:cs typeface="Inter"/>
                        </a:rPr>
                        <a:t>IDLE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Wait for START</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025" b="0">
                          <a:solidFill>
                            <a:srgbClr val="002B57"/>
                          </a:solidFill>
                          <a:latin typeface="Inter"/>
                          <a:ea typeface="Inter"/>
                          <a:cs typeface="Inter"/>
                        </a:rPr>
                        <a:t>CLEAR</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Reset accumulators</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025" b="0">
                          <a:solidFill>
                            <a:srgbClr val="002B57"/>
                          </a:solidFill>
                          <a:latin typeface="Inter"/>
                          <a:ea typeface="Inter"/>
                          <a:cs typeface="Inter"/>
                        </a:rPr>
                        <a:t>COMPUTE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Accumulate and step address</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025" b="0">
                          <a:solidFill>
                            <a:srgbClr val="002B57"/>
                          </a:solidFill>
                          <a:latin typeface="Inter"/>
                          <a:ea typeface="Inter"/>
                          <a:cs typeface="Inter"/>
                        </a:rPr>
                        <a:t>DONE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Hold done until START = 0</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DED8FF7-1E12-4C12-A916-F9E78F9DF880}"/>
              </a:ext>
            </a:extLst>
          </p:cNvPr>
          <p:cNvSpPr>
            <a:spLocks xmlns:a="http://schemas.openxmlformats.org/drawingml/2006/main" noGrp="1"/>
          </p:cNvSpPr>
          <p:nvPr/>
        </p:nvSpPr>
        <p:spPr>
          <a:xfrm xmlns:a="http://schemas.openxmlformats.org/drawingml/2006/main">
            <a:off x="11144250" y="7905750"/>
            <a:ext cx="5429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0E749A"/>
                </a:solidFill>
                <a:latin typeface="Inter Bold"/>
                <a:ea typeface="Inter Bold"/>
                <a:cs typeface="Inter Bold"/>
              </a:defRPr>
            </a:defPPr>
            <a:lvl1pPr>
              <a:defRPr sz="2400" b="1">
                <a:solidFill>
                  <a:srgbClr val="0E749A"/>
                </a:solidFill>
                <a:latin typeface="Inter Bold"/>
                <a:ea typeface="Inter Bold"/>
                <a:cs typeface="Inter Bold"/>
              </a:defRPr>
            </a:lvl1pPr>
            <a:lvl2pPr>
              <a:defRPr sz="2400" b="1">
                <a:solidFill>
                  <a:srgbClr val="0E749A"/>
                </a:solidFill>
                <a:latin typeface="Inter Bold"/>
                <a:ea typeface="Inter Bold"/>
                <a:cs typeface="Inter Bold"/>
              </a:defRPr>
            </a:lvl2pPr>
            <a:lvl3pPr>
              <a:defRPr sz="2400" b="1">
                <a:solidFill>
                  <a:srgbClr val="0E749A"/>
                </a:solidFill>
                <a:latin typeface="Inter Bold"/>
                <a:ea typeface="Inter Bold"/>
                <a:cs typeface="Inter Bold"/>
              </a:defRPr>
            </a:lvl3pPr>
            <a:lvl4pPr>
              <a:defRPr sz="2400" b="1">
                <a:solidFill>
                  <a:srgbClr val="0E749A"/>
                </a:solidFill>
                <a:latin typeface="Inter Bold"/>
                <a:ea typeface="Inter Bold"/>
                <a:cs typeface="Inter Bold"/>
              </a:defRPr>
            </a:lvl4pPr>
            <a:lvl5pPr>
              <a:defRPr sz="2400" b="1">
                <a:solidFill>
                  <a:srgbClr val="0E749A"/>
                </a:solidFill>
                <a:latin typeface="Inter Bold"/>
                <a:ea typeface="Inter Bold"/>
                <a:cs typeface="Inter Bold"/>
              </a:defRPr>
            </a:lvl5pPr>
            <a:lvl6pPr>
              <a:defRPr sz="2400" b="1">
                <a:solidFill>
                  <a:srgbClr val="0E749A"/>
                </a:solidFill>
                <a:latin typeface="Inter Bold"/>
                <a:ea typeface="Inter Bold"/>
                <a:cs typeface="Inter Bold"/>
              </a:defRPr>
            </a:lvl6pPr>
            <a:lvl7pPr>
              <a:defRPr sz="2400" b="1">
                <a:solidFill>
                  <a:srgbClr val="0E749A"/>
                </a:solidFill>
                <a:latin typeface="Inter Bold"/>
                <a:ea typeface="Inter Bold"/>
                <a:cs typeface="Inter Bold"/>
              </a:defRPr>
            </a:lvl7pPr>
            <a:lvl8pPr>
              <a:defRPr sz="2400" b="1">
                <a:solidFill>
                  <a:srgbClr val="0E749A"/>
                </a:solidFill>
                <a:latin typeface="Inter Bold"/>
                <a:ea typeface="Inter Bold"/>
                <a:cs typeface="Inter Bold"/>
              </a:defRPr>
            </a:lvl8pPr>
            <a:lvl9pPr>
              <a:defRPr sz="2400" b="1">
                <a:solidFill>
                  <a:srgbClr val="0E749A"/>
                </a:solidFill>
                <a:latin typeface="Inter Bold"/>
                <a:ea typeface="Inter Bold"/>
                <a:cs typeface="Inter Bold"/>
              </a:defRPr>
            </a:lvl9pPr>
          </a:lstStyle>
          <a:p xmlns:a="http://schemas.openxmlformats.org/drawingml/2006/main">
            <a:pPr>
              <a:defRPr sz="2400" b="1">
                <a:solidFill>
                  <a:srgbClr val="0E749A"/>
                </a:solidFill>
                <a:latin typeface="Inter Bold"/>
                <a:ea typeface="Inter Bold"/>
                <a:cs typeface="Inter Bold"/>
              </a:defRPr>
            </a:pPr>
            <a:r>
              <a:rPr sz="2400" b="1">
                <a:solidFill>
                  <a:srgbClr val="0E749A"/>
                </a:solidFill>
                <a:latin typeface="Inter Bold"/>
                <a:ea typeface="Inter Bold"/>
                <a:cs typeface="Inter Bold"/>
              </a:rPr>
              <a:t>K = 256 terms</a:t>
            </a:r>
          </a:p>
          <a:p xmlns:a="http://schemas.openxmlformats.org/drawingml/2006/main">
            <a:pPr>
              <a:defRPr sz="2400" b="1">
                <a:solidFill>
                  <a:srgbClr val="0E749A"/>
                </a:solidFill>
                <a:latin typeface="Inter Bold"/>
                <a:ea typeface="Inter Bold"/>
                <a:cs typeface="Inter Bold"/>
              </a:defRPr>
            </a:pPr>
            <a:r>
              <a:rPr sz="2400" b="1">
                <a:solidFill>
                  <a:srgbClr val="0E749A"/>
                </a:solidFill>
                <a:latin typeface="Inter Bold"/>
                <a:ea typeface="Inter Bold"/>
                <a:cs typeface="Inter Bold"/>
              </a:rPr>
              <a:t>Loop while k &lt; 255</a:t>
            </a:r>
          </a:p>
          <a:p xmlns:a="http://schemas.openxmlformats.org/drawingml/2006/main">
            <a:pPr>
              <a:defRPr sz="2400" b="1">
                <a:solidFill>
                  <a:srgbClr val="0E749A"/>
                </a:solidFill>
                <a:latin typeface="Inter Bold"/>
                <a:ea typeface="Inter Bold"/>
                <a:cs typeface="Inter Bold"/>
              </a:defRPr>
            </a:pPr>
            <a:r>
              <a:rPr sz="2400" b="1">
                <a:solidFill>
                  <a:srgbClr val="0E749A"/>
                </a:solidFill>
                <a:latin typeface="Inter Bold"/>
                <a:ea typeface="Inter Bold"/>
                <a:cs typeface="Inter Bold"/>
              </a:rPr>
              <a:t>Exit when k = 255</a:t>
            </a:r>
          </a:p>
        </p:txBody>
      </p:sp>
      <p:sp>
        <p:nvSpPr>
          <p:cNvPr id="8" name="">
            <a:extLst xmlns:a="http://schemas.openxmlformats.org/drawingml/2006/main">
              <a:ext uri="{FF2B5EF4-FFF2-40B4-BE49-F238E27FC236}">
                <a16:creationId xmlns:a16="http://schemas.microsoft.com/office/drawing/2014/main" id="{BBAA2AEE-BB9F-4CAC-A838-3DCA0963AB80}"/>
              </a:ext>
            </a:extLst>
          </p:cNvPr>
          <p:cNvSpPr>
            <a:spLocks xmlns:a="http://schemas.openxmlformats.org/drawingml/2006/main" noGrp="1"/>
          </p:cNvSpPr>
          <p:nvPr/>
        </p:nvSpPr>
        <p:spPr>
          <a:xfrm xmlns:a="http://schemas.openxmlformats.org/drawingml/2006/main">
            <a:off x="1809750" y="9572625"/>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0E749A"/>
                </a:solidFill>
                <a:latin typeface="Inter Bold"/>
                <a:ea typeface="Inter Bold"/>
                <a:cs typeface="Inter Bold"/>
              </a:defRPr>
            </a:defPPr>
            <a:lvl1pPr>
              <a:defRPr sz="2025" b="1">
                <a:solidFill>
                  <a:srgbClr val="0E749A"/>
                </a:solidFill>
                <a:latin typeface="Inter Bold"/>
                <a:ea typeface="Inter Bold"/>
                <a:cs typeface="Inter Bold"/>
              </a:defRPr>
            </a:lvl1pPr>
            <a:lvl2pPr>
              <a:defRPr sz="2025" b="1">
                <a:solidFill>
                  <a:srgbClr val="0E749A"/>
                </a:solidFill>
                <a:latin typeface="Inter Bold"/>
                <a:ea typeface="Inter Bold"/>
                <a:cs typeface="Inter Bold"/>
              </a:defRPr>
            </a:lvl2pPr>
            <a:lvl3pPr>
              <a:defRPr sz="2025" b="1">
                <a:solidFill>
                  <a:srgbClr val="0E749A"/>
                </a:solidFill>
                <a:latin typeface="Inter Bold"/>
                <a:ea typeface="Inter Bold"/>
                <a:cs typeface="Inter Bold"/>
              </a:defRPr>
            </a:lvl3pPr>
            <a:lvl4pPr>
              <a:defRPr sz="2025" b="1">
                <a:solidFill>
                  <a:srgbClr val="0E749A"/>
                </a:solidFill>
                <a:latin typeface="Inter Bold"/>
                <a:ea typeface="Inter Bold"/>
                <a:cs typeface="Inter Bold"/>
              </a:defRPr>
            </a:lvl4pPr>
            <a:lvl5pPr>
              <a:defRPr sz="2025" b="1">
                <a:solidFill>
                  <a:srgbClr val="0E749A"/>
                </a:solidFill>
                <a:latin typeface="Inter Bold"/>
                <a:ea typeface="Inter Bold"/>
                <a:cs typeface="Inter Bold"/>
              </a:defRPr>
            </a:lvl5pPr>
            <a:lvl6pPr>
              <a:defRPr sz="2025" b="1">
                <a:solidFill>
                  <a:srgbClr val="0E749A"/>
                </a:solidFill>
                <a:latin typeface="Inter Bold"/>
                <a:ea typeface="Inter Bold"/>
                <a:cs typeface="Inter Bold"/>
              </a:defRPr>
            </a:lvl6pPr>
            <a:lvl7pPr>
              <a:defRPr sz="2025" b="1">
                <a:solidFill>
                  <a:srgbClr val="0E749A"/>
                </a:solidFill>
                <a:latin typeface="Inter Bold"/>
                <a:ea typeface="Inter Bold"/>
                <a:cs typeface="Inter Bold"/>
              </a:defRPr>
            </a:lvl7pPr>
            <a:lvl8pPr>
              <a:defRPr sz="2025" b="1">
                <a:solidFill>
                  <a:srgbClr val="0E749A"/>
                </a:solidFill>
                <a:latin typeface="Inter Bold"/>
                <a:ea typeface="Inter Bold"/>
                <a:cs typeface="Inter Bold"/>
              </a:defRPr>
            </a:lvl8pPr>
            <a:lvl9pPr>
              <a:defRPr sz="2025" b="1">
                <a:solidFill>
                  <a:srgbClr val="0E749A"/>
                </a:solidFill>
                <a:latin typeface="Inter Bold"/>
                <a:ea typeface="Inter Bold"/>
                <a:cs typeface="Inter Bold"/>
              </a:defRPr>
            </a:lvl9pPr>
          </a:lstStyle>
          <a:p xmlns:a="http://schemas.openxmlformats.org/drawingml/2006/main">
            <a:pPr>
              <a:defRPr sz="2025" b="1">
                <a:solidFill>
                  <a:srgbClr val="0E749A"/>
                </a:solidFill>
                <a:latin typeface="Inter Bold"/>
                <a:ea typeface="Inter Bold"/>
                <a:cs typeface="Inter Bold"/>
              </a:defRPr>
            </a:pPr>
            <a:r>
              <a:rPr sz="2025" b="1">
                <a:solidFill>
                  <a:srgbClr val="0E749A"/>
                </a:solidFill>
                <a:latin typeface="Inter Bold"/>
                <a:ea typeface="Inter Bold"/>
                <a:cs typeface="Inter Bold"/>
              </a:rPr>
              <a:t>Result writeback has its own sequencer and writeback-done flag.</a:t>
            </a:r>
          </a:p>
        </p:txBody>
      </p:sp>
      <p:sp>
        <p:nvSpPr>
          <p:cNvPr id="9" name="">
            <a:extLst xmlns:a="http://schemas.openxmlformats.org/drawingml/2006/main">
              <a:ext uri="{FF2B5EF4-FFF2-40B4-BE49-F238E27FC236}">
                <a16:creationId xmlns:a16="http://schemas.microsoft.com/office/drawing/2014/main" id="{AD26DA0C-89F9-4141-915A-D425E214519C}"/>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11</a:t>
            </a:r>
          </a:p>
        </p:txBody>
      </p:sp>
    </p:spTree>
    <p:extLst>
      <p:ext uri="{BB962C8B-B14F-4D97-AF65-F5344CB8AC3E}">
        <p14:creationId xmlns:p14="http://schemas.microsoft.com/office/powerpoint/2010/main" val="430930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1B3CB92-3AC2-4194-AF42-29C5881381E2}"/>
              </a:ext>
            </a:extLst>
          </p:cNvPr>
          <p:cNvPicPr>
            <a:picLocks xmlns:a="http://schemas.openxmlformats.org/drawingml/2006/main" noChangeAspect="1"/>
          </p:cNvPicPr>
          <p:nvPr/>
        </p:nvPicPr>
        <p:blipFill>
          <a:blip xmlns:r="http://schemas.openxmlformats.org/officeDocument/2006/relationships" xmlns:a="http://schemas.openxmlformats.org/drawingml/2006/main" r:embed="R774670e5702d421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49CBBC-9E54-4DFA-BEFA-C0B1D978FFD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64C5743D-4A9F-454D-AAE8-A4096D8F2F8F}"/>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710C0573-771B-47F8-8EF0-40B6CAADA028}"/>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One smaller memory stores the same 16 results</a:t>
            </a:r>
          </a:p>
        </p:txBody>
      </p:sp>
      <p:sp>
        <p:nvSpPr>
          <p:cNvPr id="5" name="">
            <a:extLst xmlns:a="http://schemas.openxmlformats.org/drawingml/2006/main">
              <a:ext uri="{FF2B5EF4-FFF2-40B4-BE49-F238E27FC236}">
                <a16:creationId xmlns:a16="http://schemas.microsoft.com/office/drawing/2014/main" id="{5DE1E5FF-CB89-4894-AEEE-9522D7F3DDB2}"/>
              </a:ext>
            </a:extLst>
          </p:cNvPr>
          <p:cNvSpPr>
            <a:spLocks xmlns:a="http://schemas.openxmlformats.org/drawingml/2006/main" noGrp="1"/>
          </p:cNvSpPr>
          <p:nvPr/>
        </p:nvSpPr>
        <p:spPr>
          <a:xfrm xmlns:a="http://schemas.openxmlformats.org/drawingml/2006/main">
            <a:off x="1809750" y="38100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566675"/>
                </a:solidFill>
                <a:latin typeface="Inter Bold"/>
                <a:ea typeface="Inter Bold"/>
                <a:cs typeface="Inter Bold"/>
              </a:defRPr>
            </a:defPPr>
            <a:lvl1pPr>
              <a:defRPr sz="2850" b="1">
                <a:solidFill>
                  <a:srgbClr val="566675"/>
                </a:solidFill>
                <a:latin typeface="Inter Bold"/>
                <a:ea typeface="Inter Bold"/>
                <a:cs typeface="Inter Bold"/>
              </a:defRPr>
            </a:lvl1pPr>
            <a:lvl2pPr>
              <a:defRPr sz="2850" b="1">
                <a:solidFill>
                  <a:srgbClr val="566675"/>
                </a:solidFill>
                <a:latin typeface="Inter Bold"/>
                <a:ea typeface="Inter Bold"/>
                <a:cs typeface="Inter Bold"/>
              </a:defRPr>
            </a:lvl2pPr>
            <a:lvl3pPr>
              <a:defRPr sz="2850" b="1">
                <a:solidFill>
                  <a:srgbClr val="566675"/>
                </a:solidFill>
                <a:latin typeface="Inter Bold"/>
                <a:ea typeface="Inter Bold"/>
                <a:cs typeface="Inter Bold"/>
              </a:defRPr>
            </a:lvl3pPr>
            <a:lvl4pPr>
              <a:defRPr sz="2850" b="1">
                <a:solidFill>
                  <a:srgbClr val="566675"/>
                </a:solidFill>
                <a:latin typeface="Inter Bold"/>
                <a:ea typeface="Inter Bold"/>
                <a:cs typeface="Inter Bold"/>
              </a:defRPr>
            </a:lvl4pPr>
            <a:lvl5pPr>
              <a:defRPr sz="2850" b="1">
                <a:solidFill>
                  <a:srgbClr val="566675"/>
                </a:solidFill>
                <a:latin typeface="Inter Bold"/>
                <a:ea typeface="Inter Bold"/>
                <a:cs typeface="Inter Bold"/>
              </a:defRPr>
            </a:lvl5pPr>
            <a:lvl6pPr>
              <a:defRPr sz="2850" b="1">
                <a:solidFill>
                  <a:srgbClr val="566675"/>
                </a:solidFill>
                <a:latin typeface="Inter Bold"/>
                <a:ea typeface="Inter Bold"/>
                <a:cs typeface="Inter Bold"/>
              </a:defRPr>
            </a:lvl6pPr>
            <a:lvl7pPr>
              <a:defRPr sz="2850" b="1">
                <a:solidFill>
                  <a:srgbClr val="566675"/>
                </a:solidFill>
                <a:latin typeface="Inter Bold"/>
                <a:ea typeface="Inter Bold"/>
                <a:cs typeface="Inter Bold"/>
              </a:defRPr>
            </a:lvl7pPr>
            <a:lvl8pPr>
              <a:defRPr sz="2850" b="1">
                <a:solidFill>
                  <a:srgbClr val="566675"/>
                </a:solidFill>
                <a:latin typeface="Inter Bold"/>
                <a:ea typeface="Inter Bold"/>
                <a:cs typeface="Inter Bold"/>
              </a:defRPr>
            </a:lvl8pPr>
            <a:lvl9pPr>
              <a:defRPr sz="2850" b="1">
                <a:solidFill>
                  <a:srgbClr val="566675"/>
                </a:solidFill>
                <a:latin typeface="Inter Bold"/>
                <a:ea typeface="Inter Bold"/>
                <a:cs typeface="Inter Bold"/>
              </a:defRPr>
            </a:lvl9pPr>
          </a:lstStyle>
          <a:p xmlns:a="http://schemas.openxmlformats.org/drawingml/2006/main">
            <a:pPr>
              <a:defRPr sz="2850" b="1">
                <a:solidFill>
                  <a:srgbClr val="566675"/>
                </a:solidFill>
                <a:latin typeface="Inter Bold"/>
                <a:ea typeface="Inter Bold"/>
                <a:cs typeface="Inter Bold"/>
              </a:defRPr>
            </a:pPr>
            <a:r>
              <a:rPr sz="2850" b="1">
                <a:solidFill>
                  <a:srgbClr val="566675"/>
                </a:solidFill>
                <a:latin typeface="Inter Bold"/>
                <a:ea typeface="Inter Bold"/>
                <a:cs typeface="Inter Bold"/>
              </a:rPr>
              <a:t>BEFORE: 3 memories in parallel</a:t>
            </a:r>
          </a:p>
        </p:txBody>
      </p:sp>
      <p:sp>
        <p:nvSpPr>
          <p:cNvPr id="6" name="">
            <a:extLst xmlns:a="http://schemas.openxmlformats.org/drawingml/2006/main">
              <a:ext uri="{FF2B5EF4-FFF2-40B4-BE49-F238E27FC236}">
                <a16:creationId xmlns:a16="http://schemas.microsoft.com/office/drawing/2014/main" id="{DD4756A9-854C-49F9-AA43-A7C0CEEDB5C6}"/>
              </a:ext>
            </a:extLst>
          </p:cNvPr>
          <p:cNvSpPr>
            <a:spLocks xmlns:a="http://schemas.openxmlformats.org/drawingml/2006/main" noGrp="1"/>
          </p:cNvSpPr>
          <p:nvPr/>
        </p:nvSpPr>
        <p:spPr>
          <a:xfrm xmlns:a="http://schemas.openxmlformats.org/drawingml/2006/main">
            <a:off x="9525000" y="3810000"/>
            <a:ext cx="695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0E749A"/>
                </a:solidFill>
                <a:latin typeface="Inter Bold"/>
                <a:ea typeface="Inter Bold"/>
                <a:cs typeface="Inter Bold"/>
              </a:defRPr>
            </a:defPPr>
            <a:lvl1pPr>
              <a:defRPr sz="2850" b="1">
                <a:solidFill>
                  <a:srgbClr val="0E749A"/>
                </a:solidFill>
                <a:latin typeface="Inter Bold"/>
                <a:ea typeface="Inter Bold"/>
                <a:cs typeface="Inter Bold"/>
              </a:defRPr>
            </a:lvl1pPr>
            <a:lvl2pPr>
              <a:defRPr sz="2850" b="1">
                <a:solidFill>
                  <a:srgbClr val="0E749A"/>
                </a:solidFill>
                <a:latin typeface="Inter Bold"/>
                <a:ea typeface="Inter Bold"/>
                <a:cs typeface="Inter Bold"/>
              </a:defRPr>
            </a:lvl2pPr>
            <a:lvl3pPr>
              <a:defRPr sz="2850" b="1">
                <a:solidFill>
                  <a:srgbClr val="0E749A"/>
                </a:solidFill>
                <a:latin typeface="Inter Bold"/>
                <a:ea typeface="Inter Bold"/>
                <a:cs typeface="Inter Bold"/>
              </a:defRPr>
            </a:lvl3pPr>
            <a:lvl4pPr>
              <a:defRPr sz="2850" b="1">
                <a:solidFill>
                  <a:srgbClr val="0E749A"/>
                </a:solidFill>
                <a:latin typeface="Inter Bold"/>
                <a:ea typeface="Inter Bold"/>
                <a:cs typeface="Inter Bold"/>
              </a:defRPr>
            </a:lvl4pPr>
            <a:lvl5pPr>
              <a:defRPr sz="2850" b="1">
                <a:solidFill>
                  <a:srgbClr val="0E749A"/>
                </a:solidFill>
                <a:latin typeface="Inter Bold"/>
                <a:ea typeface="Inter Bold"/>
                <a:cs typeface="Inter Bold"/>
              </a:defRPr>
            </a:lvl5pPr>
            <a:lvl6pPr>
              <a:defRPr sz="2850" b="1">
                <a:solidFill>
                  <a:srgbClr val="0E749A"/>
                </a:solidFill>
                <a:latin typeface="Inter Bold"/>
                <a:ea typeface="Inter Bold"/>
                <a:cs typeface="Inter Bold"/>
              </a:defRPr>
            </a:lvl6pPr>
            <a:lvl7pPr>
              <a:defRPr sz="2850" b="1">
                <a:solidFill>
                  <a:srgbClr val="0E749A"/>
                </a:solidFill>
                <a:latin typeface="Inter Bold"/>
                <a:ea typeface="Inter Bold"/>
                <a:cs typeface="Inter Bold"/>
              </a:defRPr>
            </a:lvl7pPr>
            <a:lvl8pPr>
              <a:defRPr sz="2850" b="1">
                <a:solidFill>
                  <a:srgbClr val="0E749A"/>
                </a:solidFill>
                <a:latin typeface="Inter Bold"/>
                <a:ea typeface="Inter Bold"/>
                <a:cs typeface="Inter Bold"/>
              </a:defRPr>
            </a:lvl8pPr>
            <a:lvl9pPr>
              <a:defRPr sz="2850" b="1">
                <a:solidFill>
                  <a:srgbClr val="0E749A"/>
                </a:solidFill>
                <a:latin typeface="Inter Bold"/>
                <a:ea typeface="Inter Bold"/>
                <a:cs typeface="Inter Bold"/>
              </a:defRPr>
            </a:lvl9pPr>
          </a:lstStyle>
          <a:p xmlns:a="http://schemas.openxmlformats.org/drawingml/2006/main">
            <a:pPr>
              <a:defRPr sz="2850" b="1">
                <a:solidFill>
                  <a:srgbClr val="0E749A"/>
                </a:solidFill>
                <a:latin typeface="Inter Bold"/>
                <a:ea typeface="Inter Bold"/>
                <a:cs typeface="Inter Bold"/>
              </a:defRPr>
            </a:pPr>
            <a:r>
              <a:rPr sz="2850" b="1">
                <a:solidFill>
                  <a:srgbClr val="0E749A"/>
                </a:solidFill>
                <a:latin typeface="Inter Bold"/>
                <a:ea typeface="Inter Bold"/>
                <a:cs typeface="Inter Bold"/>
              </a:rPr>
              <a:t>AFTER: 1 memory, 3 byte accesses</a:t>
            </a:r>
          </a:p>
        </p:txBody>
      </p:sp>
      <p:sp>
        <p:nvSpPr>
          <p:cNvPr id="7" name="">
            <a:extLst xmlns:a="http://schemas.openxmlformats.org/drawingml/2006/main">
              <a:ext uri="{FF2B5EF4-FFF2-40B4-BE49-F238E27FC236}">
                <a16:creationId xmlns:a16="http://schemas.microsoft.com/office/drawing/2014/main" id="{01941A41-62DC-4572-9852-7854E6DC3FD0}"/>
              </a:ext>
            </a:extLst>
          </p:cNvPr>
          <p:cNvSpPr>
            <a:spLocks xmlns:a="http://schemas.openxmlformats.org/drawingml/2006/main" noGrp="1"/>
          </p:cNvSpPr>
          <p:nvPr/>
        </p:nvSpPr>
        <p:spPr>
          <a:xfrm xmlns:a="http://schemas.openxmlformats.org/drawingml/2006/main">
            <a:off x="1809750" y="4810125"/>
            <a:ext cx="1905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250">
                <a:solidFill>
                  <a:srgbClr val="002B57"/>
                </a:solidFill>
                <a:latin typeface="Inter"/>
                <a:ea typeface="Inter"/>
                <a:cs typeface="Inter"/>
              </a:defRPr>
            </a:defPPr>
            <a:lvl1pPr algn="ctr">
              <a:defRPr sz="2250">
                <a:solidFill>
                  <a:srgbClr val="002B57"/>
                </a:solidFill>
                <a:latin typeface="Inter"/>
                <a:ea typeface="Inter"/>
                <a:cs typeface="Inter"/>
              </a:defRPr>
            </a:lvl1pPr>
            <a:lvl2pPr algn="ctr">
              <a:defRPr sz="2250">
                <a:solidFill>
                  <a:srgbClr val="002B57"/>
                </a:solidFill>
                <a:latin typeface="Inter"/>
                <a:ea typeface="Inter"/>
                <a:cs typeface="Inter"/>
              </a:defRPr>
            </a:lvl2pPr>
            <a:lvl3pPr algn="ctr">
              <a:defRPr sz="2250">
                <a:solidFill>
                  <a:srgbClr val="002B57"/>
                </a:solidFill>
                <a:latin typeface="Inter"/>
                <a:ea typeface="Inter"/>
                <a:cs typeface="Inter"/>
              </a:defRPr>
            </a:lvl3pPr>
            <a:lvl4pPr algn="ctr">
              <a:defRPr sz="2250">
                <a:solidFill>
                  <a:srgbClr val="002B57"/>
                </a:solidFill>
                <a:latin typeface="Inter"/>
                <a:ea typeface="Inter"/>
                <a:cs typeface="Inter"/>
              </a:defRPr>
            </a:lvl4pPr>
            <a:lvl5pPr algn="ctr">
              <a:defRPr sz="2250">
                <a:solidFill>
                  <a:srgbClr val="002B57"/>
                </a:solidFill>
                <a:latin typeface="Inter"/>
                <a:ea typeface="Inter"/>
                <a:cs typeface="Inter"/>
              </a:defRPr>
            </a:lvl5pPr>
            <a:lvl6pPr algn="ctr">
              <a:defRPr sz="2250">
                <a:solidFill>
                  <a:srgbClr val="002B57"/>
                </a:solidFill>
                <a:latin typeface="Inter"/>
                <a:ea typeface="Inter"/>
                <a:cs typeface="Inter"/>
              </a:defRPr>
            </a:lvl6pPr>
            <a:lvl7pPr algn="ctr">
              <a:defRPr sz="2250">
                <a:solidFill>
                  <a:srgbClr val="002B57"/>
                </a:solidFill>
                <a:latin typeface="Inter"/>
                <a:ea typeface="Inter"/>
                <a:cs typeface="Inter"/>
              </a:defRPr>
            </a:lvl7pPr>
            <a:lvl8pPr algn="ctr">
              <a:defRPr sz="2250">
                <a:solidFill>
                  <a:srgbClr val="002B57"/>
                </a:solidFill>
                <a:latin typeface="Inter"/>
                <a:ea typeface="Inter"/>
                <a:cs typeface="Inter"/>
              </a:defRPr>
            </a:lvl8pPr>
            <a:lvl9pPr algn="ctr">
              <a:defRPr sz="2250">
                <a:solidFill>
                  <a:srgbClr val="002B57"/>
                </a:solidFill>
                <a:latin typeface="Inter"/>
                <a:ea typeface="Inter"/>
                <a:cs typeface="Inter"/>
              </a:defRPr>
            </a:lvl9pPr>
          </a:lstStyle>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256 bytes</a:t>
            </a:r>
          </a:p>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Result byte 1</a:t>
            </a:r>
          </a:p>
        </p:txBody>
      </p:sp>
      <p:sp>
        <p:nvSpPr>
          <p:cNvPr id="8" name="">
            <a:extLst xmlns:a="http://schemas.openxmlformats.org/drawingml/2006/main">
              <a:ext uri="{FF2B5EF4-FFF2-40B4-BE49-F238E27FC236}">
                <a16:creationId xmlns:a16="http://schemas.microsoft.com/office/drawing/2014/main" id="{82AED878-C8B7-4B14-BFCB-3BD02760B10E}"/>
              </a:ext>
            </a:extLst>
          </p:cNvPr>
          <p:cNvSpPr>
            <a:spLocks xmlns:a="http://schemas.openxmlformats.org/drawingml/2006/main" noGrp="1"/>
          </p:cNvSpPr>
          <p:nvPr/>
        </p:nvSpPr>
        <p:spPr>
          <a:xfrm xmlns:a="http://schemas.openxmlformats.org/drawingml/2006/main">
            <a:off x="3905250" y="4810125"/>
            <a:ext cx="1905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250">
                <a:solidFill>
                  <a:srgbClr val="002B57"/>
                </a:solidFill>
                <a:latin typeface="Inter"/>
                <a:ea typeface="Inter"/>
                <a:cs typeface="Inter"/>
              </a:defRPr>
            </a:defPPr>
            <a:lvl1pPr algn="ctr">
              <a:defRPr sz="2250">
                <a:solidFill>
                  <a:srgbClr val="002B57"/>
                </a:solidFill>
                <a:latin typeface="Inter"/>
                <a:ea typeface="Inter"/>
                <a:cs typeface="Inter"/>
              </a:defRPr>
            </a:lvl1pPr>
            <a:lvl2pPr algn="ctr">
              <a:defRPr sz="2250">
                <a:solidFill>
                  <a:srgbClr val="002B57"/>
                </a:solidFill>
                <a:latin typeface="Inter"/>
                <a:ea typeface="Inter"/>
                <a:cs typeface="Inter"/>
              </a:defRPr>
            </a:lvl2pPr>
            <a:lvl3pPr algn="ctr">
              <a:defRPr sz="2250">
                <a:solidFill>
                  <a:srgbClr val="002B57"/>
                </a:solidFill>
                <a:latin typeface="Inter"/>
                <a:ea typeface="Inter"/>
                <a:cs typeface="Inter"/>
              </a:defRPr>
            </a:lvl3pPr>
            <a:lvl4pPr algn="ctr">
              <a:defRPr sz="2250">
                <a:solidFill>
                  <a:srgbClr val="002B57"/>
                </a:solidFill>
                <a:latin typeface="Inter"/>
                <a:ea typeface="Inter"/>
                <a:cs typeface="Inter"/>
              </a:defRPr>
            </a:lvl4pPr>
            <a:lvl5pPr algn="ctr">
              <a:defRPr sz="2250">
                <a:solidFill>
                  <a:srgbClr val="002B57"/>
                </a:solidFill>
                <a:latin typeface="Inter"/>
                <a:ea typeface="Inter"/>
                <a:cs typeface="Inter"/>
              </a:defRPr>
            </a:lvl5pPr>
            <a:lvl6pPr algn="ctr">
              <a:defRPr sz="2250">
                <a:solidFill>
                  <a:srgbClr val="002B57"/>
                </a:solidFill>
                <a:latin typeface="Inter"/>
                <a:ea typeface="Inter"/>
                <a:cs typeface="Inter"/>
              </a:defRPr>
            </a:lvl6pPr>
            <a:lvl7pPr algn="ctr">
              <a:defRPr sz="2250">
                <a:solidFill>
                  <a:srgbClr val="002B57"/>
                </a:solidFill>
                <a:latin typeface="Inter"/>
                <a:ea typeface="Inter"/>
                <a:cs typeface="Inter"/>
              </a:defRPr>
            </a:lvl7pPr>
            <a:lvl8pPr algn="ctr">
              <a:defRPr sz="2250">
                <a:solidFill>
                  <a:srgbClr val="002B57"/>
                </a:solidFill>
                <a:latin typeface="Inter"/>
                <a:ea typeface="Inter"/>
                <a:cs typeface="Inter"/>
              </a:defRPr>
            </a:lvl8pPr>
            <a:lvl9pPr algn="ctr">
              <a:defRPr sz="2250">
                <a:solidFill>
                  <a:srgbClr val="002B57"/>
                </a:solidFill>
                <a:latin typeface="Inter"/>
                <a:ea typeface="Inter"/>
                <a:cs typeface="Inter"/>
              </a:defRPr>
            </a:lvl9pPr>
          </a:lstStyle>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256 bytes</a:t>
            </a:r>
          </a:p>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Result byte 2</a:t>
            </a:r>
          </a:p>
        </p:txBody>
      </p:sp>
      <p:sp>
        <p:nvSpPr>
          <p:cNvPr id="9" name="">
            <a:extLst xmlns:a="http://schemas.openxmlformats.org/drawingml/2006/main">
              <a:ext uri="{FF2B5EF4-FFF2-40B4-BE49-F238E27FC236}">
                <a16:creationId xmlns:a16="http://schemas.microsoft.com/office/drawing/2014/main" id="{6CBA9373-ABD4-4C9F-9FBB-5F946FF8C063}"/>
              </a:ext>
            </a:extLst>
          </p:cNvPr>
          <p:cNvSpPr>
            <a:spLocks xmlns:a="http://schemas.openxmlformats.org/drawingml/2006/main" noGrp="1"/>
          </p:cNvSpPr>
          <p:nvPr/>
        </p:nvSpPr>
        <p:spPr>
          <a:xfrm xmlns:a="http://schemas.openxmlformats.org/drawingml/2006/main">
            <a:off x="6000750" y="4810125"/>
            <a:ext cx="1905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250">
                <a:solidFill>
                  <a:srgbClr val="002B57"/>
                </a:solidFill>
                <a:latin typeface="Inter"/>
                <a:ea typeface="Inter"/>
                <a:cs typeface="Inter"/>
              </a:defRPr>
            </a:defPPr>
            <a:lvl1pPr algn="ctr">
              <a:defRPr sz="2250">
                <a:solidFill>
                  <a:srgbClr val="002B57"/>
                </a:solidFill>
                <a:latin typeface="Inter"/>
                <a:ea typeface="Inter"/>
                <a:cs typeface="Inter"/>
              </a:defRPr>
            </a:lvl1pPr>
            <a:lvl2pPr algn="ctr">
              <a:defRPr sz="2250">
                <a:solidFill>
                  <a:srgbClr val="002B57"/>
                </a:solidFill>
                <a:latin typeface="Inter"/>
                <a:ea typeface="Inter"/>
                <a:cs typeface="Inter"/>
              </a:defRPr>
            </a:lvl2pPr>
            <a:lvl3pPr algn="ctr">
              <a:defRPr sz="2250">
                <a:solidFill>
                  <a:srgbClr val="002B57"/>
                </a:solidFill>
                <a:latin typeface="Inter"/>
                <a:ea typeface="Inter"/>
                <a:cs typeface="Inter"/>
              </a:defRPr>
            </a:lvl3pPr>
            <a:lvl4pPr algn="ctr">
              <a:defRPr sz="2250">
                <a:solidFill>
                  <a:srgbClr val="002B57"/>
                </a:solidFill>
                <a:latin typeface="Inter"/>
                <a:ea typeface="Inter"/>
                <a:cs typeface="Inter"/>
              </a:defRPr>
            </a:lvl4pPr>
            <a:lvl5pPr algn="ctr">
              <a:defRPr sz="2250">
                <a:solidFill>
                  <a:srgbClr val="002B57"/>
                </a:solidFill>
                <a:latin typeface="Inter"/>
                <a:ea typeface="Inter"/>
                <a:cs typeface="Inter"/>
              </a:defRPr>
            </a:lvl5pPr>
            <a:lvl6pPr algn="ctr">
              <a:defRPr sz="2250">
                <a:solidFill>
                  <a:srgbClr val="002B57"/>
                </a:solidFill>
                <a:latin typeface="Inter"/>
                <a:ea typeface="Inter"/>
                <a:cs typeface="Inter"/>
              </a:defRPr>
            </a:lvl6pPr>
            <a:lvl7pPr algn="ctr">
              <a:defRPr sz="2250">
                <a:solidFill>
                  <a:srgbClr val="002B57"/>
                </a:solidFill>
                <a:latin typeface="Inter"/>
                <a:ea typeface="Inter"/>
                <a:cs typeface="Inter"/>
              </a:defRPr>
            </a:lvl7pPr>
            <a:lvl8pPr algn="ctr">
              <a:defRPr sz="2250">
                <a:solidFill>
                  <a:srgbClr val="002B57"/>
                </a:solidFill>
                <a:latin typeface="Inter"/>
                <a:ea typeface="Inter"/>
                <a:cs typeface="Inter"/>
              </a:defRPr>
            </a:lvl8pPr>
            <a:lvl9pPr algn="ctr">
              <a:defRPr sz="2250">
                <a:solidFill>
                  <a:srgbClr val="002B57"/>
                </a:solidFill>
                <a:latin typeface="Inter"/>
                <a:ea typeface="Inter"/>
                <a:cs typeface="Inter"/>
              </a:defRPr>
            </a:lvl9pPr>
          </a:lstStyle>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256 bytes</a:t>
            </a:r>
          </a:p>
          <a:p xmlns:a="http://schemas.openxmlformats.org/drawingml/2006/main">
            <a:pPr algn="ctr">
              <a:defRPr sz="2250">
                <a:solidFill>
                  <a:srgbClr val="002B57"/>
                </a:solidFill>
                <a:latin typeface="Inter"/>
                <a:ea typeface="Inter"/>
                <a:cs typeface="Inter"/>
              </a:defRPr>
            </a:pPr>
            <a:r>
              <a:rPr sz="2250">
                <a:solidFill>
                  <a:srgbClr val="002B57"/>
                </a:solidFill>
                <a:latin typeface="Inter"/>
                <a:ea typeface="Inter"/>
                <a:cs typeface="Inter"/>
              </a:rPr>
              <a:t>Result byte 3</a:t>
            </a:r>
          </a:p>
        </p:txBody>
      </p:sp>
      <p:sp>
        <p:nvSpPr>
          <p:cNvPr id="10" name="">
            <a:extLst xmlns:a="http://schemas.openxmlformats.org/drawingml/2006/main">
              <a:ext uri="{FF2B5EF4-FFF2-40B4-BE49-F238E27FC236}">
                <a16:creationId xmlns:a16="http://schemas.microsoft.com/office/drawing/2014/main" id="{726FB510-E2A9-48C6-A9FD-89B629240AF9}"/>
              </a:ext>
            </a:extLst>
          </p:cNvPr>
          <p:cNvSpPr>
            <a:spLocks xmlns:a="http://schemas.openxmlformats.org/drawingml/2006/main" noGrp="1"/>
          </p:cNvSpPr>
          <p:nvPr/>
        </p:nvSpPr>
        <p:spPr>
          <a:xfrm xmlns:a="http://schemas.openxmlformats.org/drawingml/2006/main">
            <a:off x="9525000" y="4810125"/>
            <a:ext cx="6477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3000">
                <a:solidFill>
                  <a:srgbClr val="002B57"/>
                </a:solidFill>
                <a:latin typeface="Inter"/>
                <a:ea typeface="Inter"/>
                <a:cs typeface="Inter"/>
              </a:defRPr>
            </a:defPPr>
            <a:lvl1pPr algn="ctr">
              <a:defRPr sz="3000">
                <a:solidFill>
                  <a:srgbClr val="002B57"/>
                </a:solidFill>
                <a:latin typeface="Inter"/>
                <a:ea typeface="Inter"/>
                <a:cs typeface="Inter"/>
              </a:defRPr>
            </a:lvl1pPr>
            <a:lvl2pPr algn="ctr">
              <a:defRPr sz="3000">
                <a:solidFill>
                  <a:srgbClr val="002B57"/>
                </a:solidFill>
                <a:latin typeface="Inter"/>
                <a:ea typeface="Inter"/>
                <a:cs typeface="Inter"/>
              </a:defRPr>
            </a:lvl2pPr>
            <a:lvl3pPr algn="ctr">
              <a:defRPr sz="3000">
                <a:solidFill>
                  <a:srgbClr val="002B57"/>
                </a:solidFill>
                <a:latin typeface="Inter"/>
                <a:ea typeface="Inter"/>
                <a:cs typeface="Inter"/>
              </a:defRPr>
            </a:lvl3pPr>
            <a:lvl4pPr algn="ctr">
              <a:defRPr sz="3000">
                <a:solidFill>
                  <a:srgbClr val="002B57"/>
                </a:solidFill>
                <a:latin typeface="Inter"/>
                <a:ea typeface="Inter"/>
                <a:cs typeface="Inter"/>
              </a:defRPr>
            </a:lvl4pPr>
            <a:lvl5pPr algn="ctr">
              <a:defRPr sz="3000">
                <a:solidFill>
                  <a:srgbClr val="002B57"/>
                </a:solidFill>
                <a:latin typeface="Inter"/>
                <a:ea typeface="Inter"/>
                <a:cs typeface="Inter"/>
              </a:defRPr>
            </a:lvl5pPr>
            <a:lvl6pPr algn="ctr">
              <a:defRPr sz="3000">
                <a:solidFill>
                  <a:srgbClr val="002B57"/>
                </a:solidFill>
                <a:latin typeface="Inter"/>
                <a:ea typeface="Inter"/>
                <a:cs typeface="Inter"/>
              </a:defRPr>
            </a:lvl6pPr>
            <a:lvl7pPr algn="ctr">
              <a:defRPr sz="3000">
                <a:solidFill>
                  <a:srgbClr val="002B57"/>
                </a:solidFill>
                <a:latin typeface="Inter"/>
                <a:ea typeface="Inter"/>
                <a:cs typeface="Inter"/>
              </a:defRPr>
            </a:lvl7pPr>
            <a:lvl8pPr algn="ctr">
              <a:defRPr sz="3000">
                <a:solidFill>
                  <a:srgbClr val="002B57"/>
                </a:solidFill>
                <a:latin typeface="Inter"/>
                <a:ea typeface="Inter"/>
                <a:cs typeface="Inter"/>
              </a:defRPr>
            </a:lvl8pPr>
            <a:lvl9pPr algn="ctr">
              <a:defRPr sz="3000">
                <a:solidFill>
                  <a:srgbClr val="002B57"/>
                </a:solidFill>
                <a:latin typeface="Inter"/>
                <a:ea typeface="Inter"/>
                <a:cs typeface="Inter"/>
              </a:defRPr>
            </a:lvl9pPr>
          </a:lstStyle>
          <a:p xmlns:a="http://schemas.openxmlformats.org/drawingml/2006/main">
            <a:pPr algn="ctr">
              <a:defRPr sz="3000">
                <a:solidFill>
                  <a:srgbClr val="002B57"/>
                </a:solidFill>
                <a:latin typeface="Inter"/>
                <a:ea typeface="Inter"/>
                <a:cs typeface="Inter"/>
              </a:defRPr>
            </a:pPr>
            <a:r>
              <a:rPr sz="3000">
                <a:solidFill>
                  <a:srgbClr val="002B57"/>
                </a:solidFill>
                <a:latin typeface="Inter"/>
                <a:ea typeface="Inter"/>
                <a:cs typeface="Inter"/>
              </a:rPr>
              <a:t>64-byte memory</a:t>
            </a:r>
          </a:p>
          <a:p xmlns:a="http://schemas.openxmlformats.org/drawingml/2006/main">
            <a:pPr algn="ctr">
              <a:defRPr sz="3000">
                <a:solidFill>
                  <a:srgbClr val="002B57"/>
                </a:solidFill>
                <a:latin typeface="Inter"/>
                <a:ea typeface="Inter"/>
                <a:cs typeface="Inter"/>
              </a:defRPr>
            </a:pPr>
            <a:r>
              <a:rPr sz="3000">
                <a:solidFill>
                  <a:srgbClr val="002B57"/>
                </a:solidFill>
                <a:latin typeface="Inter"/>
                <a:ea typeface="Inter"/>
                <a:cs typeface="Inter"/>
              </a:rPr>
              <a:t>48 bytes used</a:t>
            </a:r>
          </a:p>
        </p:txBody>
      </p:sp>
      <p:sp>
        <p:nvSpPr>
          <p:cNvPr id="11" name="">
            <a:extLst xmlns:a="http://schemas.openxmlformats.org/drawingml/2006/main">
              <a:ext uri="{FF2B5EF4-FFF2-40B4-BE49-F238E27FC236}">
                <a16:creationId xmlns:a16="http://schemas.microsoft.com/office/drawing/2014/main" id="{D0C39ED9-CC3B-4569-95BF-D8EC673B3C4F}"/>
              </a:ext>
            </a:extLst>
          </p:cNvPr>
          <p:cNvSpPr>
            <a:spLocks xmlns:a="http://schemas.openxmlformats.org/drawingml/2006/main" noGrp="1"/>
          </p:cNvSpPr>
          <p:nvPr/>
        </p:nvSpPr>
        <p:spPr>
          <a:xfrm xmlns:a="http://schemas.openxmlformats.org/drawingml/2006/main">
            <a:off x="1809750" y="6810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One result: 3 bytes at the same address</a:t>
            </a:r>
          </a:p>
        </p:txBody>
      </p:sp>
      <p:sp>
        <p:nvSpPr>
          <p:cNvPr id="12" name="">
            <a:extLst xmlns:a="http://schemas.openxmlformats.org/drawingml/2006/main">
              <a:ext uri="{FF2B5EF4-FFF2-40B4-BE49-F238E27FC236}">
                <a16:creationId xmlns:a16="http://schemas.microsoft.com/office/drawing/2014/main" id="{69888624-1D88-4489-806A-00B5441B5B22}"/>
              </a:ext>
            </a:extLst>
          </p:cNvPr>
          <p:cNvSpPr>
            <a:spLocks xmlns:a="http://schemas.openxmlformats.org/drawingml/2006/main" noGrp="1"/>
          </p:cNvSpPr>
          <p:nvPr/>
        </p:nvSpPr>
        <p:spPr>
          <a:xfrm xmlns:a="http://schemas.openxmlformats.org/drawingml/2006/main">
            <a:off x="9525000" y="681037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One result: bytes at addresses 0, 1 and 2</a:t>
            </a:r>
          </a:p>
        </p:txBody>
      </p:sp>
      <p:sp>
        <p:nvSpPr>
          <p:cNvPr id="13" name="">
            <a:extLst xmlns:a="http://schemas.openxmlformats.org/drawingml/2006/main">
              <a:ext uri="{FF2B5EF4-FFF2-40B4-BE49-F238E27FC236}">
                <a16:creationId xmlns:a16="http://schemas.microsoft.com/office/drawing/2014/main" id="{23490E79-C0B7-4AE5-8474-3A16E686A708}"/>
              </a:ext>
            </a:extLst>
          </p:cNvPr>
          <p:cNvSpPr>
            <a:spLocks xmlns:a="http://schemas.openxmlformats.org/drawingml/2006/main" noGrp="1"/>
          </p:cNvSpPr>
          <p:nvPr/>
        </p:nvSpPr>
        <p:spPr>
          <a:xfrm xmlns:a="http://schemas.openxmlformats.org/drawingml/2006/main">
            <a:off x="1809750" y="8001000"/>
            <a:ext cx="1438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350" b="1">
                <a:solidFill>
                  <a:srgbClr val="F25903"/>
                </a:solidFill>
                <a:latin typeface="Inter Bold"/>
                <a:ea typeface="Inter Bold"/>
                <a:cs typeface="Inter Bold"/>
              </a:defRPr>
            </a:defPPr>
            <a:lvl1pPr>
              <a:defRPr sz="4350" b="1">
                <a:solidFill>
                  <a:srgbClr val="F25903"/>
                </a:solidFill>
                <a:latin typeface="Inter Bold"/>
                <a:ea typeface="Inter Bold"/>
                <a:cs typeface="Inter Bold"/>
              </a:defRPr>
            </a:lvl1pPr>
            <a:lvl2pPr>
              <a:defRPr sz="4350" b="1">
                <a:solidFill>
                  <a:srgbClr val="F25903"/>
                </a:solidFill>
                <a:latin typeface="Inter Bold"/>
                <a:ea typeface="Inter Bold"/>
                <a:cs typeface="Inter Bold"/>
              </a:defRPr>
            </a:lvl2pPr>
            <a:lvl3pPr>
              <a:defRPr sz="4350" b="1">
                <a:solidFill>
                  <a:srgbClr val="F25903"/>
                </a:solidFill>
                <a:latin typeface="Inter Bold"/>
                <a:ea typeface="Inter Bold"/>
                <a:cs typeface="Inter Bold"/>
              </a:defRPr>
            </a:lvl3pPr>
            <a:lvl4pPr>
              <a:defRPr sz="4350" b="1">
                <a:solidFill>
                  <a:srgbClr val="F25903"/>
                </a:solidFill>
                <a:latin typeface="Inter Bold"/>
                <a:ea typeface="Inter Bold"/>
                <a:cs typeface="Inter Bold"/>
              </a:defRPr>
            </a:lvl4pPr>
            <a:lvl5pPr>
              <a:defRPr sz="4350" b="1">
                <a:solidFill>
                  <a:srgbClr val="F25903"/>
                </a:solidFill>
                <a:latin typeface="Inter Bold"/>
                <a:ea typeface="Inter Bold"/>
                <a:cs typeface="Inter Bold"/>
              </a:defRPr>
            </a:lvl5pPr>
            <a:lvl6pPr>
              <a:defRPr sz="4350" b="1">
                <a:solidFill>
                  <a:srgbClr val="F25903"/>
                </a:solidFill>
                <a:latin typeface="Inter Bold"/>
                <a:ea typeface="Inter Bold"/>
                <a:cs typeface="Inter Bold"/>
              </a:defRPr>
            </a:lvl6pPr>
            <a:lvl7pPr>
              <a:defRPr sz="4350" b="1">
                <a:solidFill>
                  <a:srgbClr val="F25903"/>
                </a:solidFill>
                <a:latin typeface="Inter Bold"/>
                <a:ea typeface="Inter Bold"/>
                <a:cs typeface="Inter Bold"/>
              </a:defRPr>
            </a:lvl7pPr>
            <a:lvl8pPr>
              <a:defRPr sz="4350" b="1">
                <a:solidFill>
                  <a:srgbClr val="F25903"/>
                </a:solidFill>
                <a:latin typeface="Inter Bold"/>
                <a:ea typeface="Inter Bold"/>
                <a:cs typeface="Inter Bold"/>
              </a:defRPr>
            </a:lvl8pPr>
            <a:lvl9pPr>
              <a:defRPr sz="4350" b="1">
                <a:solidFill>
                  <a:srgbClr val="F25903"/>
                </a:solidFill>
                <a:latin typeface="Inter Bold"/>
                <a:ea typeface="Inter Bold"/>
                <a:cs typeface="Inter Bold"/>
              </a:defRPr>
            </a:lvl9pPr>
          </a:lstStyle>
          <a:p xmlns:a="http://schemas.openxmlformats.org/drawingml/2006/main">
            <a:pPr>
              <a:defRPr sz="4350" b="1">
                <a:solidFill>
                  <a:srgbClr val="F25903"/>
                </a:solidFill>
                <a:latin typeface="Inter Bold"/>
                <a:ea typeface="Inter Bold"/>
                <a:cs typeface="Inter Bold"/>
              </a:defRPr>
            </a:pPr>
            <a:r>
              <a:rPr sz="4350" b="1">
                <a:solidFill>
                  <a:srgbClr val="F25903"/>
                </a:solidFill>
                <a:latin typeface="Inter Bold"/>
                <a:ea typeface="Inter Bold"/>
                <a:cs typeface="Inter Bold"/>
              </a:rPr>
              <a:t>77% less result-memory area</a:t>
            </a:r>
          </a:p>
        </p:txBody>
      </p:sp>
      <p:sp>
        <p:nvSpPr>
          <p:cNvPr id="14" name="">
            <a:extLst xmlns:a="http://schemas.openxmlformats.org/drawingml/2006/main">
              <a:ext uri="{FF2B5EF4-FFF2-40B4-BE49-F238E27FC236}">
                <a16:creationId xmlns:a16="http://schemas.microsoft.com/office/drawing/2014/main" id="{3E7FD617-A7D3-4DD2-A142-08B0ED25CC2E}"/>
              </a:ext>
            </a:extLst>
          </p:cNvPr>
          <p:cNvSpPr>
            <a:spLocks xmlns:a="http://schemas.openxmlformats.org/drawingml/2006/main" noGrp="1"/>
          </p:cNvSpPr>
          <p:nvPr/>
        </p:nvSpPr>
        <p:spPr>
          <a:xfrm xmlns:a="http://schemas.openxmlformats.org/drawingml/2006/main">
            <a:off x="1809750" y="9096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0">
                <a:solidFill>
                  <a:srgbClr val="002B57"/>
                </a:solidFill>
                <a:latin typeface="Inter"/>
                <a:ea typeface="Inter"/>
                <a:cs typeface="Inter"/>
              </a:defRPr>
            </a:defPPr>
            <a:lvl1pPr>
              <a:defRPr sz="2775" b="0">
                <a:solidFill>
                  <a:srgbClr val="002B57"/>
                </a:solidFill>
                <a:latin typeface="Inter"/>
                <a:ea typeface="Inter"/>
                <a:cs typeface="Inter"/>
              </a:defRPr>
            </a:lvl1pPr>
            <a:lvl2pPr>
              <a:defRPr sz="2775" b="0">
                <a:solidFill>
                  <a:srgbClr val="002B57"/>
                </a:solidFill>
                <a:latin typeface="Inter"/>
                <a:ea typeface="Inter"/>
                <a:cs typeface="Inter"/>
              </a:defRPr>
            </a:lvl2pPr>
            <a:lvl3pPr>
              <a:defRPr sz="2775" b="0">
                <a:solidFill>
                  <a:srgbClr val="002B57"/>
                </a:solidFill>
                <a:latin typeface="Inter"/>
                <a:ea typeface="Inter"/>
                <a:cs typeface="Inter"/>
              </a:defRPr>
            </a:lvl3pPr>
            <a:lvl4pPr>
              <a:defRPr sz="2775" b="0">
                <a:solidFill>
                  <a:srgbClr val="002B57"/>
                </a:solidFill>
                <a:latin typeface="Inter"/>
                <a:ea typeface="Inter"/>
                <a:cs typeface="Inter"/>
              </a:defRPr>
            </a:lvl4pPr>
            <a:lvl5pPr>
              <a:defRPr sz="2775" b="0">
                <a:solidFill>
                  <a:srgbClr val="002B57"/>
                </a:solidFill>
                <a:latin typeface="Inter"/>
                <a:ea typeface="Inter"/>
                <a:cs typeface="Inter"/>
              </a:defRPr>
            </a:lvl5pPr>
            <a:lvl6pPr>
              <a:defRPr sz="2775" b="0">
                <a:solidFill>
                  <a:srgbClr val="002B57"/>
                </a:solidFill>
                <a:latin typeface="Inter"/>
                <a:ea typeface="Inter"/>
                <a:cs typeface="Inter"/>
              </a:defRPr>
            </a:lvl6pPr>
            <a:lvl7pPr>
              <a:defRPr sz="2775" b="0">
                <a:solidFill>
                  <a:srgbClr val="002B57"/>
                </a:solidFill>
                <a:latin typeface="Inter"/>
                <a:ea typeface="Inter"/>
                <a:cs typeface="Inter"/>
              </a:defRPr>
            </a:lvl7pPr>
            <a:lvl8pPr>
              <a:defRPr sz="2775" b="0">
                <a:solidFill>
                  <a:srgbClr val="002B57"/>
                </a:solidFill>
                <a:latin typeface="Inter"/>
                <a:ea typeface="Inter"/>
                <a:cs typeface="Inter"/>
              </a:defRPr>
            </a:lvl8pPr>
            <a:lvl9pPr>
              <a:defRPr sz="2775" b="0">
                <a:solidFill>
                  <a:srgbClr val="002B57"/>
                </a:solidFill>
                <a:latin typeface="Inter"/>
                <a:ea typeface="Inter"/>
                <a:cs typeface="Inter"/>
              </a:defRPr>
            </a:lvl9pPr>
          </a:lstStyle>
          <a:p xmlns:a="http://schemas.openxmlformats.org/drawingml/2006/main">
            <a:pPr>
              <a:defRPr sz="2775" b="0">
                <a:solidFill>
                  <a:srgbClr val="002B57"/>
                </a:solidFill>
                <a:latin typeface="Inter"/>
                <a:ea typeface="Inter"/>
                <a:cs typeface="Inter"/>
              </a:defRPr>
            </a:pPr>
            <a:r>
              <a:rPr sz="2775" b="0">
                <a:solidFill>
                  <a:srgbClr val="002B57"/>
                </a:solidFill>
                <a:latin typeface="Inter"/>
                <a:ea typeface="Inter"/>
                <a:cs typeface="Inter"/>
              </a:rPr>
              <a:t>Trade-off: saving all 16 results takes 48 cycles instead of 16.</a:t>
            </a:r>
          </a:p>
        </p:txBody>
      </p:sp>
      <p:sp>
        <p:nvSpPr>
          <p:cNvPr id="15" name="">
            <a:extLst xmlns:a="http://schemas.openxmlformats.org/drawingml/2006/main">
              <a:ext uri="{FF2B5EF4-FFF2-40B4-BE49-F238E27FC236}">
                <a16:creationId xmlns:a16="http://schemas.microsoft.com/office/drawing/2014/main" id="{8DEF9D8F-A4DA-4E3E-82BB-51F3C643294E}"/>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12</a:t>
            </a:r>
          </a:p>
        </p:txBody>
      </p:sp>
    </p:spTree>
    <p:extLst>
      <p:ext uri="{BB962C8B-B14F-4D97-AF65-F5344CB8AC3E}">
        <p14:creationId xmlns:p14="http://schemas.microsoft.com/office/powerpoint/2010/main" val="13254721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3801DB-DC6A-4552-92D9-B0B64A77CE52}"/>
              </a:ext>
            </a:extLst>
          </p:cNvPr>
          <p:cNvPicPr>
            <a:picLocks xmlns:a="http://schemas.openxmlformats.org/drawingml/2006/main" noChangeAspect="1"/>
          </p:cNvPicPr>
          <p:nvPr/>
        </p:nvPicPr>
        <p:blipFill>
          <a:blip xmlns:r="http://schemas.openxmlformats.org/officeDocument/2006/relationships" xmlns:a="http://schemas.openxmlformats.org/drawingml/2006/main" r:embed="R301d36db00d54f3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2B5FD7-DCD7-49FB-B9AB-EA128F3B101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214B19D3-8723-4B45-A86B-5C7587778153}"/>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4E02C053-A08A-47D7-B615-73DE68FB6186}"/>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Memory folding changes both write and read timing</a:t>
            </a:r>
          </a:p>
        </p:txBody>
      </p:sp>
      <p:graphicFrame>
        <p:nvGraphicFramePr>
          <p:cNvPr id="5" name="">
            <a:extLst xmlns:a="http://schemas.openxmlformats.org/drawingml/2006/main">
              <a:ext uri="{FF2B5EF4-FFF2-40B4-BE49-F238E27FC236}">
                <a16:creationId xmlns:a16="http://schemas.microsoft.com/office/drawing/2014/main" id="{1D75C65A-53CF-4B4E-98FD-CAEF494029B0}"/>
              </a:ext>
            </a:extLst>
          </p:cNvPr>
          <p:cNvGraphicFramePr/>
          <p:nvPr/>
        </p:nvGraphicFramePr>
        <p:xfrm>
          <a:off xmlns:a="http://schemas.openxmlformats.org/drawingml/2006/main" x="1809750" y="3952875"/>
          <a:ext xmlns:a="http://schemas.openxmlformats.org/drawingml/2006/main" cx="14097000" cy="2857500"/>
        </p:xfrm>
        <a:graphic xmlns:a="http://schemas.openxmlformats.org/drawingml/2006/main">
          <a:graphicData uri="http://schemas.openxmlformats.org/drawingml/2006/table">
            <a:tbl>
              <a:tblPr/>
              <a:tblGrid>
                <a:gridCol w="5238750"/>
                <a:gridCol w="3714750"/>
                <a:gridCol w="5143500"/>
              </a:tblGrid>
              <a:tr h="714375">
                <a:tc>
                  <a:txBody>
                    <a:bodyPr/>
                    <a:lstStyle/>
                    <a:p>
                      <a:r>
                        <a:rPr sz="2325" b="1">
                          <a:solidFill>
                            <a:srgbClr val="FFFFFF"/>
                          </a:solidFill>
                          <a:latin typeface="Inter Bold"/>
                          <a:ea typeface="Inter Bold"/>
                          <a:cs typeface="Inter Bold"/>
                        </a:rPr>
                        <a:t>Operation</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Earlier C memory</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Folded C memory</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714375">
                <a:tc>
                  <a:txBody>
                    <a:bodyPr/>
                    <a:lstStyle/>
                    <a:p>
                      <a:r>
                        <a:rPr sz="2325" b="0">
                          <a:solidFill>
                            <a:srgbClr val="002B57"/>
                          </a:solidFill>
                          <a:latin typeface="Inter"/>
                          <a:ea typeface="Inter"/>
                          <a:cs typeface="Inter"/>
                        </a:rPr>
                        <a:t>Write one 24-bit result</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3 bytes in parallel</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3 byte-plane accesses</a:t>
                      </a:r>
                    </a:p>
                  </a:txBody>
                  <a:tcPr marL="91440" marR="91440" marT="45720" marB="45720">
                    <a:lnR w="9525">
                      <a:solidFill>
                        <a:srgbClr val="D4DEE3"/>
                      </a:solidFill>
                      <a:prstDash val="solid"/>
                    </a:lnR>
                    <a:lnB w="9525">
                      <a:solidFill>
                        <a:srgbClr val="D4DEE3"/>
                      </a:solidFill>
                      <a:prstDash val="solid"/>
                    </a:lnB>
                    <a:solidFill>
                      <a:srgbClr val="FFFFFF"/>
                    </a:solidFill>
                  </a:tcPr>
                </a:tc>
              </a:tr>
              <a:tr h="714375">
                <a:tc>
                  <a:txBody>
                    <a:bodyPr/>
                    <a:lstStyle/>
                    <a:p>
                      <a:r>
                        <a:rPr sz="2325" b="0">
                          <a:solidFill>
                            <a:srgbClr val="002B57"/>
                          </a:solidFill>
                          <a:latin typeface="Inter"/>
                          <a:ea typeface="Inter"/>
                          <a:cs typeface="Inter"/>
                        </a:rPr>
                        <a:t>Write the full 16-result tile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16 cycles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48 cycles</a:t>
                      </a:r>
                    </a:p>
                  </a:txBody>
                  <a:tcPr marL="91440" marR="91440" marT="45720" marB="45720">
                    <a:lnR w="9525">
                      <a:solidFill>
                        <a:srgbClr val="D4DEE3"/>
                      </a:solidFill>
                      <a:prstDash val="solid"/>
                    </a:lnR>
                    <a:lnB w="9525">
                      <a:solidFill>
                        <a:srgbClr val="D4DEE3"/>
                      </a:solidFill>
                      <a:prstDash val="solid"/>
                    </a:lnB>
                    <a:solidFill>
                      <a:srgbClr val="FFFFFF"/>
                    </a:solidFill>
                  </a:tcPr>
                </a:tc>
              </a:tr>
              <a:tr h="714375">
                <a:tc>
                  <a:txBody>
                    <a:bodyPr/>
                    <a:lstStyle/>
                    <a:p>
                      <a:r>
                        <a:rPr sz="2325" b="0">
                          <a:solidFill>
                            <a:srgbClr val="002B57"/>
                          </a:solidFill>
                          <a:latin typeface="Inter"/>
                          <a:ea typeface="Inter"/>
                          <a:cs typeface="Inter"/>
                        </a:rPr>
                        <a:t>Read one 24-bit result</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Wide access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Assemble 3 bytes; valid on the 4th cycle</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08F90CB-7C3B-4DC0-BF63-9F93E16E6626}"/>
              </a:ext>
            </a:extLst>
          </p:cNvPr>
          <p:cNvSpPr>
            <a:spLocks xmlns:a="http://schemas.openxmlformats.org/drawingml/2006/main" noGrp="1"/>
          </p:cNvSpPr>
          <p:nvPr/>
        </p:nvSpPr>
        <p:spPr>
          <a:xfrm xmlns:a="http://schemas.openxmlformats.org/drawingml/2006/main">
            <a:off x="1809750" y="72866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75" b="1">
                <a:solidFill>
                  <a:srgbClr val="0E749A"/>
                </a:solidFill>
                <a:latin typeface="Inter Bold"/>
                <a:ea typeface="Inter Bold"/>
                <a:cs typeface="Inter Bold"/>
              </a:defRPr>
            </a:defPPr>
            <a:lvl1pPr>
              <a:defRPr sz="3375" b="1">
                <a:solidFill>
                  <a:srgbClr val="0E749A"/>
                </a:solidFill>
                <a:latin typeface="Inter Bold"/>
                <a:ea typeface="Inter Bold"/>
                <a:cs typeface="Inter Bold"/>
              </a:defRPr>
            </a:lvl1pPr>
            <a:lvl2pPr>
              <a:defRPr sz="3375" b="1">
                <a:solidFill>
                  <a:srgbClr val="0E749A"/>
                </a:solidFill>
                <a:latin typeface="Inter Bold"/>
                <a:ea typeface="Inter Bold"/>
                <a:cs typeface="Inter Bold"/>
              </a:defRPr>
            </a:lvl2pPr>
            <a:lvl3pPr>
              <a:defRPr sz="3375" b="1">
                <a:solidFill>
                  <a:srgbClr val="0E749A"/>
                </a:solidFill>
                <a:latin typeface="Inter Bold"/>
                <a:ea typeface="Inter Bold"/>
                <a:cs typeface="Inter Bold"/>
              </a:defRPr>
            </a:lvl3pPr>
            <a:lvl4pPr>
              <a:defRPr sz="3375" b="1">
                <a:solidFill>
                  <a:srgbClr val="0E749A"/>
                </a:solidFill>
                <a:latin typeface="Inter Bold"/>
                <a:ea typeface="Inter Bold"/>
                <a:cs typeface="Inter Bold"/>
              </a:defRPr>
            </a:lvl4pPr>
            <a:lvl5pPr>
              <a:defRPr sz="3375" b="1">
                <a:solidFill>
                  <a:srgbClr val="0E749A"/>
                </a:solidFill>
                <a:latin typeface="Inter Bold"/>
                <a:ea typeface="Inter Bold"/>
                <a:cs typeface="Inter Bold"/>
              </a:defRPr>
            </a:lvl5pPr>
            <a:lvl6pPr>
              <a:defRPr sz="3375" b="1">
                <a:solidFill>
                  <a:srgbClr val="0E749A"/>
                </a:solidFill>
                <a:latin typeface="Inter Bold"/>
                <a:ea typeface="Inter Bold"/>
                <a:cs typeface="Inter Bold"/>
              </a:defRPr>
            </a:lvl6pPr>
            <a:lvl7pPr>
              <a:defRPr sz="3375" b="1">
                <a:solidFill>
                  <a:srgbClr val="0E749A"/>
                </a:solidFill>
                <a:latin typeface="Inter Bold"/>
                <a:ea typeface="Inter Bold"/>
                <a:cs typeface="Inter Bold"/>
              </a:defRPr>
            </a:lvl7pPr>
            <a:lvl8pPr>
              <a:defRPr sz="3375" b="1">
                <a:solidFill>
                  <a:srgbClr val="0E749A"/>
                </a:solidFill>
                <a:latin typeface="Inter Bold"/>
                <a:ea typeface="Inter Bold"/>
                <a:cs typeface="Inter Bold"/>
              </a:defRPr>
            </a:lvl8pPr>
            <a:lvl9pPr>
              <a:defRPr sz="3375" b="1">
                <a:solidFill>
                  <a:srgbClr val="0E749A"/>
                </a:solidFill>
                <a:latin typeface="Inter Bold"/>
                <a:ea typeface="Inter Bold"/>
                <a:cs typeface="Inter Bold"/>
              </a:defRPr>
            </a:lvl9pPr>
          </a:lstStyle>
          <a:p xmlns:a="http://schemas.openxmlformats.org/drawingml/2006/main">
            <a:pPr>
              <a:defRPr sz="3375" b="1">
                <a:solidFill>
                  <a:srgbClr val="0E749A"/>
                </a:solidFill>
                <a:latin typeface="Inter Bold"/>
                <a:ea typeface="Inter Bold"/>
                <a:cs typeface="Inter Bold"/>
              </a:defRPr>
            </a:pPr>
            <a:r>
              <a:rPr sz="3375" b="1">
                <a:solidFill>
                  <a:srgbClr val="0E749A"/>
                </a:solidFill>
                <a:latin typeface="Inter Bold"/>
                <a:ea typeface="Inter Bold"/>
                <a:cs typeface="Inter Bold"/>
              </a:rPr>
              <a:t>Address = 3 × word + plane</a:t>
            </a:r>
          </a:p>
        </p:txBody>
      </p:sp>
      <p:sp>
        <p:nvSpPr>
          <p:cNvPr id="7" name="">
            <a:extLst xmlns:a="http://schemas.openxmlformats.org/drawingml/2006/main">
              <a:ext uri="{FF2B5EF4-FFF2-40B4-BE49-F238E27FC236}">
                <a16:creationId xmlns:a16="http://schemas.microsoft.com/office/drawing/2014/main" id="{0EB4DE7F-5AC4-4925-B981-D93CC9ED3CAF}"/>
              </a:ext>
            </a:extLst>
          </p:cNvPr>
          <p:cNvSpPr>
            <a:spLocks xmlns:a="http://schemas.openxmlformats.org/drawingml/2006/main" noGrp="1"/>
          </p:cNvSpPr>
          <p:nvPr/>
        </p:nvSpPr>
        <p:spPr>
          <a:xfrm xmlns:a="http://schemas.openxmlformats.org/drawingml/2006/main">
            <a:off x="1809750" y="81438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Word 0 uses addresses 0, 1, 2. Word 1 uses 3, 4, 5.</a:t>
            </a:r>
          </a:p>
        </p:txBody>
      </p:sp>
      <p:sp>
        <p:nvSpPr>
          <p:cNvPr id="8" name="">
            <a:extLst xmlns:a="http://schemas.openxmlformats.org/drawingml/2006/main">
              <a:ext uri="{FF2B5EF4-FFF2-40B4-BE49-F238E27FC236}">
                <a16:creationId xmlns:a16="http://schemas.microsoft.com/office/drawing/2014/main" id="{E0B9AA3C-53F5-4B65-A380-73C0AA450624}"/>
              </a:ext>
            </a:extLst>
          </p:cNvPr>
          <p:cNvSpPr>
            <a:spLocks xmlns:a="http://schemas.openxmlformats.org/drawingml/2006/main" noGrp="1"/>
          </p:cNvSpPr>
          <p:nvPr/>
        </p:nvSpPr>
        <p:spPr>
          <a:xfrm xmlns:a="http://schemas.openxmlformats.org/drawingml/2006/main">
            <a:off x="1809750" y="9096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Writes hold address and data until acknowledgement. A new read address restarts assembly.</a:t>
            </a:r>
          </a:p>
        </p:txBody>
      </p:sp>
      <p:sp>
        <p:nvSpPr>
          <p:cNvPr id="9" name="">
            <a:extLst xmlns:a="http://schemas.openxmlformats.org/drawingml/2006/main">
              <a:ext uri="{FF2B5EF4-FFF2-40B4-BE49-F238E27FC236}">
                <a16:creationId xmlns:a16="http://schemas.microsoft.com/office/drawing/2014/main" id="{DB03261D-CB9E-47E1-8CCA-EF6CF4CDCFCE}"/>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13</a:t>
            </a:r>
          </a:p>
        </p:txBody>
      </p:sp>
    </p:spTree>
    <p:extLst>
      <p:ext uri="{BB962C8B-B14F-4D97-AF65-F5344CB8AC3E}">
        <p14:creationId xmlns:p14="http://schemas.microsoft.com/office/powerpoint/2010/main" val="181799709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64E8DB1-790C-45C8-94EA-CFD0D9E51056}"/>
              </a:ext>
            </a:extLst>
          </p:cNvPr>
          <p:cNvPicPr>
            <a:picLocks xmlns:a="http://schemas.openxmlformats.org/drawingml/2006/main" noChangeAspect="1"/>
          </p:cNvPicPr>
          <p:nvPr/>
        </p:nvPicPr>
        <p:blipFill>
          <a:blip xmlns:r="http://schemas.openxmlformats.org/officeDocument/2006/relationships" xmlns:a="http://schemas.openxmlformats.org/drawingml/2006/main" r:embed="Red86b8fe9101448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BEDB94-7F07-41BE-BD82-CB26A9A6A4E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96CE298B-6A6D-41D2-8D43-D1C4DDF3F09B}"/>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75672826-4A26-4B59-8826-45CF8A02A44D}"/>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8-bit numbers balance image error and hardware size</a:t>
            </a:r>
          </a:p>
        </p:txBody>
      </p:sp>
      <p:sp>
        <p:nvSpPr>
          <p:cNvPr id="5" name="">
            <a:extLst xmlns:a="http://schemas.openxmlformats.org/drawingml/2006/main">
              <a:ext uri="{FF2B5EF4-FFF2-40B4-BE49-F238E27FC236}">
                <a16:creationId xmlns:a16="http://schemas.microsoft.com/office/drawing/2014/main" id="{2A157925-B95C-44FE-A311-69AF96FD93A3}"/>
              </a:ext>
            </a:extLst>
          </p:cNvPr>
          <p:cNvSpPr>
            <a:spLocks xmlns:a="http://schemas.openxmlformats.org/drawingml/2006/main" noGrp="1"/>
          </p:cNvSpPr>
          <p:nvPr/>
        </p:nvSpPr>
        <p:spPr>
          <a:xfrm xmlns:a="http://schemas.openxmlformats.org/drawingml/2006/main">
            <a:off x="1809750" y="381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INT8 means a signed 8-bit integer. Lower pixel error is better.</a:t>
            </a:r>
          </a:p>
        </p:txBody>
      </p:sp>
      <p:graphicFrame>
        <p:nvGraphicFramePr>
          <p:cNvPr id="6" name="">
            <a:extLst xmlns:a="http://schemas.openxmlformats.org/drawingml/2006/main">
              <a:ext uri="{FF2B5EF4-FFF2-40B4-BE49-F238E27FC236}">
                <a16:creationId xmlns:a16="http://schemas.microsoft.com/office/drawing/2014/main" id="{937A2203-F56B-4856-A14D-1E2A190C8D5F}"/>
              </a:ext>
            </a:extLst>
          </p:cNvPr>
          <p:cNvGraphicFramePr/>
          <p:nvPr/>
        </p:nvGraphicFramePr>
        <p:xfrm>
          <a:off xmlns:a="http://schemas.openxmlformats.org/drawingml/2006/main" x="1809750" y="4810125"/>
          <a:ext xmlns:a="http://schemas.openxmlformats.org/drawingml/2006/main" cx="14097000" cy="2952750"/>
        </p:xfrm>
        <a:graphic xmlns:a="http://schemas.openxmlformats.org/drawingml/2006/main">
          <a:graphicData uri="http://schemas.openxmlformats.org/drawingml/2006/table">
            <a:tbl>
              <a:tblPr/>
              <a:tblGrid>
                <a:gridCol w="3619500"/>
                <a:gridCol w="3714750"/>
                <a:gridCol w="3524250"/>
                <a:gridCol w="3238500"/>
              </a:tblGrid>
              <a:tr h="738188">
                <a:tc>
                  <a:txBody>
                    <a:bodyPr/>
                    <a:lstStyle/>
                    <a:p>
                      <a:r>
                        <a:rPr sz="2325" b="1">
                          <a:solidFill>
                            <a:srgbClr val="FFFFFF"/>
                          </a:solidFill>
                          <a:latin typeface="Inter Bold"/>
                          <a:ea typeface="Inter Bold"/>
                          <a:cs typeface="Inter Bold"/>
                        </a:rPr>
                        <a:t>Number format</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Mean pixel error</a:t>
                      </a:r>
                    </a:p>
                    <a:p>
                      <a:r>
                        <a:rPr sz="2325" b="1">
                          <a:solidFill>
                            <a:srgbClr val="FFFFFF"/>
                          </a:solidFill>
                          <a:latin typeface="Inter Bold"/>
                          <a:ea typeface="Inter Bold"/>
                          <a:cs typeface="Inter Bold"/>
                        </a:rPr>
                        <a:t>(gray levels)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Area of one PE</a:t>
                      </a:r>
                    </a:p>
                    <a:p>
                      <a:r>
                        <a:rPr sz="2325" b="1">
                          <a:solidFill>
                            <a:srgbClr val="FFFFFF"/>
                          </a:solidFill>
                          <a:latin typeface="Inter Bold"/>
                          <a:ea typeface="Inter Bold"/>
                          <a:cs typeface="Inter Bold"/>
                        </a:rPr>
                        <a:t>(µm²)</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Weight storage</a:t>
                      </a:r>
                    </a:p>
                    <a:p>
                      <a:r>
                        <a:rPr sz="2325" b="1">
                          <a:solidFill>
                            <a:srgbClr val="FFFFFF"/>
                          </a:solidFill>
                          <a:latin typeface="Inter Bold"/>
                          <a:ea typeface="Inter Bold"/>
                          <a:cs typeface="Inter Bold"/>
                        </a:rPr>
                        <a:t>(KiB)</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738188">
                <a:tc>
                  <a:txBody>
                    <a:bodyPr/>
                    <a:lstStyle/>
                    <a:p>
                      <a:r>
                        <a:rPr sz="2325" b="0">
                          <a:solidFill>
                            <a:srgbClr val="002B57"/>
                          </a:solidFill>
                          <a:latin typeface="Inter"/>
                          <a:ea typeface="Inter"/>
                          <a:cs typeface="Inter"/>
                        </a:rPr>
                        <a:t>INT4: 4 bits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22.26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6,245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138</a:t>
                      </a:r>
                    </a:p>
                  </a:txBody>
                  <a:tcPr marL="91440" marR="91440" marT="45720" marB="45720">
                    <a:lnR w="9525">
                      <a:solidFill>
                        <a:srgbClr val="D4DEE3"/>
                      </a:solidFill>
                      <a:prstDash val="solid"/>
                    </a:lnR>
                    <a:lnB w="9525">
                      <a:solidFill>
                        <a:srgbClr val="D4DEE3"/>
                      </a:solidFill>
                      <a:prstDash val="solid"/>
                    </a:lnB>
                    <a:solidFill>
                      <a:srgbClr val="FFFFFF"/>
                    </a:solidFill>
                  </a:tcPr>
                </a:tc>
              </a:tr>
              <a:tr h="738188">
                <a:tc>
                  <a:txBody>
                    <a:bodyPr/>
                    <a:lstStyle/>
                    <a:p>
                      <a:r>
                        <a:rPr sz="2325" b="1">
                          <a:solidFill>
                            <a:srgbClr val="002B57"/>
                          </a:solidFill>
                          <a:latin typeface="Inter Bold"/>
                          <a:ea typeface="Inter Bold"/>
                          <a:cs typeface="Inter Bold"/>
                        </a:rPr>
                        <a:t>INT8: 8 bits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1.22</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15,963</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276</a:t>
                      </a:r>
                    </a:p>
                  </a:txBody>
                  <a:tcPr marL="91440" marR="91440" marT="45720" marB="45720">
                    <a:lnR w="9525">
                      <a:solidFill>
                        <a:srgbClr val="D4DEE3"/>
                      </a:solidFill>
                      <a:prstDash val="solid"/>
                    </a:lnR>
                    <a:lnB w="9525">
                      <a:solidFill>
                        <a:srgbClr val="D4DEE3"/>
                      </a:solidFill>
                      <a:prstDash val="solid"/>
                    </a:lnB>
                    <a:solidFill>
                      <a:srgbClr val="E9F2F5"/>
                    </a:solidFill>
                  </a:tcPr>
                </a:tc>
              </a:tr>
              <a:tr h="738188">
                <a:tc>
                  <a:txBody>
                    <a:bodyPr/>
                    <a:lstStyle/>
                    <a:p>
                      <a:r>
                        <a:rPr sz="2325" b="0">
                          <a:solidFill>
                            <a:srgbClr val="002B57"/>
                          </a:solidFill>
                          <a:latin typeface="Inter"/>
                          <a:ea typeface="Inter"/>
                          <a:cs typeface="Inter"/>
                        </a:rPr>
                        <a:t>INT16: 16 bits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0.01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47,037</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552</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EA65FBF-4FDC-49CF-861B-33A2F7216BE5}"/>
              </a:ext>
            </a:extLst>
          </p:cNvPr>
          <p:cNvSpPr>
            <a:spLocks xmlns:a="http://schemas.openxmlformats.org/drawingml/2006/main" noGrp="1"/>
          </p:cNvSpPr>
          <p:nvPr/>
        </p:nvSpPr>
        <p:spPr>
          <a:xfrm xmlns:a="http://schemas.openxmlformats.org/drawingml/2006/main">
            <a:off x="1809750" y="8143875"/>
            <a:ext cx="1438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E749A"/>
                </a:solidFill>
                <a:latin typeface="Inter Bold"/>
                <a:ea typeface="Inter Bold"/>
                <a:cs typeface="Inter Bold"/>
              </a:defRPr>
            </a:defPPr>
            <a:lvl1pPr>
              <a:defRPr sz="3150" b="1">
                <a:solidFill>
                  <a:srgbClr val="0E749A"/>
                </a:solidFill>
                <a:latin typeface="Inter Bold"/>
                <a:ea typeface="Inter Bold"/>
                <a:cs typeface="Inter Bold"/>
              </a:defRPr>
            </a:lvl1pPr>
            <a:lvl2pPr>
              <a:defRPr sz="3150" b="1">
                <a:solidFill>
                  <a:srgbClr val="0E749A"/>
                </a:solidFill>
                <a:latin typeface="Inter Bold"/>
                <a:ea typeface="Inter Bold"/>
                <a:cs typeface="Inter Bold"/>
              </a:defRPr>
            </a:lvl2pPr>
            <a:lvl3pPr>
              <a:defRPr sz="3150" b="1">
                <a:solidFill>
                  <a:srgbClr val="0E749A"/>
                </a:solidFill>
                <a:latin typeface="Inter Bold"/>
                <a:ea typeface="Inter Bold"/>
                <a:cs typeface="Inter Bold"/>
              </a:defRPr>
            </a:lvl3pPr>
            <a:lvl4pPr>
              <a:defRPr sz="3150" b="1">
                <a:solidFill>
                  <a:srgbClr val="0E749A"/>
                </a:solidFill>
                <a:latin typeface="Inter Bold"/>
                <a:ea typeface="Inter Bold"/>
                <a:cs typeface="Inter Bold"/>
              </a:defRPr>
            </a:lvl4pPr>
            <a:lvl5pPr>
              <a:defRPr sz="3150" b="1">
                <a:solidFill>
                  <a:srgbClr val="0E749A"/>
                </a:solidFill>
                <a:latin typeface="Inter Bold"/>
                <a:ea typeface="Inter Bold"/>
                <a:cs typeface="Inter Bold"/>
              </a:defRPr>
            </a:lvl5pPr>
            <a:lvl6pPr>
              <a:defRPr sz="3150" b="1">
                <a:solidFill>
                  <a:srgbClr val="0E749A"/>
                </a:solidFill>
                <a:latin typeface="Inter Bold"/>
                <a:ea typeface="Inter Bold"/>
                <a:cs typeface="Inter Bold"/>
              </a:defRPr>
            </a:lvl6pPr>
            <a:lvl7pPr>
              <a:defRPr sz="3150" b="1">
                <a:solidFill>
                  <a:srgbClr val="0E749A"/>
                </a:solidFill>
                <a:latin typeface="Inter Bold"/>
                <a:ea typeface="Inter Bold"/>
                <a:cs typeface="Inter Bold"/>
              </a:defRPr>
            </a:lvl7pPr>
            <a:lvl8pPr>
              <a:defRPr sz="3150" b="1">
                <a:solidFill>
                  <a:srgbClr val="0E749A"/>
                </a:solidFill>
                <a:latin typeface="Inter Bold"/>
                <a:ea typeface="Inter Bold"/>
                <a:cs typeface="Inter Bold"/>
              </a:defRPr>
            </a:lvl8pPr>
            <a:lvl9pPr>
              <a:defRPr sz="3150" b="1">
                <a:solidFill>
                  <a:srgbClr val="0E749A"/>
                </a:solidFill>
                <a:latin typeface="Inter Bold"/>
                <a:ea typeface="Inter Bold"/>
                <a:cs typeface="Inter Bold"/>
              </a:defRPr>
            </a:lvl9pPr>
          </a:lstStyle>
          <a:p xmlns:a="http://schemas.openxmlformats.org/drawingml/2006/main">
            <a:pPr>
              <a:defRPr sz="3150" b="1">
                <a:solidFill>
                  <a:srgbClr val="0E749A"/>
                </a:solidFill>
                <a:latin typeface="Inter Bold"/>
                <a:ea typeface="Inter Bold"/>
                <a:cs typeface="Inter Bold"/>
              </a:defRPr>
            </a:pPr>
            <a:r>
              <a:rPr sz="3150" b="1">
                <a:solidFill>
                  <a:srgbClr val="0E749A"/>
                </a:solidFill>
                <a:latin typeface="Inter Bold"/>
                <a:ea typeface="Inter Bold"/>
                <a:cs typeface="Inter Bold"/>
              </a:rPr>
              <a:t>INT8 reduces error greatly versus INT4, with less area than INT16.</a:t>
            </a:r>
          </a:p>
        </p:txBody>
      </p:sp>
      <p:sp>
        <p:nvSpPr>
          <p:cNvPr id="8" name="">
            <a:extLst xmlns:a="http://schemas.openxmlformats.org/drawingml/2006/main">
              <a:ext uri="{FF2B5EF4-FFF2-40B4-BE49-F238E27FC236}">
                <a16:creationId xmlns:a16="http://schemas.microsoft.com/office/drawing/2014/main" id="{1621F537-E34F-4769-B7E6-A35BF3598831}"/>
              </a:ext>
            </a:extLst>
          </p:cNvPr>
          <p:cNvSpPr>
            <a:spLocks xmlns:a="http://schemas.openxmlformats.org/drawingml/2006/main" noGrp="1"/>
          </p:cNvSpPr>
          <p:nvPr/>
        </p:nvSpPr>
        <p:spPr>
          <a:xfrm xmlns:a="http://schemas.openxmlformats.org/drawingml/2006/main">
            <a:off x="1809750" y="9382125"/>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0">
                <a:solidFill>
                  <a:srgbClr val="566675"/>
                </a:solidFill>
                <a:latin typeface="Inter"/>
                <a:ea typeface="Inter"/>
                <a:cs typeface="Inter"/>
              </a:defRPr>
            </a:defPPr>
            <a:lvl1pPr>
              <a:defRPr sz="1950" b="0">
                <a:solidFill>
                  <a:srgbClr val="566675"/>
                </a:solidFill>
                <a:latin typeface="Inter"/>
                <a:ea typeface="Inter"/>
                <a:cs typeface="Inter"/>
              </a:defRPr>
            </a:lvl1pPr>
            <a:lvl2pPr>
              <a:defRPr sz="1950" b="0">
                <a:solidFill>
                  <a:srgbClr val="566675"/>
                </a:solidFill>
                <a:latin typeface="Inter"/>
                <a:ea typeface="Inter"/>
                <a:cs typeface="Inter"/>
              </a:defRPr>
            </a:lvl2pPr>
            <a:lvl3pPr>
              <a:defRPr sz="1950" b="0">
                <a:solidFill>
                  <a:srgbClr val="566675"/>
                </a:solidFill>
                <a:latin typeface="Inter"/>
                <a:ea typeface="Inter"/>
                <a:cs typeface="Inter"/>
              </a:defRPr>
            </a:lvl3pPr>
            <a:lvl4pPr>
              <a:defRPr sz="1950" b="0">
                <a:solidFill>
                  <a:srgbClr val="566675"/>
                </a:solidFill>
                <a:latin typeface="Inter"/>
                <a:ea typeface="Inter"/>
                <a:cs typeface="Inter"/>
              </a:defRPr>
            </a:lvl4pPr>
            <a:lvl5pPr>
              <a:defRPr sz="1950" b="0">
                <a:solidFill>
                  <a:srgbClr val="566675"/>
                </a:solidFill>
                <a:latin typeface="Inter"/>
                <a:ea typeface="Inter"/>
                <a:cs typeface="Inter"/>
              </a:defRPr>
            </a:lvl5pPr>
            <a:lvl6pPr>
              <a:defRPr sz="1950" b="0">
                <a:solidFill>
                  <a:srgbClr val="566675"/>
                </a:solidFill>
                <a:latin typeface="Inter"/>
                <a:ea typeface="Inter"/>
                <a:cs typeface="Inter"/>
              </a:defRPr>
            </a:lvl6pPr>
            <a:lvl7pPr>
              <a:defRPr sz="1950" b="0">
                <a:solidFill>
                  <a:srgbClr val="566675"/>
                </a:solidFill>
                <a:latin typeface="Inter"/>
                <a:ea typeface="Inter"/>
                <a:cs typeface="Inter"/>
              </a:defRPr>
            </a:lvl7pPr>
            <a:lvl8pPr>
              <a:defRPr sz="1950" b="0">
                <a:solidFill>
                  <a:srgbClr val="566675"/>
                </a:solidFill>
                <a:latin typeface="Inter"/>
                <a:ea typeface="Inter"/>
                <a:cs typeface="Inter"/>
              </a:defRPr>
            </a:lvl8pPr>
            <a:lvl9pPr>
              <a:defRPr sz="1950" b="0">
                <a:solidFill>
                  <a:srgbClr val="566675"/>
                </a:solidFill>
                <a:latin typeface="Inter"/>
                <a:ea typeface="Inter"/>
                <a:cs typeface="Inter"/>
              </a:defRPr>
            </a:lvl9pPr>
          </a:lstStyle>
          <a:p xmlns:a="http://schemas.openxmlformats.org/drawingml/2006/main">
            <a:pPr>
              <a:defRPr sz="1950" b="0">
                <a:solidFill>
                  <a:srgbClr val="566675"/>
                </a:solidFill>
                <a:latin typeface="Inter"/>
                <a:ea typeface="Inter"/>
                <a:cs typeface="Inter"/>
              </a:defRPr>
            </a:pPr>
            <a:r>
              <a:rPr sz="1950" b="0">
                <a:solidFill>
                  <a:srgbClr val="566675"/>
                </a:solidFill>
                <a:latin typeface="Inter"/>
                <a:ea typeface="Inter"/>
                <a:cs typeface="Inter"/>
              </a:rPr>
              <a:t>Test: 10 inputs and 7,840 pixels against an FP64 reference. This measures pixel error.</a:t>
            </a:r>
          </a:p>
        </p:txBody>
      </p:sp>
      <p:sp>
        <p:nvSpPr>
          <p:cNvPr id="9" name="">
            <a:extLst xmlns:a="http://schemas.openxmlformats.org/drawingml/2006/main">
              <a:ext uri="{FF2B5EF4-FFF2-40B4-BE49-F238E27FC236}">
                <a16:creationId xmlns:a16="http://schemas.microsoft.com/office/drawing/2014/main" id="{E98812BC-9E9F-4091-BEC8-BEE2345C7470}"/>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14</a:t>
            </a:r>
          </a:p>
        </p:txBody>
      </p:sp>
    </p:spTree>
    <p:extLst>
      <p:ext uri="{BB962C8B-B14F-4D97-AF65-F5344CB8AC3E}">
        <p14:creationId xmlns:p14="http://schemas.microsoft.com/office/powerpoint/2010/main" val="39236687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6C9C073-16E9-451C-8066-47A4E33DC916}"/>
              </a:ext>
            </a:extLst>
          </p:cNvPr>
          <p:cNvPicPr>
            <a:picLocks xmlns:a="http://schemas.openxmlformats.org/drawingml/2006/main" noChangeAspect="1"/>
          </p:cNvPicPr>
          <p:nvPr/>
        </p:nvPicPr>
        <p:blipFill>
          <a:blip xmlns:r="http://schemas.openxmlformats.org/officeDocument/2006/relationships" xmlns:a="http://schemas.openxmlformats.org/drawingml/2006/main" r:embed="R45c03c8e53cb412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2F57DD-AF1E-43B0-A024-CA4426079391}"/>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A1D71DDE-A822-452A-B850-CB62D926F7CD}"/>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E2FF4640-7663-4F2D-8D7D-819E2C867B47}"/>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Quantized dot products become pixels through the host</a:t>
            </a:r>
          </a:p>
        </p:txBody>
      </p:sp>
      <p:sp>
        <p:nvSpPr>
          <p:cNvPr id="5" name="">
            <a:extLst xmlns:a="http://schemas.openxmlformats.org/drawingml/2006/main">
              <a:ext uri="{FF2B5EF4-FFF2-40B4-BE49-F238E27FC236}">
                <a16:creationId xmlns:a16="http://schemas.microsoft.com/office/drawing/2014/main" id="{53CB70FA-C4E9-409E-A433-5827A9370A98}"/>
              </a:ext>
            </a:extLst>
          </p:cNvPr>
          <p:cNvSpPr>
            <a:spLocks xmlns:a="http://schemas.openxmlformats.org/drawingml/2006/main" noGrp="1"/>
          </p:cNvSpPr>
          <p:nvPr/>
        </p:nvSpPr>
        <p:spPr>
          <a:xfrm xmlns:a="http://schemas.openxmlformats.org/drawingml/2006/main">
            <a:off x="1809750" y="4000500"/>
            <a:ext cx="40005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HOST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Quantize weights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and tile inputs</a:t>
            </a:r>
          </a:p>
        </p:txBody>
      </p:sp>
      <p:sp>
        <p:nvSpPr>
          <p:cNvPr id="6" name="">
            <a:extLst xmlns:a="http://schemas.openxmlformats.org/drawingml/2006/main">
              <a:ext uri="{FF2B5EF4-FFF2-40B4-BE49-F238E27FC236}">
                <a16:creationId xmlns:a16="http://schemas.microsoft.com/office/drawing/2014/main" id="{F3B45AAE-14B0-46BD-AB99-88ABA8757B2B}"/>
              </a:ext>
            </a:extLst>
          </p:cNvPr>
          <p:cNvSpPr>
            <a:spLocks xmlns:a="http://schemas.openxmlformats.org/drawingml/2006/main" noGrp="1"/>
          </p:cNvSpPr>
          <p:nvPr/>
        </p:nvSpPr>
        <p:spPr>
          <a:xfrm xmlns:a="http://schemas.openxmlformats.org/drawingml/2006/main">
            <a:off x="598170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BD6FFCD9-F781-4185-A505-17224393F824}"/>
              </a:ext>
            </a:extLst>
          </p:cNvPr>
          <p:cNvSpPr>
            <a:spLocks xmlns:a="http://schemas.openxmlformats.org/drawingml/2006/main" noGrp="1"/>
          </p:cNvSpPr>
          <p:nvPr/>
        </p:nvSpPr>
        <p:spPr>
          <a:xfrm xmlns:a="http://schemas.openxmlformats.org/drawingml/2006/main">
            <a:off x="6762750" y="4000500"/>
            <a:ext cx="4476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DLA ENGINE</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INT8 products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24-bit sums</a:t>
            </a:r>
          </a:p>
        </p:txBody>
      </p:sp>
      <p:sp>
        <p:nvSpPr>
          <p:cNvPr id="8" name="">
            <a:extLst xmlns:a="http://schemas.openxmlformats.org/drawingml/2006/main">
              <a:ext uri="{FF2B5EF4-FFF2-40B4-BE49-F238E27FC236}">
                <a16:creationId xmlns:a16="http://schemas.microsoft.com/office/drawing/2014/main" id="{DDDC1621-F7DE-4B9D-8ABA-EB1BED2108B2}"/>
              </a:ext>
            </a:extLst>
          </p:cNvPr>
          <p:cNvSpPr>
            <a:spLocks xmlns:a="http://schemas.openxmlformats.org/drawingml/2006/main" noGrp="1"/>
          </p:cNvSpPr>
          <p:nvPr/>
        </p:nvSpPr>
        <p:spPr>
          <a:xfrm xmlns:a="http://schemas.openxmlformats.org/drawingml/2006/main">
            <a:off x="1141095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9" name="">
            <a:extLst xmlns:a="http://schemas.openxmlformats.org/drawingml/2006/main">
              <a:ext uri="{FF2B5EF4-FFF2-40B4-BE49-F238E27FC236}">
                <a16:creationId xmlns:a16="http://schemas.microsoft.com/office/drawing/2014/main" id="{B080BA1E-2D63-41C1-981F-2AB674075212}"/>
              </a:ext>
            </a:extLst>
          </p:cNvPr>
          <p:cNvSpPr>
            <a:spLocks xmlns:a="http://schemas.openxmlformats.org/drawingml/2006/main" noGrp="1"/>
          </p:cNvSpPr>
          <p:nvPr/>
        </p:nvSpPr>
        <p:spPr>
          <a:xfrm xmlns:a="http://schemas.openxmlformats.org/drawingml/2006/main">
            <a:off x="12192000" y="4000500"/>
            <a:ext cx="40005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HOST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Rescale, add bias</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and apply activation</a:t>
            </a:r>
          </a:p>
        </p:txBody>
      </p:sp>
      <p:sp>
        <p:nvSpPr>
          <p:cNvPr id="10" name="">
            <a:extLst xmlns:a="http://schemas.openxmlformats.org/drawingml/2006/main">
              <a:ext uri="{FF2B5EF4-FFF2-40B4-BE49-F238E27FC236}">
                <a16:creationId xmlns:a16="http://schemas.microsoft.com/office/drawing/2014/main" id="{783A6AA1-E002-421A-A484-7AD78D590A20}"/>
              </a:ext>
            </a:extLst>
          </p:cNvPr>
          <p:cNvSpPr>
            <a:spLocks xmlns:a="http://schemas.openxmlformats.org/drawingml/2006/main" noGrp="1"/>
          </p:cNvSpPr>
          <p:nvPr/>
        </p:nvSpPr>
        <p:spPr>
          <a:xfrm xmlns:a="http://schemas.openxmlformats.org/drawingml/2006/main">
            <a:off x="1809750" y="6191250"/>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E749A"/>
                </a:solidFill>
                <a:latin typeface="Inter Bold"/>
                <a:ea typeface="Inter Bold"/>
                <a:cs typeface="Inter Bold"/>
              </a:defRPr>
            </a:defPPr>
            <a:lvl1pPr>
              <a:defRPr sz="2775" b="1">
                <a:solidFill>
                  <a:srgbClr val="0E749A"/>
                </a:solidFill>
                <a:latin typeface="Inter Bold"/>
                <a:ea typeface="Inter Bold"/>
                <a:cs typeface="Inter Bold"/>
              </a:defRPr>
            </a:lvl1pPr>
            <a:lvl2pPr>
              <a:defRPr sz="2775" b="1">
                <a:solidFill>
                  <a:srgbClr val="0E749A"/>
                </a:solidFill>
                <a:latin typeface="Inter Bold"/>
                <a:ea typeface="Inter Bold"/>
                <a:cs typeface="Inter Bold"/>
              </a:defRPr>
            </a:lvl2pPr>
            <a:lvl3pPr>
              <a:defRPr sz="2775" b="1">
                <a:solidFill>
                  <a:srgbClr val="0E749A"/>
                </a:solidFill>
                <a:latin typeface="Inter Bold"/>
                <a:ea typeface="Inter Bold"/>
                <a:cs typeface="Inter Bold"/>
              </a:defRPr>
            </a:lvl3pPr>
            <a:lvl4pPr>
              <a:defRPr sz="2775" b="1">
                <a:solidFill>
                  <a:srgbClr val="0E749A"/>
                </a:solidFill>
                <a:latin typeface="Inter Bold"/>
                <a:ea typeface="Inter Bold"/>
                <a:cs typeface="Inter Bold"/>
              </a:defRPr>
            </a:lvl4pPr>
            <a:lvl5pPr>
              <a:defRPr sz="2775" b="1">
                <a:solidFill>
                  <a:srgbClr val="0E749A"/>
                </a:solidFill>
                <a:latin typeface="Inter Bold"/>
                <a:ea typeface="Inter Bold"/>
                <a:cs typeface="Inter Bold"/>
              </a:defRPr>
            </a:lvl5pPr>
            <a:lvl6pPr>
              <a:defRPr sz="2775" b="1">
                <a:solidFill>
                  <a:srgbClr val="0E749A"/>
                </a:solidFill>
                <a:latin typeface="Inter Bold"/>
                <a:ea typeface="Inter Bold"/>
                <a:cs typeface="Inter Bold"/>
              </a:defRPr>
            </a:lvl6pPr>
            <a:lvl7pPr>
              <a:defRPr sz="2775" b="1">
                <a:solidFill>
                  <a:srgbClr val="0E749A"/>
                </a:solidFill>
                <a:latin typeface="Inter Bold"/>
                <a:ea typeface="Inter Bold"/>
                <a:cs typeface="Inter Bold"/>
              </a:defRPr>
            </a:lvl7pPr>
            <a:lvl8pPr>
              <a:defRPr sz="2775" b="1">
                <a:solidFill>
                  <a:srgbClr val="0E749A"/>
                </a:solidFill>
                <a:latin typeface="Inter Bold"/>
                <a:ea typeface="Inter Bold"/>
                <a:cs typeface="Inter Bold"/>
              </a:defRPr>
            </a:lvl8pPr>
            <a:lvl9pPr>
              <a:defRPr sz="2775" b="1">
                <a:solidFill>
                  <a:srgbClr val="0E749A"/>
                </a:solidFill>
                <a:latin typeface="Inter Bold"/>
                <a:ea typeface="Inter Bold"/>
                <a:cs typeface="Inter Bold"/>
              </a:defRPr>
            </a:lvl9pPr>
          </a:lstStyle>
          <a:p xmlns:a="http://schemas.openxmlformats.org/drawingml/2006/main">
            <a:pPr>
              <a:defRPr sz="2775" b="1">
                <a:solidFill>
                  <a:srgbClr val="0E749A"/>
                </a:solidFill>
                <a:latin typeface="Inter Bold"/>
                <a:ea typeface="Inter Bold"/>
                <a:cs typeface="Inter Bold"/>
              </a:defRPr>
            </a:pPr>
            <a:r>
              <a:rPr sz="2775" b="1">
                <a:solidFill>
                  <a:srgbClr val="0E749A"/>
                </a:solidFill>
                <a:latin typeface="Inter Bold"/>
                <a:ea typeface="Inter Bold"/>
                <a:cs typeface="Inter Bold"/>
              </a:rPr>
              <a:t>One scale per tensor comes from its maximum absolute value.</a:t>
            </a:r>
          </a:p>
        </p:txBody>
      </p:sp>
      <p:sp>
        <p:nvSpPr>
          <p:cNvPr id="11" name="">
            <a:extLst xmlns:a="http://schemas.openxmlformats.org/drawingml/2006/main">
              <a:ext uri="{FF2B5EF4-FFF2-40B4-BE49-F238E27FC236}">
                <a16:creationId xmlns:a16="http://schemas.microsoft.com/office/drawing/2014/main" id="{E2B91FEE-8C22-4BB1-807B-A096BDBBF6A8}"/>
              </a:ext>
            </a:extLst>
          </p:cNvPr>
          <p:cNvSpPr>
            <a:spLocks xmlns:a="http://schemas.openxmlformats.org/drawingml/2006/main" noGrp="1"/>
          </p:cNvSpPr>
          <p:nvPr/>
        </p:nvSpPr>
        <p:spPr>
          <a:xfrm xmlns:a="http://schemas.openxmlformats.org/drawingml/2006/main">
            <a:off x="1809750" y="7239000"/>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Hidden layers: rescale + bias + ReLU, then requantize to INT8.</a:t>
            </a:r>
          </a:p>
        </p:txBody>
      </p:sp>
      <p:sp>
        <p:nvSpPr>
          <p:cNvPr id="12" name="">
            <a:extLst xmlns:a="http://schemas.openxmlformats.org/drawingml/2006/main">
              <a:ext uri="{FF2B5EF4-FFF2-40B4-BE49-F238E27FC236}">
                <a16:creationId xmlns:a16="http://schemas.microsoft.com/office/drawing/2014/main" id="{63DBB621-1F79-4145-B975-E64DDD732E57}"/>
              </a:ext>
            </a:extLst>
          </p:cNvPr>
          <p:cNvSpPr>
            <a:spLocks xmlns:a="http://schemas.openxmlformats.org/drawingml/2006/main" noGrp="1"/>
          </p:cNvSpPr>
          <p:nvPr/>
        </p:nvSpPr>
        <p:spPr>
          <a:xfrm xmlns:a="http://schemas.openxmlformats.org/drawingml/2006/main">
            <a:off x="1809750" y="8143875"/>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Output layer: fixed-point conversion + tanh lookup, then grayscale pixels.</a:t>
            </a:r>
          </a:p>
        </p:txBody>
      </p:sp>
      <p:sp>
        <p:nvSpPr>
          <p:cNvPr id="13" name="">
            <a:extLst xmlns:a="http://schemas.openxmlformats.org/drawingml/2006/main">
              <a:ext uri="{FF2B5EF4-FFF2-40B4-BE49-F238E27FC236}">
                <a16:creationId xmlns:a16="http://schemas.microsoft.com/office/drawing/2014/main" id="{180083D3-866B-4E2E-897D-640DD548077A}"/>
              </a:ext>
            </a:extLst>
          </p:cNvPr>
          <p:cNvSpPr>
            <a:spLocks xmlns:a="http://schemas.openxmlformats.org/drawingml/2006/main" noGrp="1"/>
          </p:cNvSpPr>
          <p:nvPr/>
        </p:nvSpPr>
        <p:spPr>
          <a:xfrm xmlns:a="http://schemas.openxmlformats.org/drawingml/2006/main">
            <a:off x="1809750" y="9382125"/>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0">
                <a:solidFill>
                  <a:srgbClr val="566675"/>
                </a:solidFill>
                <a:latin typeface="Inter"/>
                <a:ea typeface="Inter"/>
                <a:cs typeface="Inter"/>
              </a:defRPr>
            </a:defPPr>
            <a:lvl1pPr>
              <a:defRPr sz="2025" b="0">
                <a:solidFill>
                  <a:srgbClr val="566675"/>
                </a:solidFill>
                <a:latin typeface="Inter"/>
                <a:ea typeface="Inter"/>
                <a:cs typeface="Inter"/>
              </a:defRPr>
            </a:lvl1pPr>
            <a:lvl2pPr>
              <a:defRPr sz="2025" b="0">
                <a:solidFill>
                  <a:srgbClr val="566675"/>
                </a:solidFill>
                <a:latin typeface="Inter"/>
                <a:ea typeface="Inter"/>
                <a:cs typeface="Inter"/>
              </a:defRPr>
            </a:lvl2pPr>
            <a:lvl3pPr>
              <a:defRPr sz="2025" b="0">
                <a:solidFill>
                  <a:srgbClr val="566675"/>
                </a:solidFill>
                <a:latin typeface="Inter"/>
                <a:ea typeface="Inter"/>
                <a:cs typeface="Inter"/>
              </a:defRPr>
            </a:lvl3pPr>
            <a:lvl4pPr>
              <a:defRPr sz="2025" b="0">
                <a:solidFill>
                  <a:srgbClr val="566675"/>
                </a:solidFill>
                <a:latin typeface="Inter"/>
                <a:ea typeface="Inter"/>
                <a:cs typeface="Inter"/>
              </a:defRPr>
            </a:lvl4pPr>
            <a:lvl5pPr>
              <a:defRPr sz="2025" b="0">
                <a:solidFill>
                  <a:srgbClr val="566675"/>
                </a:solidFill>
                <a:latin typeface="Inter"/>
                <a:ea typeface="Inter"/>
                <a:cs typeface="Inter"/>
              </a:defRPr>
            </a:lvl5pPr>
            <a:lvl6pPr>
              <a:defRPr sz="2025" b="0">
                <a:solidFill>
                  <a:srgbClr val="566675"/>
                </a:solidFill>
                <a:latin typeface="Inter"/>
                <a:ea typeface="Inter"/>
                <a:cs typeface="Inter"/>
              </a:defRPr>
            </a:lvl6pPr>
            <a:lvl7pPr>
              <a:defRPr sz="2025" b="0">
                <a:solidFill>
                  <a:srgbClr val="566675"/>
                </a:solidFill>
                <a:latin typeface="Inter"/>
                <a:ea typeface="Inter"/>
                <a:cs typeface="Inter"/>
              </a:defRPr>
            </a:lvl7pPr>
            <a:lvl8pPr>
              <a:defRPr sz="2025" b="0">
                <a:solidFill>
                  <a:srgbClr val="566675"/>
                </a:solidFill>
                <a:latin typeface="Inter"/>
                <a:ea typeface="Inter"/>
                <a:cs typeface="Inter"/>
              </a:defRPr>
            </a:lvl8pPr>
            <a:lvl9pPr>
              <a:defRPr sz="2025" b="0">
                <a:solidFill>
                  <a:srgbClr val="566675"/>
                </a:solidFill>
                <a:latin typeface="Inter"/>
                <a:ea typeface="Inter"/>
                <a:cs typeface="Inter"/>
              </a:defRPr>
            </a:lvl9pPr>
          </a:lstStyle>
          <a:p xmlns:a="http://schemas.openxmlformats.org/drawingml/2006/main">
            <a:pPr>
              <a:defRPr sz="2025" b="0">
                <a:solidFill>
                  <a:srgbClr val="566675"/>
                </a:solidFill>
                <a:latin typeface="Inter"/>
                <a:ea typeface="Inter"/>
                <a:cs typeface="Inter"/>
              </a:defRPr>
            </a:pPr>
            <a:r>
              <a:rPr sz="2025" b="0">
                <a:solidFill>
                  <a:srgbClr val="566675"/>
                </a:solidFill>
                <a:latin typeface="Inter"/>
                <a:ea typeface="Inter"/>
                <a:cs typeface="Inter"/>
              </a:rPr>
              <a:t>Seven testbenches pass, including full-image and serial routed-netlist simulations.</a:t>
            </a:r>
          </a:p>
        </p:txBody>
      </p:sp>
      <p:sp>
        <p:nvSpPr>
          <p:cNvPr id="14" name="">
            <a:extLst xmlns:a="http://schemas.openxmlformats.org/drawingml/2006/main">
              <a:ext uri="{FF2B5EF4-FFF2-40B4-BE49-F238E27FC236}">
                <a16:creationId xmlns:a16="http://schemas.microsoft.com/office/drawing/2014/main" id="{F33408B0-352C-4B35-A9FA-9C6AFBCC9D20}"/>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15</a:t>
            </a:r>
          </a:p>
        </p:txBody>
      </p:sp>
    </p:spTree>
    <p:extLst>
      <p:ext uri="{BB962C8B-B14F-4D97-AF65-F5344CB8AC3E}">
        <p14:creationId xmlns:p14="http://schemas.microsoft.com/office/powerpoint/2010/main" val="168684018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6283859-36A9-4BD2-BB5A-7D3408B35BA0}"/>
              </a:ext>
            </a:extLst>
          </p:cNvPr>
          <p:cNvPicPr>
            <a:picLocks xmlns:a="http://schemas.openxmlformats.org/drawingml/2006/main" noChangeAspect="1"/>
          </p:cNvPicPr>
          <p:nvPr/>
        </p:nvPicPr>
        <p:blipFill>
          <a:blip xmlns:r="http://schemas.openxmlformats.org/officeDocument/2006/relationships" xmlns:a="http://schemas.openxmlformats.org/drawingml/2006/main" r:embed="R2327e35bcfb4486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07D4E20-B678-4015-ABDC-6817D811DF96}"/>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C33FF855-F7C2-4CE3-8940-EFC7F5C4FF3B}"/>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9CE98B8F-CDF9-47A6-9A4F-A39486AB1D63}"/>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A four-wire bridge fits the available chip pads</a:t>
            </a:r>
          </a:p>
        </p:txBody>
      </p:sp>
      <p:sp>
        <p:nvSpPr>
          <p:cNvPr id="5" name="">
            <a:extLst xmlns:a="http://schemas.openxmlformats.org/drawingml/2006/main">
              <a:ext uri="{FF2B5EF4-FFF2-40B4-BE49-F238E27FC236}">
                <a16:creationId xmlns:a16="http://schemas.microsoft.com/office/drawing/2014/main" id="{8B0FCE6E-8F60-440A-8745-377BA20D8064}"/>
              </a:ext>
            </a:extLst>
          </p:cNvPr>
          <p:cNvSpPr>
            <a:spLocks xmlns:a="http://schemas.openxmlformats.org/drawingml/2006/main" noGrp="1"/>
          </p:cNvSpPr>
          <p:nvPr/>
        </p:nvSpPr>
        <p:spPr>
          <a:xfrm xmlns:a="http://schemas.openxmlformats.org/drawingml/2006/main">
            <a:off x="1809750" y="4000500"/>
            <a:ext cx="4191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HOST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SCLK, MOSI, CS_N</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MISO returns data</a:t>
            </a:r>
          </a:p>
        </p:txBody>
      </p:sp>
      <p:sp>
        <p:nvSpPr>
          <p:cNvPr id="6" name="">
            <a:extLst xmlns:a="http://schemas.openxmlformats.org/drawingml/2006/main">
              <a:ext uri="{FF2B5EF4-FFF2-40B4-BE49-F238E27FC236}">
                <a16:creationId xmlns:a16="http://schemas.microsoft.com/office/drawing/2014/main" id="{A980A00A-FF6A-4A64-9FEB-671D6EDFCB86}"/>
              </a:ext>
            </a:extLst>
          </p:cNvPr>
          <p:cNvSpPr>
            <a:spLocks xmlns:a="http://schemas.openxmlformats.org/drawingml/2006/main" noGrp="1"/>
          </p:cNvSpPr>
          <p:nvPr/>
        </p:nvSpPr>
        <p:spPr>
          <a:xfrm xmlns:a="http://schemas.openxmlformats.org/drawingml/2006/main">
            <a:off x="617220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17CA72B3-C0DB-46B5-8F0B-2AA35E973240}"/>
              </a:ext>
            </a:extLst>
          </p:cNvPr>
          <p:cNvSpPr>
            <a:spLocks xmlns:a="http://schemas.openxmlformats.org/drawingml/2006/main" noGrp="1"/>
          </p:cNvSpPr>
          <p:nvPr/>
        </p:nvSpPr>
        <p:spPr>
          <a:xfrm xmlns:a="http://schemas.openxmlformats.org/drawingml/2006/main">
            <a:off x="6953250" y="4000500"/>
            <a:ext cx="4095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SYNCHRONIZED</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SERIAL BRIDGE</a:t>
            </a:r>
          </a:p>
        </p:txBody>
      </p:sp>
      <p:sp>
        <p:nvSpPr>
          <p:cNvPr id="8" name="">
            <a:extLst xmlns:a="http://schemas.openxmlformats.org/drawingml/2006/main">
              <a:ext uri="{FF2B5EF4-FFF2-40B4-BE49-F238E27FC236}">
                <a16:creationId xmlns:a16="http://schemas.microsoft.com/office/drawing/2014/main" id="{4AC8E926-E9DE-42D9-9C89-800621F06DBB}"/>
              </a:ext>
            </a:extLst>
          </p:cNvPr>
          <p:cNvSpPr>
            <a:spLocks xmlns:a="http://schemas.openxmlformats.org/drawingml/2006/main" noGrp="1"/>
          </p:cNvSpPr>
          <p:nvPr/>
        </p:nvSpPr>
        <p:spPr>
          <a:xfrm xmlns:a="http://schemas.openxmlformats.org/drawingml/2006/main">
            <a:off x="1122045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9" name="">
            <a:extLst xmlns:a="http://schemas.openxmlformats.org/drawingml/2006/main">
              <a:ext uri="{FF2B5EF4-FFF2-40B4-BE49-F238E27FC236}">
                <a16:creationId xmlns:a16="http://schemas.microsoft.com/office/drawing/2014/main" id="{038BEDD4-F3CD-4945-8114-40C4C8431DD8}"/>
              </a:ext>
            </a:extLst>
          </p:cNvPr>
          <p:cNvSpPr>
            <a:spLocks xmlns:a="http://schemas.openxmlformats.org/drawingml/2006/main" noGrp="1"/>
          </p:cNvSpPr>
          <p:nvPr/>
        </p:nvSpPr>
        <p:spPr>
          <a:xfrm xmlns:a="http://schemas.openxmlformats.org/drawingml/2006/main">
            <a:off x="12001500" y="4000500"/>
            <a:ext cx="4095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DLA ENGINE</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 B and C memories</a:t>
            </a:r>
          </a:p>
        </p:txBody>
      </p:sp>
      <p:sp>
        <p:nvSpPr>
          <p:cNvPr id="10" name="">
            <a:extLst xmlns:a="http://schemas.openxmlformats.org/drawingml/2006/main">
              <a:ext uri="{FF2B5EF4-FFF2-40B4-BE49-F238E27FC236}">
                <a16:creationId xmlns:a16="http://schemas.microsoft.com/office/drawing/2014/main" id="{15D754E1-38BD-4DCC-849D-90CEB38DBC03}"/>
              </a:ext>
            </a:extLst>
          </p:cNvPr>
          <p:cNvSpPr>
            <a:spLocks xmlns:a="http://schemas.openxmlformats.org/drawingml/2006/main" noGrp="1"/>
          </p:cNvSpPr>
          <p:nvPr/>
        </p:nvSpPr>
        <p:spPr>
          <a:xfrm xmlns:a="http://schemas.openxmlformats.org/drawingml/2006/main">
            <a:off x="1809750" y="6191250"/>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53 core signal bits, but only 20 general-purpose digital pads are available.</a:t>
            </a:r>
          </a:p>
        </p:txBody>
      </p:sp>
      <p:graphicFrame>
        <p:nvGraphicFramePr>
          <p:cNvPr id="11" name="">
            <a:extLst xmlns:a="http://schemas.openxmlformats.org/drawingml/2006/main">
              <a:ext uri="{FF2B5EF4-FFF2-40B4-BE49-F238E27FC236}">
                <a16:creationId xmlns:a16="http://schemas.microsoft.com/office/drawing/2014/main" id="{50CFEC3D-9DC2-4C14-8048-D8A4088F0510}"/>
              </a:ext>
            </a:extLst>
          </p:cNvPr>
          <p:cNvGraphicFramePr/>
          <p:nvPr/>
        </p:nvGraphicFramePr>
        <p:xfrm>
          <a:off xmlns:a="http://schemas.openxmlformats.org/drawingml/2006/main" x="1809750" y="7286625"/>
          <a:ext xmlns:a="http://schemas.openxmlformats.org/drawingml/2006/main" cx="14097000" cy="1333500"/>
        </p:xfrm>
        <a:graphic xmlns:a="http://schemas.openxmlformats.org/drawingml/2006/main">
          <a:graphicData uri="http://schemas.openxmlformats.org/drawingml/2006/table">
            <a:tbl>
              <a:tblPr/>
              <a:tblGrid>
                <a:gridCol w="4762500"/>
                <a:gridCol w="2857500"/>
                <a:gridCol w="3238500"/>
                <a:gridCol w="3238500"/>
              </a:tblGrid>
              <a:tr h="666750">
                <a:tc>
                  <a:txBody>
                    <a:bodyPr/>
                    <a:lstStyle/>
                    <a:p>
                      <a:r>
                        <a:rPr sz="2325" b="1">
                          <a:solidFill>
                            <a:srgbClr val="FFFFFF"/>
                          </a:solidFill>
                          <a:latin typeface="Inter Bold"/>
                          <a:ea typeface="Inter Bold"/>
                          <a:cs typeface="Inter Bold"/>
                        </a:rPr>
                        <a:t>Write frame</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Command</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Address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Data</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66750">
                <a:tc>
                  <a:txBody>
                    <a:bodyPr/>
                    <a:lstStyle/>
                    <a:p>
                      <a:r>
                        <a:rPr sz="2325" b="0">
                          <a:solidFill>
                            <a:srgbClr val="002B57"/>
                          </a:solidFill>
                          <a:latin typeface="Inter"/>
                          <a:ea typeface="Inter"/>
                          <a:cs typeface="Inter"/>
                        </a:rPr>
                        <a:t>20 bits, MSB first</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2 bits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10 bits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8 bits</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F37B3D0E-9E91-4B9B-8427-68383D5E7099}"/>
              </a:ext>
            </a:extLst>
          </p:cNvPr>
          <p:cNvSpPr>
            <a:spLocks xmlns:a="http://schemas.openxmlformats.org/drawingml/2006/main" noGrp="1"/>
          </p:cNvSpPr>
          <p:nvPr/>
        </p:nvSpPr>
        <p:spPr>
          <a:xfrm xmlns:a="http://schemas.openxmlformats.org/drawingml/2006/main">
            <a:off x="1809750" y="9048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WRITE A/B loads data. START launches a tile. READ C returns a 24-bit result.</a:t>
            </a:r>
          </a:p>
        </p:txBody>
      </p:sp>
      <p:sp>
        <p:nvSpPr>
          <p:cNvPr id="13" name="">
            <a:extLst xmlns:a="http://schemas.openxmlformats.org/drawingml/2006/main">
              <a:ext uri="{FF2B5EF4-FFF2-40B4-BE49-F238E27FC236}">
                <a16:creationId xmlns:a16="http://schemas.microsoft.com/office/drawing/2014/main" id="{9EB1897D-FE50-401D-A9BA-E497CF5EFDAA}"/>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16</a:t>
            </a:r>
          </a:p>
        </p:txBody>
      </p:sp>
    </p:spTree>
    <p:extLst>
      <p:ext uri="{BB962C8B-B14F-4D97-AF65-F5344CB8AC3E}">
        <p14:creationId xmlns:p14="http://schemas.microsoft.com/office/powerpoint/2010/main" val="210066307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420CD1C-DE77-419F-9A39-7D66F8358A46}"/>
              </a:ext>
            </a:extLst>
          </p:cNvPr>
          <p:cNvPicPr>
            <a:picLocks xmlns:a="http://schemas.openxmlformats.org/drawingml/2006/main" noChangeAspect="1"/>
          </p:cNvPicPr>
          <p:nvPr/>
        </p:nvPicPr>
        <p:blipFill>
          <a:blip xmlns:r="http://schemas.openxmlformats.org/officeDocument/2006/relationships" xmlns:a="http://schemas.openxmlformats.org/drawingml/2006/main" r:embed="R6aa60dcdc4a34e5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B3CF2A-2F01-4E81-A90E-327F7DA37839}"/>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8EEF5882-B178-4B74-9423-EC8450C62D80}"/>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30DC6E82-D5EE-423F-8A34-CAB71691D543}"/>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Open-source hardening uses one 3.3 V supply</a:t>
            </a:r>
          </a:p>
        </p:txBody>
      </p:sp>
      <p:sp>
        <p:nvSpPr>
          <p:cNvPr id="5" name="">
            <a:extLst xmlns:a="http://schemas.openxmlformats.org/drawingml/2006/main">
              <a:ext uri="{FF2B5EF4-FFF2-40B4-BE49-F238E27FC236}">
                <a16:creationId xmlns:a16="http://schemas.microsoft.com/office/drawing/2014/main" id="{6F7ADB42-3E73-4A69-8B5C-18A58C9D2B9B}"/>
              </a:ext>
            </a:extLst>
          </p:cNvPr>
          <p:cNvSpPr>
            <a:spLocks xmlns:a="http://schemas.openxmlformats.org/drawingml/2006/main" noGrp="1"/>
          </p:cNvSpPr>
          <p:nvPr/>
        </p:nvSpPr>
        <p:spPr>
          <a:xfrm xmlns:a="http://schemas.openxmlformats.org/drawingml/2006/main">
            <a:off x="1809750" y="4000500"/>
            <a:ext cx="419100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STRUCTURAL RTL</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Explicit PE array</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and hard SRAMs</a:t>
            </a:r>
          </a:p>
        </p:txBody>
      </p:sp>
      <p:sp>
        <p:nvSpPr>
          <p:cNvPr id="6" name="">
            <a:extLst xmlns:a="http://schemas.openxmlformats.org/drawingml/2006/main">
              <a:ext uri="{FF2B5EF4-FFF2-40B4-BE49-F238E27FC236}">
                <a16:creationId xmlns:a16="http://schemas.microsoft.com/office/drawing/2014/main" id="{A08C9235-919B-44CE-969B-3962AD12DCB3}"/>
              </a:ext>
            </a:extLst>
          </p:cNvPr>
          <p:cNvSpPr>
            <a:spLocks xmlns:a="http://schemas.openxmlformats.org/drawingml/2006/main" noGrp="1"/>
          </p:cNvSpPr>
          <p:nvPr/>
        </p:nvSpPr>
        <p:spPr>
          <a:xfrm xmlns:a="http://schemas.openxmlformats.org/drawingml/2006/main">
            <a:off x="617220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7" name="">
            <a:extLst xmlns:a="http://schemas.openxmlformats.org/drawingml/2006/main">
              <a:ext uri="{FF2B5EF4-FFF2-40B4-BE49-F238E27FC236}">
                <a16:creationId xmlns:a16="http://schemas.microsoft.com/office/drawing/2014/main" id="{55050B54-BB23-4457-A355-4233EAAD6E38}"/>
              </a:ext>
            </a:extLst>
          </p:cNvPr>
          <p:cNvSpPr>
            <a:spLocks xmlns:a="http://schemas.openxmlformats.org/drawingml/2006/main" noGrp="1"/>
          </p:cNvSpPr>
          <p:nvPr/>
        </p:nvSpPr>
        <p:spPr>
          <a:xfrm xmlns:a="http://schemas.openxmlformats.org/drawingml/2006/main">
            <a:off x="6953250" y="4000500"/>
            <a:ext cx="4095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LIBRELANE</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Synthesis, placement</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and routing</a:t>
            </a:r>
          </a:p>
        </p:txBody>
      </p:sp>
      <p:sp>
        <p:nvSpPr>
          <p:cNvPr id="8" name="">
            <a:extLst xmlns:a="http://schemas.openxmlformats.org/drawingml/2006/main">
              <a:ext uri="{FF2B5EF4-FFF2-40B4-BE49-F238E27FC236}">
                <a16:creationId xmlns:a16="http://schemas.microsoft.com/office/drawing/2014/main" id="{A1948A36-126E-4C9B-B559-C313D1238F16}"/>
              </a:ext>
            </a:extLst>
          </p:cNvPr>
          <p:cNvSpPr>
            <a:spLocks xmlns:a="http://schemas.openxmlformats.org/drawingml/2006/main" noGrp="1"/>
          </p:cNvSpPr>
          <p:nvPr/>
        </p:nvSpPr>
        <p:spPr>
          <a:xfrm xmlns:a="http://schemas.openxmlformats.org/drawingml/2006/main">
            <a:off x="11220450" y="4400550"/>
            <a:ext cx="66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0">
                <a:solidFill>
                  <a:srgbClr val="0E749A"/>
                </a:solidFill>
                <a:latin typeface="Inter"/>
                <a:ea typeface="Inter"/>
                <a:cs typeface="Inter"/>
              </a:defRPr>
            </a:defPPr>
            <a:lvl1pPr>
              <a:defRPr sz="4125" b="0">
                <a:solidFill>
                  <a:srgbClr val="0E749A"/>
                </a:solidFill>
                <a:latin typeface="Inter"/>
                <a:ea typeface="Inter"/>
                <a:cs typeface="Inter"/>
              </a:defRPr>
            </a:lvl1pPr>
            <a:lvl2pPr>
              <a:defRPr sz="4125" b="0">
                <a:solidFill>
                  <a:srgbClr val="0E749A"/>
                </a:solidFill>
                <a:latin typeface="Inter"/>
                <a:ea typeface="Inter"/>
                <a:cs typeface="Inter"/>
              </a:defRPr>
            </a:lvl2pPr>
            <a:lvl3pPr>
              <a:defRPr sz="4125" b="0">
                <a:solidFill>
                  <a:srgbClr val="0E749A"/>
                </a:solidFill>
                <a:latin typeface="Inter"/>
                <a:ea typeface="Inter"/>
                <a:cs typeface="Inter"/>
              </a:defRPr>
            </a:lvl3pPr>
            <a:lvl4pPr>
              <a:defRPr sz="4125" b="0">
                <a:solidFill>
                  <a:srgbClr val="0E749A"/>
                </a:solidFill>
                <a:latin typeface="Inter"/>
                <a:ea typeface="Inter"/>
                <a:cs typeface="Inter"/>
              </a:defRPr>
            </a:lvl4pPr>
            <a:lvl5pPr>
              <a:defRPr sz="4125" b="0">
                <a:solidFill>
                  <a:srgbClr val="0E749A"/>
                </a:solidFill>
                <a:latin typeface="Inter"/>
                <a:ea typeface="Inter"/>
                <a:cs typeface="Inter"/>
              </a:defRPr>
            </a:lvl5pPr>
            <a:lvl6pPr>
              <a:defRPr sz="4125" b="0">
                <a:solidFill>
                  <a:srgbClr val="0E749A"/>
                </a:solidFill>
                <a:latin typeface="Inter"/>
                <a:ea typeface="Inter"/>
                <a:cs typeface="Inter"/>
              </a:defRPr>
            </a:lvl6pPr>
            <a:lvl7pPr>
              <a:defRPr sz="4125" b="0">
                <a:solidFill>
                  <a:srgbClr val="0E749A"/>
                </a:solidFill>
                <a:latin typeface="Inter"/>
                <a:ea typeface="Inter"/>
                <a:cs typeface="Inter"/>
              </a:defRPr>
            </a:lvl7pPr>
            <a:lvl8pPr>
              <a:defRPr sz="4125" b="0">
                <a:solidFill>
                  <a:srgbClr val="0E749A"/>
                </a:solidFill>
                <a:latin typeface="Inter"/>
                <a:ea typeface="Inter"/>
                <a:cs typeface="Inter"/>
              </a:defRPr>
            </a:lvl8pPr>
            <a:lvl9pPr>
              <a:defRPr sz="4125" b="0">
                <a:solidFill>
                  <a:srgbClr val="0E749A"/>
                </a:solidFill>
                <a:latin typeface="Inter"/>
                <a:ea typeface="Inter"/>
                <a:cs typeface="Inter"/>
              </a:defRPr>
            </a:lvl9pPr>
          </a:lstStyle>
          <a:p xmlns:a="http://schemas.openxmlformats.org/drawingml/2006/main">
            <a:pPr>
              <a:defRPr sz="4125" b="0">
                <a:solidFill>
                  <a:srgbClr val="0E749A"/>
                </a:solidFill>
                <a:latin typeface="Inter"/>
                <a:ea typeface="Inter"/>
                <a:cs typeface="Inter"/>
              </a:defRPr>
            </a:pPr>
            <a:r>
              <a:rPr sz="4125" b="0">
                <a:solidFill>
                  <a:srgbClr val="0E749A"/>
                </a:solidFill>
                <a:latin typeface="Inter"/>
                <a:ea typeface="Inter"/>
                <a:cs typeface="Inter"/>
              </a:rPr>
              <a:t>→</a:t>
            </a:r>
          </a:p>
        </p:txBody>
      </p:sp>
      <p:sp>
        <p:nvSpPr>
          <p:cNvPr id="9" name="">
            <a:extLst xmlns:a="http://schemas.openxmlformats.org/drawingml/2006/main">
              <a:ext uri="{FF2B5EF4-FFF2-40B4-BE49-F238E27FC236}">
                <a16:creationId xmlns:a16="http://schemas.microsoft.com/office/drawing/2014/main" id="{978C9B24-2FC0-43D0-9E5B-E4B540BB6B11}"/>
              </a:ext>
            </a:extLst>
          </p:cNvPr>
          <p:cNvSpPr>
            <a:spLocks xmlns:a="http://schemas.openxmlformats.org/drawingml/2006/main" noGrp="1"/>
          </p:cNvSpPr>
          <p:nvPr/>
        </p:nvSpPr>
        <p:spPr>
          <a:xfrm xmlns:a="http://schemas.openxmlformats.org/drawingml/2006/main">
            <a:off x="12001500" y="4000500"/>
            <a:ext cx="4095750" cy="1524000"/>
          </a:xfrm>
          <a:prstGeom xmlns:a="http://schemas.openxmlformats.org/drawingml/2006/main" prst="rect">
            <a:avLst/>
          </a:prstGeom>
          <a:solidFill xmlns:a="http://schemas.openxmlformats.org/drawingml/2006/main">
            <a:srgbClr val="E9F2F5"/>
          </a:solidFill>
          <a:ln xmlns:a="http://schemas.openxmlformats.org/drawingml/2006/main" w="19050">
            <a:solidFill>
              <a:srgbClr val="0E749A"/>
            </a:solidFill>
          </a:ln>
        </p:spPr>
        <p:txBody>
          <a:bodyPr xmlns:a="http://schemas.openxmlformats.org/drawingml/2006/main" lIns="114300" tIns="114300" rIns="114300" bIns="114300" anchor="ctr"/>
          <a:lstStyle xmlns:a="http://schemas.openxmlformats.org/drawingml/2006/main">
            <a:defPPr algn="ctr">
              <a:defRPr sz="2550">
                <a:solidFill>
                  <a:srgbClr val="002B57"/>
                </a:solidFill>
                <a:latin typeface="Inter"/>
                <a:ea typeface="Inter"/>
                <a:cs typeface="Inter"/>
              </a:defRPr>
            </a:defPPr>
            <a:lvl1pPr algn="ctr">
              <a:defRPr sz="2550">
                <a:solidFill>
                  <a:srgbClr val="002B57"/>
                </a:solidFill>
                <a:latin typeface="Inter"/>
                <a:ea typeface="Inter"/>
                <a:cs typeface="Inter"/>
              </a:defRPr>
            </a:lvl1pPr>
            <a:lvl2pPr algn="ctr">
              <a:defRPr sz="2550">
                <a:solidFill>
                  <a:srgbClr val="002B57"/>
                </a:solidFill>
                <a:latin typeface="Inter"/>
                <a:ea typeface="Inter"/>
                <a:cs typeface="Inter"/>
              </a:defRPr>
            </a:lvl2pPr>
            <a:lvl3pPr algn="ctr">
              <a:defRPr sz="2550">
                <a:solidFill>
                  <a:srgbClr val="002B57"/>
                </a:solidFill>
                <a:latin typeface="Inter"/>
                <a:ea typeface="Inter"/>
                <a:cs typeface="Inter"/>
              </a:defRPr>
            </a:lvl3pPr>
            <a:lvl4pPr algn="ctr">
              <a:defRPr sz="2550">
                <a:solidFill>
                  <a:srgbClr val="002B57"/>
                </a:solidFill>
                <a:latin typeface="Inter"/>
                <a:ea typeface="Inter"/>
                <a:cs typeface="Inter"/>
              </a:defRPr>
            </a:lvl4pPr>
            <a:lvl5pPr algn="ctr">
              <a:defRPr sz="2550">
                <a:solidFill>
                  <a:srgbClr val="002B57"/>
                </a:solidFill>
                <a:latin typeface="Inter"/>
                <a:ea typeface="Inter"/>
                <a:cs typeface="Inter"/>
              </a:defRPr>
            </a:lvl5pPr>
            <a:lvl6pPr algn="ctr">
              <a:defRPr sz="2550">
                <a:solidFill>
                  <a:srgbClr val="002B57"/>
                </a:solidFill>
                <a:latin typeface="Inter"/>
                <a:ea typeface="Inter"/>
                <a:cs typeface="Inter"/>
              </a:defRPr>
            </a:lvl6pPr>
            <a:lvl7pPr algn="ctr">
              <a:defRPr sz="2550">
                <a:solidFill>
                  <a:srgbClr val="002B57"/>
                </a:solidFill>
                <a:latin typeface="Inter"/>
                <a:ea typeface="Inter"/>
                <a:cs typeface="Inter"/>
              </a:defRPr>
            </a:lvl7pPr>
            <a:lvl8pPr algn="ctr">
              <a:defRPr sz="2550">
                <a:solidFill>
                  <a:srgbClr val="002B57"/>
                </a:solidFill>
                <a:latin typeface="Inter"/>
                <a:ea typeface="Inter"/>
                <a:cs typeface="Inter"/>
              </a:defRPr>
            </a:lvl8pPr>
            <a:lvl9pPr algn="ctr">
              <a:defRPr sz="2550">
                <a:solidFill>
                  <a:srgbClr val="002B57"/>
                </a:solidFill>
                <a:latin typeface="Inter"/>
                <a:ea typeface="Inter"/>
                <a:cs typeface="Inter"/>
              </a:defRPr>
            </a:lvl9pPr>
          </a:lstStyle>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PHYSICAL MACRO</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GDS, LEF</a:t>
            </a:r>
          </a:p>
          <a:p xmlns:a="http://schemas.openxmlformats.org/drawingml/2006/main">
            <a:pPr algn="ctr">
              <a:defRPr sz="2550">
                <a:solidFill>
                  <a:srgbClr val="002B57"/>
                </a:solidFill>
                <a:latin typeface="Inter"/>
                <a:ea typeface="Inter"/>
                <a:cs typeface="Inter"/>
              </a:defRPr>
            </a:pPr>
            <a:r>
              <a:rPr sz="2550">
                <a:solidFill>
                  <a:srgbClr val="002B57"/>
                </a:solidFill>
                <a:latin typeface="Inter"/>
                <a:ea typeface="Inter"/>
                <a:cs typeface="Inter"/>
              </a:rPr>
              <a:t>and timing views</a:t>
            </a:r>
          </a:p>
        </p:txBody>
      </p:sp>
      <p:sp>
        <p:nvSpPr>
          <p:cNvPr id="10" name="">
            <a:extLst xmlns:a="http://schemas.openxmlformats.org/drawingml/2006/main">
              <a:ext uri="{FF2B5EF4-FFF2-40B4-BE49-F238E27FC236}">
                <a16:creationId xmlns:a16="http://schemas.microsoft.com/office/drawing/2014/main" id="{0989DF35-D599-4348-B308-34091A893615}"/>
              </a:ext>
            </a:extLst>
          </p:cNvPr>
          <p:cNvSpPr>
            <a:spLocks xmlns:a="http://schemas.openxmlformats.org/drawingml/2006/main" noGrp="1"/>
          </p:cNvSpPr>
          <p:nvPr/>
        </p:nvSpPr>
        <p:spPr>
          <a:xfrm xmlns:a="http://schemas.openxmlformats.org/drawingml/2006/main">
            <a:off x="1809750" y="6238875"/>
            <a:ext cx="1428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E749A"/>
                </a:solidFill>
                <a:latin typeface="Inter Bold"/>
                <a:ea typeface="Inter Bold"/>
                <a:cs typeface="Inter Bold"/>
              </a:defRPr>
            </a:defPPr>
            <a:lvl1pPr>
              <a:defRPr sz="2700" b="1">
                <a:solidFill>
                  <a:srgbClr val="0E749A"/>
                </a:solidFill>
                <a:latin typeface="Inter Bold"/>
                <a:ea typeface="Inter Bold"/>
                <a:cs typeface="Inter Bold"/>
              </a:defRPr>
            </a:lvl1pPr>
            <a:lvl2pPr>
              <a:defRPr sz="2700" b="1">
                <a:solidFill>
                  <a:srgbClr val="0E749A"/>
                </a:solidFill>
                <a:latin typeface="Inter Bold"/>
                <a:ea typeface="Inter Bold"/>
                <a:cs typeface="Inter Bold"/>
              </a:defRPr>
            </a:lvl2pPr>
            <a:lvl3pPr>
              <a:defRPr sz="2700" b="1">
                <a:solidFill>
                  <a:srgbClr val="0E749A"/>
                </a:solidFill>
                <a:latin typeface="Inter Bold"/>
                <a:ea typeface="Inter Bold"/>
                <a:cs typeface="Inter Bold"/>
              </a:defRPr>
            </a:lvl3pPr>
            <a:lvl4pPr>
              <a:defRPr sz="2700" b="1">
                <a:solidFill>
                  <a:srgbClr val="0E749A"/>
                </a:solidFill>
                <a:latin typeface="Inter Bold"/>
                <a:ea typeface="Inter Bold"/>
                <a:cs typeface="Inter Bold"/>
              </a:defRPr>
            </a:lvl4pPr>
            <a:lvl5pPr>
              <a:defRPr sz="2700" b="1">
                <a:solidFill>
                  <a:srgbClr val="0E749A"/>
                </a:solidFill>
                <a:latin typeface="Inter Bold"/>
                <a:ea typeface="Inter Bold"/>
                <a:cs typeface="Inter Bold"/>
              </a:defRPr>
            </a:lvl5pPr>
            <a:lvl6pPr>
              <a:defRPr sz="2700" b="1">
                <a:solidFill>
                  <a:srgbClr val="0E749A"/>
                </a:solidFill>
                <a:latin typeface="Inter Bold"/>
                <a:ea typeface="Inter Bold"/>
                <a:cs typeface="Inter Bold"/>
              </a:defRPr>
            </a:lvl6pPr>
            <a:lvl7pPr>
              <a:defRPr sz="2700" b="1">
                <a:solidFill>
                  <a:srgbClr val="0E749A"/>
                </a:solidFill>
                <a:latin typeface="Inter Bold"/>
                <a:ea typeface="Inter Bold"/>
                <a:cs typeface="Inter Bold"/>
              </a:defRPr>
            </a:lvl7pPr>
            <a:lvl8pPr>
              <a:defRPr sz="2700" b="1">
                <a:solidFill>
                  <a:srgbClr val="0E749A"/>
                </a:solidFill>
                <a:latin typeface="Inter Bold"/>
                <a:ea typeface="Inter Bold"/>
                <a:cs typeface="Inter Bold"/>
              </a:defRPr>
            </a:lvl8pPr>
            <a:lvl9pPr>
              <a:defRPr sz="2700" b="1">
                <a:solidFill>
                  <a:srgbClr val="0E749A"/>
                </a:solidFill>
                <a:latin typeface="Inter Bold"/>
                <a:ea typeface="Inter Bold"/>
                <a:cs typeface="Inter Bold"/>
              </a:defRPr>
            </a:lvl9pPr>
          </a:lstStyle>
          <a:p xmlns:a="http://schemas.openxmlformats.org/drawingml/2006/main">
            <a:pPr>
              <a:defRPr sz="2700" b="1">
                <a:solidFill>
                  <a:srgbClr val="0E749A"/>
                </a:solidFill>
                <a:latin typeface="Inter Bold"/>
                <a:ea typeface="Inter Bold"/>
                <a:cs typeface="Inter Bold"/>
              </a:defRPr>
            </a:pPr>
            <a:r>
              <a:rPr sz="2700" b="1">
                <a:solidFill>
                  <a:srgbClr val="0E749A"/>
                </a:solidFill>
                <a:latin typeface="Inter Bold"/>
                <a:ea typeface="Inter Bold"/>
                <a:cs typeface="Inter Bold"/>
              </a:rPr>
              <a:t>GF180MCU 180 nm process; native 3.3 V logic matches 3.3 V SRAM and I/O.</a:t>
            </a:r>
          </a:p>
        </p:txBody>
      </p:sp>
      <p:sp>
        <p:nvSpPr>
          <p:cNvPr id="11" name="">
            <a:extLst xmlns:a="http://schemas.openxmlformats.org/drawingml/2006/main">
              <a:ext uri="{FF2B5EF4-FFF2-40B4-BE49-F238E27FC236}">
                <a16:creationId xmlns:a16="http://schemas.microsoft.com/office/drawing/2014/main" id="{74F12D38-1054-41BC-8AB1-7C57EC4805BD}"/>
              </a:ext>
            </a:extLst>
          </p:cNvPr>
          <p:cNvSpPr>
            <a:spLocks xmlns:a="http://schemas.openxmlformats.org/drawingml/2006/main" noGrp="1"/>
          </p:cNvSpPr>
          <p:nvPr/>
        </p:nvSpPr>
        <p:spPr>
          <a:xfrm xmlns:a="http://schemas.openxmlformats.org/drawingml/2006/main">
            <a:off x="1809750" y="7477125"/>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Nine SRAMs form a 3 × 3 floorplan. Final clock target: 40 ns (25 MHz).</a:t>
            </a:r>
          </a:p>
        </p:txBody>
      </p:sp>
      <p:sp>
        <p:nvSpPr>
          <p:cNvPr id="12" name="">
            <a:extLst xmlns:a="http://schemas.openxmlformats.org/drawingml/2006/main">
              <a:ext uri="{FF2B5EF4-FFF2-40B4-BE49-F238E27FC236}">
                <a16:creationId xmlns:a16="http://schemas.microsoft.com/office/drawing/2014/main" id="{F589619C-F3B0-4307-85C2-764C21838B13}"/>
              </a:ext>
            </a:extLst>
          </p:cNvPr>
          <p:cNvSpPr>
            <a:spLocks xmlns:a="http://schemas.openxmlformats.org/drawingml/2006/main" noGrp="1"/>
          </p:cNvSpPr>
          <p:nvPr/>
        </p:nvSpPr>
        <p:spPr>
          <a:xfrm xmlns:a="http://schemas.openxmlformats.org/drawingml/2006/main">
            <a:off x="1809750" y="8763000"/>
            <a:ext cx="1428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The nine-macro block is signed off. Updated padring integration and silicon testing remain.</a:t>
            </a:r>
          </a:p>
        </p:txBody>
      </p:sp>
      <p:sp>
        <p:nvSpPr>
          <p:cNvPr id="13" name="">
            <a:extLst xmlns:a="http://schemas.openxmlformats.org/drawingml/2006/main">
              <a:ext uri="{FF2B5EF4-FFF2-40B4-BE49-F238E27FC236}">
                <a16:creationId xmlns:a16="http://schemas.microsoft.com/office/drawing/2014/main" id="{E6EFBF95-65B8-4E79-BEFC-8385CEE35ED3}"/>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17</a:t>
            </a:r>
          </a:p>
        </p:txBody>
      </p:sp>
    </p:spTree>
    <p:extLst>
      <p:ext uri="{BB962C8B-B14F-4D97-AF65-F5344CB8AC3E}">
        <p14:creationId xmlns:p14="http://schemas.microsoft.com/office/powerpoint/2010/main" val="166582985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AAF6C30-5875-47AE-9398-F4E1C404549F}"/>
              </a:ext>
            </a:extLst>
          </p:cNvPr>
          <p:cNvPicPr>
            <a:picLocks xmlns:a="http://schemas.openxmlformats.org/drawingml/2006/main" noChangeAspect="1"/>
          </p:cNvPicPr>
          <p:nvPr/>
        </p:nvPicPr>
        <p:blipFill>
          <a:blip xmlns:r="http://schemas.openxmlformats.org/officeDocument/2006/relationships" xmlns:a="http://schemas.openxmlformats.org/drawingml/2006/main" r:embed="R3760166be7d44b0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6ADC07-3E9E-4DC4-92A1-78C3B7F5CEDF}"/>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III. METHODOLOGY</a:t>
            </a:r>
          </a:p>
        </p:txBody>
      </p:sp>
      <p:sp>
        <p:nvSpPr>
          <p:cNvPr id="3" name="">
            <a:extLst xmlns:a="http://schemas.openxmlformats.org/drawingml/2006/main">
              <a:ext uri="{FF2B5EF4-FFF2-40B4-BE49-F238E27FC236}">
                <a16:creationId xmlns:a16="http://schemas.microsoft.com/office/drawing/2014/main" id="{3AD35287-F496-4B23-A755-78048B51E797}"/>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71302B3A-0E7F-44A7-A50B-12092AB54DEE}"/>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Moving one memory block removes antenna violations</a:t>
            </a:r>
          </a:p>
        </p:txBody>
      </p:sp>
      <p:sp>
        <p:nvSpPr>
          <p:cNvPr id="5" name="">
            <a:extLst xmlns:a="http://schemas.openxmlformats.org/drawingml/2006/main">
              <a:ext uri="{FF2B5EF4-FFF2-40B4-BE49-F238E27FC236}">
                <a16:creationId xmlns:a16="http://schemas.microsoft.com/office/drawing/2014/main" id="{CDF7FF6F-A14D-464B-BF87-102BF4307882}"/>
              </a:ext>
            </a:extLst>
          </p:cNvPr>
          <p:cNvSpPr>
            <a:spLocks xmlns:a="http://schemas.openxmlformats.org/drawingml/2006/main" noGrp="1"/>
          </p:cNvSpPr>
          <p:nvPr/>
        </p:nvSpPr>
        <p:spPr>
          <a:xfrm xmlns:a="http://schemas.openxmlformats.org/drawingml/2006/main">
            <a:off x="1809750" y="3810000"/>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0">
                <a:solidFill>
                  <a:srgbClr val="002B57"/>
                </a:solidFill>
                <a:latin typeface="Inter"/>
                <a:ea typeface="Inter"/>
                <a:cs typeface="Inter"/>
              </a:defRPr>
            </a:defPPr>
            <a:lvl1pPr>
              <a:defRPr sz="2625" b="0">
                <a:solidFill>
                  <a:srgbClr val="002B57"/>
                </a:solidFill>
                <a:latin typeface="Inter"/>
                <a:ea typeface="Inter"/>
                <a:cs typeface="Inter"/>
              </a:defRPr>
            </a:lvl1pPr>
            <a:lvl2pPr>
              <a:defRPr sz="2625" b="0">
                <a:solidFill>
                  <a:srgbClr val="002B57"/>
                </a:solidFill>
                <a:latin typeface="Inter"/>
                <a:ea typeface="Inter"/>
                <a:cs typeface="Inter"/>
              </a:defRPr>
            </a:lvl2pPr>
            <a:lvl3pPr>
              <a:defRPr sz="2625" b="0">
                <a:solidFill>
                  <a:srgbClr val="002B57"/>
                </a:solidFill>
                <a:latin typeface="Inter"/>
                <a:ea typeface="Inter"/>
                <a:cs typeface="Inter"/>
              </a:defRPr>
            </a:lvl3pPr>
            <a:lvl4pPr>
              <a:defRPr sz="2625" b="0">
                <a:solidFill>
                  <a:srgbClr val="002B57"/>
                </a:solidFill>
                <a:latin typeface="Inter"/>
                <a:ea typeface="Inter"/>
                <a:cs typeface="Inter"/>
              </a:defRPr>
            </a:lvl4pPr>
            <a:lvl5pPr>
              <a:defRPr sz="2625" b="0">
                <a:solidFill>
                  <a:srgbClr val="002B57"/>
                </a:solidFill>
                <a:latin typeface="Inter"/>
                <a:ea typeface="Inter"/>
                <a:cs typeface="Inter"/>
              </a:defRPr>
            </a:lvl5pPr>
            <a:lvl6pPr>
              <a:defRPr sz="2625" b="0">
                <a:solidFill>
                  <a:srgbClr val="002B57"/>
                </a:solidFill>
                <a:latin typeface="Inter"/>
                <a:ea typeface="Inter"/>
                <a:cs typeface="Inter"/>
              </a:defRPr>
            </a:lvl6pPr>
            <a:lvl7pPr>
              <a:defRPr sz="2625" b="0">
                <a:solidFill>
                  <a:srgbClr val="002B57"/>
                </a:solidFill>
                <a:latin typeface="Inter"/>
                <a:ea typeface="Inter"/>
                <a:cs typeface="Inter"/>
              </a:defRPr>
            </a:lvl7pPr>
            <a:lvl8pPr>
              <a:defRPr sz="2625" b="0">
                <a:solidFill>
                  <a:srgbClr val="002B57"/>
                </a:solidFill>
                <a:latin typeface="Inter"/>
                <a:ea typeface="Inter"/>
                <a:cs typeface="Inter"/>
              </a:defRPr>
            </a:lvl8pPr>
            <a:lvl9pPr>
              <a:defRPr sz="2625" b="0">
                <a:solidFill>
                  <a:srgbClr val="002B57"/>
                </a:solidFill>
                <a:latin typeface="Inter"/>
                <a:ea typeface="Inter"/>
                <a:cs typeface="Inter"/>
              </a:defRPr>
            </a:lvl9pPr>
          </a:lstStyle>
          <a:p xmlns:a="http://schemas.openxmlformats.org/drawingml/2006/main">
            <a:pPr>
              <a:defRPr sz="2625" b="0">
                <a:solidFill>
                  <a:srgbClr val="002B57"/>
                </a:solidFill>
                <a:latin typeface="Inter"/>
                <a:ea typeface="Inter"/>
                <a:cs typeface="Inter"/>
              </a:defRPr>
            </a:pPr>
            <a:r>
              <a:rPr sz="2625" b="0">
                <a:solidFill>
                  <a:srgbClr val="002B57"/>
                </a:solidFill>
                <a:latin typeface="Inter"/>
                <a:ea typeface="Inter"/>
                <a:cs typeface="Inter"/>
              </a:rPr>
              <a:t>Antenna checks flag wires that may collect damaging charge during fabrication.</a:t>
            </a:r>
          </a:p>
        </p:txBody>
      </p:sp>
      <p:graphicFrame>
        <p:nvGraphicFramePr>
          <p:cNvPr id="6" name="">
            <a:extLst xmlns:a="http://schemas.openxmlformats.org/drawingml/2006/main">
              <a:ext uri="{FF2B5EF4-FFF2-40B4-BE49-F238E27FC236}">
                <a16:creationId xmlns:a16="http://schemas.microsoft.com/office/drawing/2014/main" id="{C3E18F9F-7D8C-44AE-958A-C4F9FB04B0CB}"/>
              </a:ext>
            </a:extLst>
          </p:cNvPr>
          <p:cNvGraphicFramePr/>
          <p:nvPr/>
        </p:nvGraphicFramePr>
        <p:xfrm>
          <a:off xmlns:a="http://schemas.openxmlformats.org/drawingml/2006/main" x="1809750" y="5095875"/>
          <a:ext xmlns:a="http://schemas.openxmlformats.org/drawingml/2006/main" cx="14097000" cy="2571750"/>
        </p:xfrm>
        <a:graphic xmlns:a="http://schemas.openxmlformats.org/drawingml/2006/main">
          <a:graphicData uri="http://schemas.openxmlformats.org/drawingml/2006/table">
            <a:tbl>
              <a:tblPr/>
              <a:tblGrid>
                <a:gridCol w="8858250"/>
                <a:gridCol w="5238750"/>
              </a:tblGrid>
              <a:tr h="642938">
                <a:tc>
                  <a:txBody>
                    <a:bodyPr/>
                    <a:lstStyle/>
                    <a:p>
                      <a:r>
                        <a:rPr sz="2550" b="1">
                          <a:solidFill>
                            <a:srgbClr val="FFFFFF"/>
                          </a:solidFill>
                          <a:latin typeface="Inter Bold"/>
                          <a:ea typeface="Inter Bold"/>
                          <a:cs typeface="Inter Bold"/>
                        </a:rPr>
                        <a:t>Placement</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550" b="1">
                          <a:solidFill>
                            <a:srgbClr val="FFFFFF"/>
                          </a:solidFill>
                          <a:latin typeface="Inter Bold"/>
                          <a:ea typeface="Inter Bold"/>
                          <a:cs typeface="Inter Bold"/>
                        </a:rPr>
                        <a:t>Remaining antenna violations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42938">
                <a:tc>
                  <a:txBody>
                    <a:bodyPr/>
                    <a:lstStyle/>
                    <a:p>
                      <a:r>
                        <a:rPr sz="2550" b="0">
                          <a:solidFill>
                            <a:srgbClr val="002B57"/>
                          </a:solidFill>
                          <a:latin typeface="Inter"/>
                          <a:ea typeface="Inter"/>
                          <a:cs typeface="Inter"/>
                        </a:rPr>
                        <a:t>Original grid, density 56</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550"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r>
              <a:tr h="642938">
                <a:tc>
                  <a:txBody>
                    <a:bodyPr/>
                    <a:lstStyle/>
                    <a:p>
                      <a:r>
                        <a:rPr sz="2550" b="0">
                          <a:solidFill>
                            <a:srgbClr val="002B57"/>
                          </a:solidFill>
                          <a:latin typeface="Inter"/>
                          <a:ea typeface="Inter"/>
                          <a:cs typeface="Inter"/>
                        </a:rPr>
                        <a:t>Original grid, density 54</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550"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r>
              <a:tr h="642938">
                <a:tc>
                  <a:txBody>
                    <a:bodyPr/>
                    <a:lstStyle/>
                    <a:p>
                      <a:r>
                        <a:rPr sz="2550" b="1">
                          <a:solidFill>
                            <a:srgbClr val="002B57"/>
                          </a:solidFill>
                          <a:latin typeface="Inter Bold"/>
                          <a:ea typeface="Inter Bold"/>
                          <a:cs typeface="Inter Bold"/>
                        </a:rPr>
                        <a:t>B/C memory swap, both densities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550" b="1">
                          <a:solidFill>
                            <a:srgbClr val="002B57"/>
                          </a:solidFill>
                          <a:latin typeface="Inter Bold"/>
                          <a:ea typeface="Inter Bold"/>
                          <a:cs typeface="Inter Bold"/>
                        </a:rPr>
                        <a:t>0</a:t>
                      </a:r>
                    </a:p>
                  </a:txBody>
                  <a:tcPr marL="91440" marR="91440" marT="45720" marB="45720">
                    <a:lnR w="9525">
                      <a:solidFill>
                        <a:srgbClr val="D4DEE3"/>
                      </a:solidFill>
                      <a:prstDash val="solid"/>
                    </a:lnR>
                    <a:lnB w="9525">
                      <a:solidFill>
                        <a:srgbClr val="D4DEE3"/>
                      </a:solidFill>
                      <a:prstDash val="solid"/>
                    </a:lnB>
                    <a:solidFill>
                      <a:srgbClr val="E9F2F5"/>
                    </a:solidFill>
                  </a:tcPr>
                </a:tc>
              </a:tr>
            </a:tbl>
          </a:graphicData>
        </a:graphic>
      </p:graphicFrame>
      <p:sp>
        <p:nvSpPr>
          <p:cNvPr id="7" name="">
            <a:extLst xmlns:a="http://schemas.openxmlformats.org/drawingml/2006/main">
              <a:ext uri="{FF2B5EF4-FFF2-40B4-BE49-F238E27FC236}">
                <a16:creationId xmlns:a16="http://schemas.microsoft.com/office/drawing/2014/main" id="{A709D248-20CA-4F92-9D7C-5AE30B9168CC}"/>
              </a:ext>
            </a:extLst>
          </p:cNvPr>
          <p:cNvSpPr>
            <a:spLocks xmlns:a="http://schemas.openxmlformats.org/drawingml/2006/main" noGrp="1"/>
          </p:cNvSpPr>
          <p:nvPr/>
        </p:nvSpPr>
        <p:spPr>
          <a:xfrm xmlns:a="http://schemas.openxmlformats.org/drawingml/2006/main">
            <a:off x="1809750" y="804862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Diagnosis: repeated failures pointed to one distant input-memory block.</a:t>
            </a:r>
          </a:p>
        </p:txBody>
      </p:sp>
      <p:sp>
        <p:nvSpPr>
          <p:cNvPr id="8" name="">
            <a:extLst xmlns:a="http://schemas.openxmlformats.org/drawingml/2006/main">
              <a:ext uri="{FF2B5EF4-FFF2-40B4-BE49-F238E27FC236}">
                <a16:creationId xmlns:a16="http://schemas.microsoft.com/office/drawing/2014/main" id="{3516C147-28DA-4A69-BC38-8B5455C2A6F8}"/>
              </a:ext>
            </a:extLst>
          </p:cNvPr>
          <p:cNvSpPr>
            <a:spLocks xmlns:a="http://schemas.openxmlformats.org/drawingml/2006/main" noGrp="1"/>
          </p:cNvSpPr>
          <p:nvPr/>
        </p:nvSpPr>
        <p:spPr>
          <a:xfrm xmlns:a="http://schemas.openxmlformats.org/drawingml/2006/main">
            <a:off x="1809750" y="8905875"/>
            <a:ext cx="1438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150" b="1">
                <a:solidFill>
                  <a:srgbClr val="0E749A"/>
                </a:solidFill>
                <a:latin typeface="Inter Bold"/>
                <a:ea typeface="Inter Bold"/>
                <a:cs typeface="Inter Bold"/>
              </a:defRPr>
            </a:defPPr>
            <a:lvl1pPr>
              <a:defRPr sz="3150" b="1">
                <a:solidFill>
                  <a:srgbClr val="0E749A"/>
                </a:solidFill>
                <a:latin typeface="Inter Bold"/>
                <a:ea typeface="Inter Bold"/>
                <a:cs typeface="Inter Bold"/>
              </a:defRPr>
            </a:lvl1pPr>
            <a:lvl2pPr>
              <a:defRPr sz="3150" b="1">
                <a:solidFill>
                  <a:srgbClr val="0E749A"/>
                </a:solidFill>
                <a:latin typeface="Inter Bold"/>
                <a:ea typeface="Inter Bold"/>
                <a:cs typeface="Inter Bold"/>
              </a:defRPr>
            </a:lvl2pPr>
            <a:lvl3pPr>
              <a:defRPr sz="3150" b="1">
                <a:solidFill>
                  <a:srgbClr val="0E749A"/>
                </a:solidFill>
                <a:latin typeface="Inter Bold"/>
                <a:ea typeface="Inter Bold"/>
                <a:cs typeface="Inter Bold"/>
              </a:defRPr>
            </a:lvl3pPr>
            <a:lvl4pPr>
              <a:defRPr sz="3150" b="1">
                <a:solidFill>
                  <a:srgbClr val="0E749A"/>
                </a:solidFill>
                <a:latin typeface="Inter Bold"/>
                <a:ea typeface="Inter Bold"/>
                <a:cs typeface="Inter Bold"/>
              </a:defRPr>
            </a:lvl4pPr>
            <a:lvl5pPr>
              <a:defRPr sz="3150" b="1">
                <a:solidFill>
                  <a:srgbClr val="0E749A"/>
                </a:solidFill>
                <a:latin typeface="Inter Bold"/>
                <a:ea typeface="Inter Bold"/>
                <a:cs typeface="Inter Bold"/>
              </a:defRPr>
            </a:lvl5pPr>
            <a:lvl6pPr>
              <a:defRPr sz="3150" b="1">
                <a:solidFill>
                  <a:srgbClr val="0E749A"/>
                </a:solidFill>
                <a:latin typeface="Inter Bold"/>
                <a:ea typeface="Inter Bold"/>
                <a:cs typeface="Inter Bold"/>
              </a:defRPr>
            </a:lvl6pPr>
            <a:lvl7pPr>
              <a:defRPr sz="3150" b="1">
                <a:solidFill>
                  <a:srgbClr val="0E749A"/>
                </a:solidFill>
                <a:latin typeface="Inter Bold"/>
                <a:ea typeface="Inter Bold"/>
                <a:cs typeface="Inter Bold"/>
              </a:defRPr>
            </a:lvl7pPr>
            <a:lvl8pPr>
              <a:defRPr sz="3150" b="1">
                <a:solidFill>
                  <a:srgbClr val="0E749A"/>
                </a:solidFill>
                <a:latin typeface="Inter Bold"/>
                <a:ea typeface="Inter Bold"/>
                <a:cs typeface="Inter Bold"/>
              </a:defRPr>
            </a:lvl8pPr>
            <a:lvl9pPr>
              <a:defRPr sz="3150" b="1">
                <a:solidFill>
                  <a:srgbClr val="0E749A"/>
                </a:solidFill>
                <a:latin typeface="Inter Bold"/>
                <a:ea typeface="Inter Bold"/>
                <a:cs typeface="Inter Bold"/>
              </a:defRPr>
            </a:lvl9pPr>
          </a:lstStyle>
          <a:p xmlns:a="http://schemas.openxmlformats.org/drawingml/2006/main">
            <a:pPr>
              <a:defRPr sz="3150" b="1">
                <a:solidFill>
                  <a:srgbClr val="0E749A"/>
                </a:solidFill>
                <a:latin typeface="Inter Bold"/>
                <a:ea typeface="Inter Bold"/>
                <a:cs typeface="Inter Bold"/>
              </a:defRPr>
            </a:pPr>
            <a:r>
              <a:rPr sz="3150" b="1">
                <a:solidFill>
                  <a:srgbClr val="0E749A"/>
                </a:solidFill>
                <a:latin typeface="Inter Bold"/>
                <a:ea typeface="Inter Bold"/>
                <a:cs typeface="Inter Bold"/>
              </a:rPr>
              <a:t>Move that block closer to the arithmetic array to shorten its wiring.</a:t>
            </a:r>
          </a:p>
        </p:txBody>
      </p:sp>
      <p:sp>
        <p:nvSpPr>
          <p:cNvPr id="9" name="">
            <a:extLst xmlns:a="http://schemas.openxmlformats.org/drawingml/2006/main">
              <a:ext uri="{FF2B5EF4-FFF2-40B4-BE49-F238E27FC236}">
                <a16:creationId xmlns:a16="http://schemas.microsoft.com/office/drawing/2014/main" id="{181DB1D6-29B1-4D78-A53F-C7BF91D1D87A}"/>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18</a:t>
            </a:r>
          </a:p>
        </p:txBody>
      </p:sp>
    </p:spTree>
    <p:extLst>
      <p:ext uri="{BB962C8B-B14F-4D97-AF65-F5344CB8AC3E}">
        <p14:creationId xmlns:p14="http://schemas.microsoft.com/office/powerpoint/2010/main" val="1040324507"/>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F2B3ADA-4444-412E-A536-9BE74900B1BF}"/>
              </a:ext>
            </a:extLst>
          </p:cNvPr>
          <p:cNvPicPr>
            <a:picLocks xmlns:a="http://schemas.openxmlformats.org/drawingml/2006/main" noChangeAspect="1"/>
          </p:cNvPicPr>
          <p:nvPr/>
        </p:nvPicPr>
        <p:blipFill>
          <a:blip xmlns:r="http://schemas.openxmlformats.org/officeDocument/2006/relationships" xmlns:a="http://schemas.openxmlformats.org/drawingml/2006/main" r:embed="R0d7b0269ccd84c2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1EF0E0-C2EC-45F2-AFD4-60F91CB08CF3}"/>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IV. RESULTS</a:t>
            </a:r>
          </a:p>
        </p:txBody>
      </p:sp>
      <p:sp>
        <p:nvSpPr>
          <p:cNvPr id="3" name="">
            <a:extLst xmlns:a="http://schemas.openxmlformats.org/drawingml/2006/main">
              <a:ext uri="{FF2B5EF4-FFF2-40B4-BE49-F238E27FC236}">
                <a16:creationId xmlns:a16="http://schemas.microsoft.com/office/drawing/2014/main" id="{DA415A31-BA6F-4B42-ACDA-87E7E16AE707}"/>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45B23C08-4478-4306-82C6-81E9E074C4D3}"/>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24% smaller chip area for 11.7% more on-chip time</a:t>
            </a:r>
          </a:p>
        </p:txBody>
      </p:sp>
      <p:pic>
        <p:nvPicPr>
          <p:cNvPr id="5" name="">
            <a:extLst xmlns:a="http://schemas.openxmlformats.org/drawingml/2006/main">
              <a:ext uri="{FF2B5EF4-FFF2-40B4-BE49-F238E27FC236}">
                <a16:creationId xmlns:a16="http://schemas.microsoft.com/office/drawing/2014/main" id="{8A74499D-9C5C-494A-9026-BBA61A60054D}"/>
              </a:ext>
            </a:extLst>
          </p:cNvPr>
          <p:cNvPicPr>
            <a:picLocks xmlns:a="http://schemas.openxmlformats.org/drawingml/2006/main" noChangeAspect="1"/>
          </p:cNvPicPr>
          <p:nvPr/>
        </p:nvPicPr>
        <p:blipFill>
          <a:blip xmlns:r="http://schemas.openxmlformats.org/officeDocument/2006/relationships" xmlns:a="http://schemas.openxmlformats.org/drawingml/2006/main" r:embed="Rfca3e8168d85412e"/>
          <a:stretch xmlns:a="http://schemas.openxmlformats.org/drawingml/2006/main"/>
        </p:blipFill>
        <p:spPr>
          <a:xfrm xmlns:a="http://schemas.openxmlformats.org/drawingml/2006/main">
            <a:off x="1620264" y="4000500"/>
            <a:ext cx="5093847" cy="4905375"/>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7D0A5D1C-BFCB-44D1-91D0-14A15DACBB0F}"/>
              </a:ext>
            </a:extLst>
          </p:cNvPr>
          <p:cNvGraphicFramePr/>
          <p:nvPr/>
        </p:nvGraphicFramePr>
        <p:xfrm>
          <a:off xmlns:a="http://schemas.openxmlformats.org/drawingml/2006/main" x="7239000" y="4000500"/>
          <a:ext xmlns:a="http://schemas.openxmlformats.org/drawingml/2006/main" cx="9144000" cy="3429000"/>
        </p:xfrm>
        <a:graphic xmlns:a="http://schemas.openxmlformats.org/drawingml/2006/main">
          <a:graphicData uri="http://schemas.openxmlformats.org/drawingml/2006/table">
            <a:tbl>
              <a:tblPr/>
              <a:tblGrid>
                <a:gridCol w="4286250"/>
                <a:gridCol w="2428875"/>
                <a:gridCol w="2428875"/>
              </a:tblGrid>
              <a:tr h="685800">
                <a:tc>
                  <a:txBody>
                    <a:bodyPr/>
                    <a:lstStyle/>
                    <a:p>
                      <a:r>
                        <a:rPr sz="2250" b="1">
                          <a:solidFill>
                            <a:srgbClr val="FFFFFF"/>
                          </a:solidFill>
                          <a:latin typeface="Inter Bold"/>
                          <a:ea typeface="Inter Bold"/>
                          <a:cs typeface="Inter Bold"/>
                        </a:rPr>
                        <a:t>Metric</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Earlier design</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This work</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85800">
                <a:tc>
                  <a:txBody>
                    <a:bodyPr/>
                    <a:lstStyle/>
                    <a:p>
                      <a:r>
                        <a:rPr sz="2250" b="0">
                          <a:solidFill>
                            <a:srgbClr val="002B57"/>
                          </a:solidFill>
                          <a:latin typeface="Inter"/>
                          <a:ea typeface="Inter"/>
                          <a:cs typeface="Inter"/>
                        </a:rPr>
                        <a:t>Memory blocks (SRAM)</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9</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250" b="0">
                          <a:solidFill>
                            <a:srgbClr val="002B57"/>
                          </a:solidFill>
                          <a:latin typeface="Inter"/>
                          <a:ea typeface="Inter"/>
                          <a:cs typeface="Inter"/>
                        </a:rPr>
                        <a:t>Die area (mm²)</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2.400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1.822</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250" b="0">
                          <a:solidFill>
                            <a:srgbClr val="002B57"/>
                          </a:solidFill>
                          <a:latin typeface="Inter"/>
                          <a:ea typeface="Inter"/>
                          <a:cs typeface="Inter"/>
                        </a:rPr>
                        <a:t>Estimated power (mW)</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162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133</a:t>
                      </a:r>
                    </a:p>
                  </a:txBody>
                  <a:tcPr marL="91440" marR="91440" marT="45720" marB="45720">
                    <a:lnR w="9525">
                      <a:solidFill>
                        <a:srgbClr val="D4DEE3"/>
                      </a:solidFill>
                      <a:prstDash val="solid"/>
                    </a:lnR>
                    <a:lnB w="9525">
                      <a:solidFill>
                        <a:srgbClr val="D4DEE3"/>
                      </a:solidFill>
                      <a:prstDash val="solid"/>
                    </a:lnB>
                    <a:solidFill>
                      <a:srgbClr val="FFFFFF"/>
                    </a:solidFill>
                  </a:tcPr>
                </a:tc>
              </a:tr>
              <a:tr h="685800">
                <a:tc>
                  <a:txBody>
                    <a:bodyPr/>
                    <a:lstStyle/>
                    <a:p>
                      <a:r>
                        <a:rPr sz="2250" b="0">
                          <a:solidFill>
                            <a:srgbClr val="002B57"/>
                          </a:solidFill>
                          <a:latin typeface="Inter"/>
                          <a:ea typeface="Inter"/>
                          <a:cs typeface="Inter"/>
                        </a:rPr>
                        <a:t>On-chip time/image (ms)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3.54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3.95</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465F295-51AC-4D1D-86D4-CCCC5B09D0FB}"/>
              </a:ext>
            </a:extLst>
          </p:cNvPr>
          <p:cNvSpPr>
            <a:spLocks xmlns:a="http://schemas.openxmlformats.org/drawingml/2006/main" noGrp="1"/>
          </p:cNvSpPr>
          <p:nvPr/>
        </p:nvSpPr>
        <p:spPr>
          <a:xfrm xmlns:a="http://schemas.openxmlformats.org/drawingml/2006/main">
            <a:off x="7239000" y="7715250"/>
            <a:ext cx="914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1">
                <a:solidFill>
                  <a:srgbClr val="0E749A"/>
                </a:solidFill>
                <a:latin typeface="Inter Bold"/>
                <a:ea typeface="Inter Bold"/>
                <a:cs typeface="Inter Bold"/>
              </a:defRPr>
            </a:defPPr>
            <a:lvl1pPr>
              <a:defRPr sz="2625" b="1">
                <a:solidFill>
                  <a:srgbClr val="0E749A"/>
                </a:solidFill>
                <a:latin typeface="Inter Bold"/>
                <a:ea typeface="Inter Bold"/>
                <a:cs typeface="Inter Bold"/>
              </a:defRPr>
            </a:lvl1pPr>
            <a:lvl2pPr>
              <a:defRPr sz="2625" b="1">
                <a:solidFill>
                  <a:srgbClr val="0E749A"/>
                </a:solidFill>
                <a:latin typeface="Inter Bold"/>
                <a:ea typeface="Inter Bold"/>
                <a:cs typeface="Inter Bold"/>
              </a:defRPr>
            </a:lvl2pPr>
            <a:lvl3pPr>
              <a:defRPr sz="2625" b="1">
                <a:solidFill>
                  <a:srgbClr val="0E749A"/>
                </a:solidFill>
                <a:latin typeface="Inter Bold"/>
                <a:ea typeface="Inter Bold"/>
                <a:cs typeface="Inter Bold"/>
              </a:defRPr>
            </a:lvl3pPr>
            <a:lvl4pPr>
              <a:defRPr sz="2625" b="1">
                <a:solidFill>
                  <a:srgbClr val="0E749A"/>
                </a:solidFill>
                <a:latin typeface="Inter Bold"/>
                <a:ea typeface="Inter Bold"/>
                <a:cs typeface="Inter Bold"/>
              </a:defRPr>
            </a:lvl4pPr>
            <a:lvl5pPr>
              <a:defRPr sz="2625" b="1">
                <a:solidFill>
                  <a:srgbClr val="0E749A"/>
                </a:solidFill>
                <a:latin typeface="Inter Bold"/>
                <a:ea typeface="Inter Bold"/>
                <a:cs typeface="Inter Bold"/>
              </a:defRPr>
            </a:lvl5pPr>
            <a:lvl6pPr>
              <a:defRPr sz="2625" b="1">
                <a:solidFill>
                  <a:srgbClr val="0E749A"/>
                </a:solidFill>
                <a:latin typeface="Inter Bold"/>
                <a:ea typeface="Inter Bold"/>
                <a:cs typeface="Inter Bold"/>
              </a:defRPr>
            </a:lvl6pPr>
            <a:lvl7pPr>
              <a:defRPr sz="2625" b="1">
                <a:solidFill>
                  <a:srgbClr val="0E749A"/>
                </a:solidFill>
                <a:latin typeface="Inter Bold"/>
                <a:ea typeface="Inter Bold"/>
                <a:cs typeface="Inter Bold"/>
              </a:defRPr>
            </a:lvl7pPr>
            <a:lvl8pPr>
              <a:defRPr sz="2625" b="1">
                <a:solidFill>
                  <a:srgbClr val="0E749A"/>
                </a:solidFill>
                <a:latin typeface="Inter Bold"/>
                <a:ea typeface="Inter Bold"/>
                <a:cs typeface="Inter Bold"/>
              </a:defRPr>
            </a:lvl8pPr>
            <a:lvl9pPr>
              <a:defRPr sz="2625" b="1">
                <a:solidFill>
                  <a:srgbClr val="0E749A"/>
                </a:solidFill>
                <a:latin typeface="Inter Bold"/>
                <a:ea typeface="Inter Bold"/>
                <a:cs typeface="Inter Bold"/>
              </a:defRPr>
            </a:lvl9pPr>
          </a:lstStyle>
          <a:p xmlns:a="http://schemas.openxmlformats.org/drawingml/2006/main">
            <a:pPr>
              <a:defRPr sz="2625" b="1">
                <a:solidFill>
                  <a:srgbClr val="0E749A"/>
                </a:solidFill>
                <a:latin typeface="Inter Bold"/>
                <a:ea typeface="Inter Bold"/>
                <a:cs typeface="Inter Bold"/>
              </a:defRPr>
            </a:pPr>
            <a:r>
              <a:rPr sz="2625" b="1">
                <a:solidFill>
                  <a:srgbClr val="0E749A"/>
                </a:solidFill>
                <a:latin typeface="Inter Bold"/>
                <a:ea typeface="Inter Bold"/>
                <a:cs typeface="Inter Bold"/>
              </a:rPr>
              <a:t>Same process, 3.3 V supply and 25 MHz clock</a:t>
            </a:r>
          </a:p>
        </p:txBody>
      </p:sp>
      <p:sp>
        <p:nvSpPr>
          <p:cNvPr id="8" name="">
            <a:extLst xmlns:a="http://schemas.openxmlformats.org/drawingml/2006/main">
              <a:ext uri="{FF2B5EF4-FFF2-40B4-BE49-F238E27FC236}">
                <a16:creationId xmlns:a16="http://schemas.microsoft.com/office/drawing/2014/main" id="{A5140273-FAA8-48F6-ACBE-669F1647B24C}"/>
              </a:ext>
            </a:extLst>
          </p:cNvPr>
          <p:cNvSpPr>
            <a:spLocks xmlns:a="http://schemas.openxmlformats.org/drawingml/2006/main" noGrp="1"/>
          </p:cNvSpPr>
          <p:nvPr/>
        </p:nvSpPr>
        <p:spPr>
          <a:xfrm xmlns:a="http://schemas.openxmlformats.org/drawingml/2006/main">
            <a:off x="7239000" y="8572500"/>
            <a:ext cx="914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Physical checks and timing pass.</a:t>
            </a:r>
          </a:p>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Power is estimated, not measured on silicon.</a:t>
            </a:r>
          </a:p>
        </p:txBody>
      </p:sp>
      <p:sp>
        <p:nvSpPr>
          <p:cNvPr id="9" name="">
            <a:extLst xmlns:a="http://schemas.openxmlformats.org/drawingml/2006/main">
              <a:ext uri="{FF2B5EF4-FFF2-40B4-BE49-F238E27FC236}">
                <a16:creationId xmlns:a16="http://schemas.microsoft.com/office/drawing/2014/main" id="{0B4B86E1-638F-465F-8744-9070D78F32B2}"/>
              </a:ext>
            </a:extLst>
          </p:cNvPr>
          <p:cNvSpPr>
            <a:spLocks xmlns:a="http://schemas.openxmlformats.org/drawingml/2006/main" noGrp="1"/>
          </p:cNvSpPr>
          <p:nvPr/>
        </p:nvSpPr>
        <p:spPr>
          <a:xfrm xmlns:a="http://schemas.openxmlformats.org/drawingml/2006/main">
            <a:off x="1809750" y="9525000"/>
            <a:ext cx="1381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SRAM = static random-access memory</a:t>
            </a:r>
          </a:p>
        </p:txBody>
      </p:sp>
      <p:sp>
        <p:nvSpPr>
          <p:cNvPr id="10" name="">
            <a:extLst xmlns:a="http://schemas.openxmlformats.org/drawingml/2006/main">
              <a:ext uri="{FF2B5EF4-FFF2-40B4-BE49-F238E27FC236}">
                <a16:creationId xmlns:a16="http://schemas.microsoft.com/office/drawing/2014/main" id="{AED91C1E-53BB-46EF-B019-56126C42F49F}"/>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19</a:t>
            </a:r>
          </a:p>
        </p:txBody>
      </p:sp>
    </p:spTree>
    <p:extLst>
      <p:ext uri="{BB962C8B-B14F-4D97-AF65-F5344CB8AC3E}">
        <p14:creationId xmlns:p14="http://schemas.microsoft.com/office/powerpoint/2010/main" val="102793492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94B5FB5-2B4F-43C0-8B16-83553B2AF774}"/>
              </a:ext>
            </a:extLst>
          </p:cNvPr>
          <p:cNvPicPr>
            <a:picLocks xmlns:a="http://schemas.openxmlformats.org/drawingml/2006/main" noChangeAspect="1"/>
          </p:cNvPicPr>
          <p:nvPr/>
        </p:nvPicPr>
        <p:blipFill>
          <a:blip xmlns:r="http://schemas.openxmlformats.org/officeDocument/2006/relationships" xmlns:a="http://schemas.openxmlformats.org/drawingml/2006/main" r:embed="R91970fad55d546b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365668-20BF-4961-8B74-B96ABCB32FA7}"/>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IV. RESULTS</a:t>
            </a:r>
          </a:p>
        </p:txBody>
      </p:sp>
      <p:sp>
        <p:nvSpPr>
          <p:cNvPr id="3" name="">
            <a:extLst xmlns:a="http://schemas.openxmlformats.org/drawingml/2006/main">
              <a:ext uri="{FF2B5EF4-FFF2-40B4-BE49-F238E27FC236}">
                <a16:creationId xmlns:a16="http://schemas.microsoft.com/office/drawing/2014/main" id="{713FF640-89F9-4585-B4CF-CB3461525B11}"/>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8755E12B-1F0D-4484-AB7C-61A026144D61}"/>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Weight transfer sets the image-generation time</a:t>
            </a:r>
          </a:p>
        </p:txBody>
      </p:sp>
      <p:sp>
        <p:nvSpPr>
          <p:cNvPr id="5" name="">
            <a:extLst xmlns:a="http://schemas.openxmlformats.org/drawingml/2006/main">
              <a:ext uri="{FF2B5EF4-FFF2-40B4-BE49-F238E27FC236}">
                <a16:creationId xmlns:a16="http://schemas.microsoft.com/office/drawing/2014/main" id="{513A4F76-279F-42A0-9D62-06C72A17004A}"/>
              </a:ext>
            </a:extLst>
          </p:cNvPr>
          <p:cNvSpPr>
            <a:spLocks xmlns:a="http://schemas.openxmlformats.org/drawingml/2006/main" noGrp="1"/>
          </p:cNvSpPr>
          <p:nvPr/>
        </p:nvSpPr>
        <p:spPr>
          <a:xfrm xmlns:a="http://schemas.openxmlformats.org/drawingml/2006/main">
            <a:off x="1809750" y="381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Throughput = useful operations per second. Latency = time to finish one image.</a:t>
            </a:r>
          </a:p>
        </p:txBody>
      </p:sp>
      <p:graphicFrame>
        <p:nvGraphicFramePr>
          <p:cNvPr id="6" name="">
            <a:extLst xmlns:a="http://schemas.openxmlformats.org/drawingml/2006/main">
              <a:ext uri="{FF2B5EF4-FFF2-40B4-BE49-F238E27FC236}">
                <a16:creationId xmlns:a16="http://schemas.microsoft.com/office/drawing/2014/main" id="{8BFA3A91-3A22-4E1C-B028-B0A246D0AB7F}"/>
              </a:ext>
            </a:extLst>
          </p:cNvPr>
          <p:cNvGraphicFramePr/>
          <p:nvPr/>
        </p:nvGraphicFramePr>
        <p:xfrm>
          <a:off xmlns:a="http://schemas.openxmlformats.org/drawingml/2006/main" x="1809750" y="4810125"/>
          <a:ext xmlns:a="http://schemas.openxmlformats.org/drawingml/2006/main" cx="14097000" cy="2857500"/>
        </p:xfrm>
        <a:graphic xmlns:a="http://schemas.openxmlformats.org/drawingml/2006/main">
          <a:graphicData uri="http://schemas.openxmlformats.org/drawingml/2006/table">
            <a:tbl>
              <a:tblPr/>
              <a:tblGrid>
                <a:gridCol w="6286500"/>
                <a:gridCol w="3333750"/>
                <a:gridCol w="4476750"/>
              </a:tblGrid>
              <a:tr h="714375">
                <a:tc>
                  <a:txBody>
                    <a:bodyPr/>
                    <a:lstStyle/>
                    <a:p>
                      <a:r>
                        <a:rPr sz="2250" b="1">
                          <a:solidFill>
                            <a:srgbClr val="FFFFFF"/>
                          </a:solidFill>
                          <a:latin typeface="Inter Bold"/>
                          <a:ea typeface="Inter Bold"/>
                          <a:cs typeface="Inter Bold"/>
                        </a:rPr>
                        <a:t>What is included?</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Operation rate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Time per image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714375">
                <a:tc>
                  <a:txBody>
                    <a:bodyPr/>
                    <a:lstStyle/>
                    <a:p>
                      <a:r>
                        <a:rPr sz="2250" b="0">
                          <a:solidFill>
                            <a:srgbClr val="002B57"/>
                          </a:solidFill>
                          <a:latin typeface="Inter"/>
                          <a:ea typeface="Inter"/>
                          <a:cs typeface="Inter"/>
                        </a:rPr>
                        <a:t>Peak array capacity, ideal use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0.8 GOPS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Not an image measurement</a:t>
                      </a:r>
                    </a:p>
                  </a:txBody>
                  <a:tcPr marL="91440" marR="91440" marT="45720" marB="45720">
                    <a:lnR w="9525">
                      <a:solidFill>
                        <a:srgbClr val="D4DEE3"/>
                      </a:solidFill>
                      <a:prstDash val="solid"/>
                    </a:lnR>
                    <a:lnB w="9525">
                      <a:solidFill>
                        <a:srgbClr val="D4DEE3"/>
                      </a:solidFill>
                      <a:prstDash val="solid"/>
                    </a:lnB>
                    <a:solidFill>
                      <a:srgbClr val="FFFFFF"/>
                    </a:solidFill>
                  </a:tcPr>
                </a:tc>
              </a:tr>
              <a:tr h="714375">
                <a:tc>
                  <a:txBody>
                    <a:bodyPr/>
                    <a:lstStyle/>
                    <a:p>
                      <a:r>
                        <a:rPr sz="2250" b="0">
                          <a:solidFill>
                            <a:srgbClr val="002B57"/>
                          </a:solidFill>
                          <a:latin typeface="Inter"/>
                          <a:ea typeface="Inter"/>
                          <a:cs typeface="Inter"/>
                        </a:rPr>
                        <a:t>Useful chip work + result storage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0.143 GOPS*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3.95 ms</a:t>
                      </a:r>
                    </a:p>
                  </a:txBody>
                  <a:tcPr marL="91440" marR="91440" marT="45720" marB="45720">
                    <a:lnR w="9525">
                      <a:solidFill>
                        <a:srgbClr val="D4DEE3"/>
                      </a:solidFill>
                      <a:prstDash val="solid"/>
                    </a:lnR>
                    <a:lnB w="9525">
                      <a:solidFill>
                        <a:srgbClr val="D4DEE3"/>
                      </a:solidFill>
                      <a:prstDash val="solid"/>
                    </a:lnB>
                    <a:solidFill>
                      <a:srgbClr val="FFFFFF"/>
                    </a:solidFill>
                  </a:tcPr>
                </a:tc>
              </a:tr>
              <a:tr h="714375">
                <a:tc>
                  <a:txBody>
                    <a:bodyPr/>
                    <a:lstStyle/>
                    <a:p>
                      <a:r>
                        <a:rPr sz="2250" b="0">
                          <a:solidFill>
                            <a:srgbClr val="002B57"/>
                          </a:solidFill>
                          <a:latin typeface="Inter"/>
                          <a:ea typeface="Inter"/>
                          <a:cs typeface="Inter"/>
                        </a:rPr>
                        <a:t>Full schedule, including serial transfers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263 kOPS*</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2.149 s</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752FCB0-F167-4FB9-8ADE-E5178DCA69AF}"/>
              </a:ext>
            </a:extLst>
          </p:cNvPr>
          <p:cNvSpPr>
            <a:spLocks xmlns:a="http://schemas.openxmlformats.org/drawingml/2006/main" noGrp="1"/>
          </p:cNvSpPr>
          <p:nvPr/>
        </p:nvSpPr>
        <p:spPr>
          <a:xfrm xmlns:a="http://schemas.openxmlformats.org/drawingml/2006/main">
            <a:off x="1809750" y="8096250"/>
            <a:ext cx="1428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F25903"/>
                </a:solidFill>
                <a:latin typeface="Inter Bold"/>
                <a:ea typeface="Inter Bold"/>
                <a:cs typeface="Inter Bold"/>
              </a:defRPr>
            </a:defPPr>
            <a:lvl1pPr>
              <a:defRPr sz="2925" b="1">
                <a:solidFill>
                  <a:srgbClr val="F25903"/>
                </a:solidFill>
                <a:latin typeface="Inter Bold"/>
                <a:ea typeface="Inter Bold"/>
                <a:cs typeface="Inter Bold"/>
              </a:defRPr>
            </a:lvl1pPr>
            <a:lvl2pPr>
              <a:defRPr sz="2925" b="1">
                <a:solidFill>
                  <a:srgbClr val="F25903"/>
                </a:solidFill>
                <a:latin typeface="Inter Bold"/>
                <a:ea typeface="Inter Bold"/>
                <a:cs typeface="Inter Bold"/>
              </a:defRPr>
            </a:lvl2pPr>
            <a:lvl3pPr>
              <a:defRPr sz="2925" b="1">
                <a:solidFill>
                  <a:srgbClr val="F25903"/>
                </a:solidFill>
                <a:latin typeface="Inter Bold"/>
                <a:ea typeface="Inter Bold"/>
                <a:cs typeface="Inter Bold"/>
              </a:defRPr>
            </a:lvl3pPr>
            <a:lvl4pPr>
              <a:defRPr sz="2925" b="1">
                <a:solidFill>
                  <a:srgbClr val="F25903"/>
                </a:solidFill>
                <a:latin typeface="Inter Bold"/>
                <a:ea typeface="Inter Bold"/>
                <a:cs typeface="Inter Bold"/>
              </a:defRPr>
            </a:lvl4pPr>
            <a:lvl5pPr>
              <a:defRPr sz="2925" b="1">
                <a:solidFill>
                  <a:srgbClr val="F25903"/>
                </a:solidFill>
                <a:latin typeface="Inter Bold"/>
                <a:ea typeface="Inter Bold"/>
                <a:cs typeface="Inter Bold"/>
              </a:defRPr>
            </a:lvl5pPr>
            <a:lvl6pPr>
              <a:defRPr sz="2925" b="1">
                <a:solidFill>
                  <a:srgbClr val="F25903"/>
                </a:solidFill>
                <a:latin typeface="Inter Bold"/>
                <a:ea typeface="Inter Bold"/>
                <a:cs typeface="Inter Bold"/>
              </a:defRPr>
            </a:lvl6pPr>
            <a:lvl7pPr>
              <a:defRPr sz="2925" b="1">
                <a:solidFill>
                  <a:srgbClr val="F25903"/>
                </a:solidFill>
                <a:latin typeface="Inter Bold"/>
                <a:ea typeface="Inter Bold"/>
                <a:cs typeface="Inter Bold"/>
              </a:defRPr>
            </a:lvl7pPr>
            <a:lvl8pPr>
              <a:defRPr sz="2925" b="1">
                <a:solidFill>
                  <a:srgbClr val="F25903"/>
                </a:solidFill>
                <a:latin typeface="Inter Bold"/>
                <a:ea typeface="Inter Bold"/>
                <a:cs typeface="Inter Bold"/>
              </a:defRPr>
            </a:lvl8pPr>
            <a:lvl9pPr>
              <a:defRPr sz="2925" b="1">
                <a:solidFill>
                  <a:srgbClr val="F25903"/>
                </a:solidFill>
                <a:latin typeface="Inter Bold"/>
                <a:ea typeface="Inter Bold"/>
                <a:cs typeface="Inter Bold"/>
              </a:defRPr>
            </a:lvl9pPr>
          </a:lstStyle>
          <a:p xmlns:a="http://schemas.openxmlformats.org/drawingml/2006/main">
            <a:pPr>
              <a:defRPr sz="2925" b="1">
                <a:solidFill>
                  <a:srgbClr val="F25903"/>
                </a:solidFill>
                <a:latin typeface="Inter Bold"/>
                <a:ea typeface="Inter Bold"/>
                <a:cs typeface="Inter Bold"/>
              </a:defRPr>
            </a:pPr>
            <a:r>
              <a:rPr sz="2925" b="1">
                <a:solidFill>
                  <a:srgbClr val="F25903"/>
                </a:solidFill>
                <a:latin typeface="Inter Bold"/>
                <a:ea typeface="Inter Bold"/>
                <a:cs typeface="Inter Bold"/>
              </a:rPr>
              <a:t>Only 0.47 images/s end to end; weight loading takes 98.85% of the time.</a:t>
            </a:r>
          </a:p>
        </p:txBody>
      </p:sp>
      <p:sp>
        <p:nvSpPr>
          <p:cNvPr id="8" name="">
            <a:extLst xmlns:a="http://schemas.openxmlformats.org/drawingml/2006/main">
              <a:ext uri="{FF2B5EF4-FFF2-40B4-BE49-F238E27FC236}">
                <a16:creationId xmlns:a16="http://schemas.microsoft.com/office/drawing/2014/main" id="{4DD60B0D-1C5B-4123-94A7-1D724AD30D6A}"/>
              </a:ext>
            </a:extLst>
          </p:cNvPr>
          <p:cNvSpPr>
            <a:spLocks xmlns:a="http://schemas.openxmlformats.org/drawingml/2006/main" noGrp="1"/>
          </p:cNvSpPr>
          <p:nvPr/>
        </p:nvSpPr>
        <p:spPr>
          <a:xfrm xmlns:a="http://schemas.openxmlformats.org/drawingml/2006/main">
            <a:off x="1809750" y="9096375"/>
            <a:ext cx="1428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0">
                <a:solidFill>
                  <a:srgbClr val="566675"/>
                </a:solidFill>
                <a:latin typeface="Inter"/>
                <a:ea typeface="Inter"/>
                <a:cs typeface="Inter"/>
              </a:defRPr>
            </a:defPPr>
            <a:lvl1pPr>
              <a:defRPr sz="1950" b="0">
                <a:solidFill>
                  <a:srgbClr val="566675"/>
                </a:solidFill>
                <a:latin typeface="Inter"/>
                <a:ea typeface="Inter"/>
                <a:cs typeface="Inter"/>
              </a:defRPr>
            </a:lvl1pPr>
            <a:lvl2pPr>
              <a:defRPr sz="1950" b="0">
                <a:solidFill>
                  <a:srgbClr val="566675"/>
                </a:solidFill>
                <a:latin typeface="Inter"/>
                <a:ea typeface="Inter"/>
                <a:cs typeface="Inter"/>
              </a:defRPr>
            </a:lvl2pPr>
            <a:lvl3pPr>
              <a:defRPr sz="1950" b="0">
                <a:solidFill>
                  <a:srgbClr val="566675"/>
                </a:solidFill>
                <a:latin typeface="Inter"/>
                <a:ea typeface="Inter"/>
                <a:cs typeface="Inter"/>
              </a:defRPr>
            </a:lvl3pPr>
            <a:lvl4pPr>
              <a:defRPr sz="1950" b="0">
                <a:solidFill>
                  <a:srgbClr val="566675"/>
                </a:solidFill>
                <a:latin typeface="Inter"/>
                <a:ea typeface="Inter"/>
                <a:cs typeface="Inter"/>
              </a:defRPr>
            </a:lvl4pPr>
            <a:lvl5pPr>
              <a:defRPr sz="1950" b="0">
                <a:solidFill>
                  <a:srgbClr val="566675"/>
                </a:solidFill>
                <a:latin typeface="Inter"/>
                <a:ea typeface="Inter"/>
                <a:cs typeface="Inter"/>
              </a:defRPr>
            </a:lvl5pPr>
            <a:lvl6pPr>
              <a:defRPr sz="1950" b="0">
                <a:solidFill>
                  <a:srgbClr val="566675"/>
                </a:solidFill>
                <a:latin typeface="Inter"/>
                <a:ea typeface="Inter"/>
                <a:cs typeface="Inter"/>
              </a:defRPr>
            </a:lvl6pPr>
            <a:lvl7pPr>
              <a:defRPr sz="1950" b="0">
                <a:solidFill>
                  <a:srgbClr val="566675"/>
                </a:solidFill>
                <a:latin typeface="Inter"/>
                <a:ea typeface="Inter"/>
                <a:cs typeface="Inter"/>
              </a:defRPr>
            </a:lvl7pPr>
            <a:lvl8pPr>
              <a:defRPr sz="1950" b="0">
                <a:solidFill>
                  <a:srgbClr val="566675"/>
                </a:solidFill>
                <a:latin typeface="Inter"/>
                <a:ea typeface="Inter"/>
                <a:cs typeface="Inter"/>
              </a:defRPr>
            </a:lvl8pPr>
            <a:lvl9pPr>
              <a:defRPr sz="1950" b="0">
                <a:solidFill>
                  <a:srgbClr val="566675"/>
                </a:solidFill>
                <a:latin typeface="Inter"/>
                <a:ea typeface="Inter"/>
                <a:cs typeface="Inter"/>
              </a:defRPr>
            </a:lvl9pPr>
          </a:lstStyle>
          <a:p xmlns:a="http://schemas.openxmlformats.org/drawingml/2006/main">
            <a:pPr>
              <a:defRPr sz="1950" b="0">
                <a:solidFill>
                  <a:srgbClr val="566675"/>
                </a:solidFill>
                <a:latin typeface="Inter"/>
                <a:ea typeface="Inter"/>
                <a:cs typeface="Inter"/>
              </a:defRPr>
            </a:pPr>
            <a:r>
              <a:rPr sz="1950" b="0">
                <a:solidFill>
                  <a:srgbClr val="566675"/>
                </a:solidFill>
                <a:latin typeface="Inter"/>
                <a:ea typeface="Inter"/>
                <a:cs typeface="Inter"/>
              </a:rPr>
              <a:t>GOPS = billion operations/s. kOPS = thousand operations/s. One MAC counts as two operations.</a:t>
            </a:r>
          </a:p>
        </p:txBody>
      </p:sp>
      <p:sp>
        <p:nvSpPr>
          <p:cNvPr id="9" name="">
            <a:extLst xmlns:a="http://schemas.openxmlformats.org/drawingml/2006/main">
              <a:ext uri="{FF2B5EF4-FFF2-40B4-BE49-F238E27FC236}">
                <a16:creationId xmlns:a16="http://schemas.microsoft.com/office/drawing/2014/main" id="{2C10D77F-9BDE-4D62-8B4C-20754D1B31EF}"/>
              </a:ext>
            </a:extLst>
          </p:cNvPr>
          <p:cNvSpPr>
            <a:spLocks xmlns:a="http://schemas.openxmlformats.org/drawingml/2006/main" noGrp="1"/>
          </p:cNvSpPr>
          <p:nvPr/>
        </p:nvSpPr>
        <p:spPr>
          <a:xfrm xmlns:a="http://schemas.openxmlformats.org/drawingml/2006/main">
            <a:off x="1809750" y="9572625"/>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00" b="0">
                <a:solidFill>
                  <a:srgbClr val="566675"/>
                </a:solidFill>
                <a:latin typeface="Inter"/>
                <a:ea typeface="Inter"/>
                <a:cs typeface="Inter"/>
              </a:defRPr>
            </a:defPPr>
            <a:lvl1pPr>
              <a:defRPr sz="1800" b="0">
                <a:solidFill>
                  <a:srgbClr val="566675"/>
                </a:solidFill>
                <a:latin typeface="Inter"/>
                <a:ea typeface="Inter"/>
                <a:cs typeface="Inter"/>
              </a:defRPr>
            </a:lvl1pPr>
            <a:lvl2pPr>
              <a:defRPr sz="1800" b="0">
                <a:solidFill>
                  <a:srgbClr val="566675"/>
                </a:solidFill>
                <a:latin typeface="Inter"/>
                <a:ea typeface="Inter"/>
                <a:cs typeface="Inter"/>
              </a:defRPr>
            </a:lvl2pPr>
            <a:lvl3pPr>
              <a:defRPr sz="1800" b="0">
                <a:solidFill>
                  <a:srgbClr val="566675"/>
                </a:solidFill>
                <a:latin typeface="Inter"/>
                <a:ea typeface="Inter"/>
                <a:cs typeface="Inter"/>
              </a:defRPr>
            </a:lvl3pPr>
            <a:lvl4pPr>
              <a:defRPr sz="1800" b="0">
                <a:solidFill>
                  <a:srgbClr val="566675"/>
                </a:solidFill>
                <a:latin typeface="Inter"/>
                <a:ea typeface="Inter"/>
                <a:cs typeface="Inter"/>
              </a:defRPr>
            </a:lvl4pPr>
            <a:lvl5pPr>
              <a:defRPr sz="1800" b="0">
                <a:solidFill>
                  <a:srgbClr val="566675"/>
                </a:solidFill>
                <a:latin typeface="Inter"/>
                <a:ea typeface="Inter"/>
                <a:cs typeface="Inter"/>
              </a:defRPr>
            </a:lvl5pPr>
            <a:lvl6pPr>
              <a:defRPr sz="1800" b="0">
                <a:solidFill>
                  <a:srgbClr val="566675"/>
                </a:solidFill>
                <a:latin typeface="Inter"/>
                <a:ea typeface="Inter"/>
                <a:cs typeface="Inter"/>
              </a:defRPr>
            </a:lvl6pPr>
            <a:lvl7pPr>
              <a:defRPr sz="1800" b="0">
                <a:solidFill>
                  <a:srgbClr val="566675"/>
                </a:solidFill>
                <a:latin typeface="Inter"/>
                <a:ea typeface="Inter"/>
                <a:cs typeface="Inter"/>
              </a:defRPr>
            </a:lvl7pPr>
            <a:lvl8pPr>
              <a:defRPr sz="1800" b="0">
                <a:solidFill>
                  <a:srgbClr val="566675"/>
                </a:solidFill>
                <a:latin typeface="Inter"/>
                <a:ea typeface="Inter"/>
                <a:cs typeface="Inter"/>
              </a:defRPr>
            </a:lvl8pPr>
            <a:lvl9pPr>
              <a:defRPr sz="1800" b="0">
                <a:solidFill>
                  <a:srgbClr val="566675"/>
                </a:solidFill>
                <a:latin typeface="Inter"/>
                <a:ea typeface="Inter"/>
                <a:cs typeface="Inter"/>
              </a:defRPr>
            </a:lvl9pPr>
          </a:lstStyle>
          <a:p xmlns:a="http://schemas.openxmlformats.org/drawingml/2006/main">
            <a:pPr>
              <a:defRPr sz="1800" b="0">
                <a:solidFill>
                  <a:srgbClr val="566675"/>
                </a:solidFill>
                <a:latin typeface="Inter"/>
                <a:ea typeface="Inter"/>
                <a:cs typeface="Inter"/>
              </a:defRPr>
            </a:pPr>
            <a:r>
              <a:rPr sz="1800" b="0">
                <a:solidFill>
                  <a:srgbClr val="566675"/>
                </a:solidFill>
                <a:latin typeface="Inter"/>
                <a:ea typeface="Inter"/>
                <a:cs typeface="Inter"/>
              </a:rPr>
              <a:t>*Useful rates derived from the paper’s operation count and elapsed times; not silicon measurements.</a:t>
            </a:r>
          </a:p>
        </p:txBody>
      </p:sp>
      <p:sp>
        <p:nvSpPr>
          <p:cNvPr id="10" name="">
            <a:extLst xmlns:a="http://schemas.openxmlformats.org/drawingml/2006/main">
              <a:ext uri="{FF2B5EF4-FFF2-40B4-BE49-F238E27FC236}">
                <a16:creationId xmlns:a16="http://schemas.microsoft.com/office/drawing/2014/main" id="{F3BFC8F4-66B9-4609-AAA6-558783C986A4}"/>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20</a:t>
            </a:r>
          </a:p>
        </p:txBody>
      </p:sp>
    </p:spTree>
    <p:extLst>
      <p:ext uri="{BB962C8B-B14F-4D97-AF65-F5344CB8AC3E}">
        <p14:creationId xmlns:p14="http://schemas.microsoft.com/office/powerpoint/2010/main" val="206901015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AB094EB-7933-4310-9534-A01EE2AF0CC6}"/>
              </a:ext>
            </a:extLst>
          </p:cNvPr>
          <p:cNvPicPr>
            <a:picLocks xmlns:a="http://schemas.openxmlformats.org/drawingml/2006/main" noChangeAspect="1"/>
          </p:cNvPicPr>
          <p:nvPr/>
        </p:nvPicPr>
        <p:blipFill>
          <a:blip xmlns:r="http://schemas.openxmlformats.org/officeDocument/2006/relationships" xmlns:a="http://schemas.openxmlformats.org/drawingml/2006/main" r:embed="R10a5bc83063044d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FD4B48-5483-40CF-86E5-791B246B5612}"/>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IV. RESULTS</a:t>
            </a:r>
          </a:p>
        </p:txBody>
      </p:sp>
      <p:sp>
        <p:nvSpPr>
          <p:cNvPr id="3" name="">
            <a:extLst xmlns:a="http://schemas.openxmlformats.org/drawingml/2006/main">
              <a:ext uri="{FF2B5EF4-FFF2-40B4-BE49-F238E27FC236}">
                <a16:creationId xmlns:a16="http://schemas.microsoft.com/office/drawing/2014/main" id="{970488D5-5D0A-46DB-ABB4-5E5B4B8A2EA4}"/>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E3802E90-2A43-4B49-8596-8DB61F9AEF60}"/>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Previous work uses different technologies and workloads</a:t>
            </a:r>
          </a:p>
        </p:txBody>
      </p:sp>
      <p:graphicFrame>
        <p:nvGraphicFramePr>
          <p:cNvPr id="5" name="">
            <a:extLst xmlns:a="http://schemas.openxmlformats.org/drawingml/2006/main">
              <a:ext uri="{FF2B5EF4-FFF2-40B4-BE49-F238E27FC236}">
                <a16:creationId xmlns:a16="http://schemas.microsoft.com/office/drawing/2014/main" id="{418C1619-5464-484F-8D79-2764B81EC2BC}"/>
              </a:ext>
            </a:extLst>
          </p:cNvPr>
          <p:cNvGraphicFramePr/>
          <p:nvPr/>
        </p:nvGraphicFramePr>
        <p:xfrm>
          <a:off xmlns:a="http://schemas.openxmlformats.org/drawingml/2006/main" x="1714500" y="3905250"/>
          <a:ext xmlns:a="http://schemas.openxmlformats.org/drawingml/2006/main" cx="14573250" cy="3905250"/>
        </p:xfrm>
        <a:graphic xmlns:a="http://schemas.openxmlformats.org/drawingml/2006/main">
          <a:graphicData uri="http://schemas.openxmlformats.org/drawingml/2006/table">
            <a:tbl>
              <a:tblPr/>
              <a:tblGrid>
                <a:gridCol w="2857500"/>
                <a:gridCol w="1714500"/>
                <a:gridCol w="2428875"/>
                <a:gridCol w="2143125"/>
                <a:gridCol w="3333750"/>
                <a:gridCol w="2095500"/>
              </a:tblGrid>
              <a:tr h="650875">
                <a:tc>
                  <a:txBody>
                    <a:bodyPr/>
                    <a:lstStyle/>
                    <a:p>
                      <a:r>
                        <a:rPr sz="2100" b="1">
                          <a:solidFill>
                            <a:srgbClr val="FFFFFF"/>
                          </a:solidFill>
                          <a:latin typeface="Inter Bold"/>
                          <a:ea typeface="Inter Bold"/>
                          <a:cs typeface="Inter Bold"/>
                        </a:rPr>
                        <a:t>Design</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Chip tech.</a:t>
                      </a:r>
                    </a:p>
                    <a:p>
                      <a:r>
                        <a:rPr sz="2100" b="1">
                          <a:solidFill>
                            <a:srgbClr val="FFFFFF"/>
                          </a:solidFill>
                          <a:latin typeface="Inter Bold"/>
                          <a:ea typeface="Inter Bold"/>
                          <a:cs typeface="Inter Bold"/>
                        </a:rPr>
                        <a:t>(nm)</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Reported area</a:t>
                      </a:r>
                    </a:p>
                    <a:p>
                      <a:r>
                        <a:rPr sz="2100" b="1">
                          <a:solidFill>
                            <a:srgbClr val="FFFFFF"/>
                          </a:solidFill>
                          <a:latin typeface="Inter Bold"/>
                          <a:ea typeface="Inter Bold"/>
                          <a:cs typeface="Inter Bold"/>
                        </a:rPr>
                        <a:t>(mm²)</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Peak speed</a:t>
                      </a:r>
                    </a:p>
                    <a:p>
                      <a:r>
                        <a:rPr sz="2100" b="1">
                          <a:solidFill>
                            <a:srgbClr val="FFFFFF"/>
                          </a:solidFill>
                          <a:latin typeface="Inter Bold"/>
                          <a:ea typeface="Inter Bold"/>
                          <a:cs typeface="Inter Bold"/>
                        </a:rPr>
                        <a:t>(GOPS)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Peak speed/power</a:t>
                      </a:r>
                    </a:p>
                    <a:p>
                      <a:r>
                        <a:rPr sz="2100" b="1">
                          <a:solidFill>
                            <a:srgbClr val="FFFFFF"/>
                          </a:solidFill>
                          <a:latin typeface="Inter Bold"/>
                          <a:ea typeface="Inter Bold"/>
                          <a:cs typeface="Inter Bold"/>
                        </a:rPr>
                        <a:t>(GOPS/W)</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Open tools</a:t>
                      </a:r>
                    </a:p>
                    <a:p>
                      <a:r>
                        <a:rPr sz="2100" b="1">
                          <a:solidFill>
                            <a:srgbClr val="FFFFFF"/>
                          </a:solidFill>
                          <a:latin typeface="Inter Bold"/>
                          <a:ea typeface="Inter Bold"/>
                          <a:cs typeface="Inter Bold"/>
                        </a:rPr>
                        <a:t>and process kit</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50875">
                <a:tc>
                  <a:txBody>
                    <a:bodyPr/>
                    <a:lstStyle/>
                    <a:p>
                      <a:r>
                        <a:rPr sz="2100" b="0">
                          <a:solidFill>
                            <a:srgbClr val="002B57"/>
                          </a:solidFill>
                          <a:latin typeface="Inter"/>
                          <a:ea typeface="Inter"/>
                          <a:cs typeface="Inter"/>
                        </a:rPr>
                        <a:t>DianNao [3]</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65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3.02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452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932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No</a:t>
                      </a:r>
                    </a:p>
                  </a:txBody>
                  <a:tcPr marL="91440" marR="91440" marT="45720" marB="45720">
                    <a:lnR w="9525">
                      <a:solidFill>
                        <a:srgbClr val="D4DEE3"/>
                      </a:solidFill>
                      <a:prstDash val="solid"/>
                    </a:lnR>
                    <a:lnB w="9525">
                      <a:solidFill>
                        <a:srgbClr val="D4DEE3"/>
                      </a:solidFill>
                      <a:prstDash val="solid"/>
                    </a:lnB>
                    <a:solidFill>
                      <a:srgbClr val="FFFFFF"/>
                    </a:solidFill>
                  </a:tcPr>
                </a:tc>
              </a:tr>
              <a:tr h="650875">
                <a:tc>
                  <a:txBody>
                    <a:bodyPr/>
                    <a:lstStyle/>
                    <a:p>
                      <a:r>
                        <a:rPr sz="2100" b="0">
                          <a:solidFill>
                            <a:srgbClr val="002B57"/>
                          </a:solidFill>
                          <a:latin typeface="Inter"/>
                          <a:ea typeface="Inter"/>
                          <a:cs typeface="Inter"/>
                        </a:rPr>
                        <a:t>Eyeriss [4]</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65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12.25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67.2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242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No</a:t>
                      </a:r>
                    </a:p>
                  </a:txBody>
                  <a:tcPr marL="91440" marR="91440" marT="45720" marB="45720">
                    <a:lnR w="9525">
                      <a:solidFill>
                        <a:srgbClr val="D4DEE3"/>
                      </a:solidFill>
                      <a:prstDash val="solid"/>
                    </a:lnR>
                    <a:lnB w="9525">
                      <a:solidFill>
                        <a:srgbClr val="D4DEE3"/>
                      </a:solidFill>
                      <a:prstDash val="solid"/>
                    </a:lnB>
                    <a:solidFill>
                      <a:srgbClr val="FFFFFF"/>
                    </a:solidFill>
                  </a:tcPr>
                </a:tc>
              </a:tr>
              <a:tr h="650875">
                <a:tc>
                  <a:txBody>
                    <a:bodyPr/>
                    <a:lstStyle/>
                    <a:p>
                      <a:r>
                        <a:rPr sz="2100" b="0">
                          <a:solidFill>
                            <a:srgbClr val="002B57"/>
                          </a:solidFill>
                          <a:latin typeface="Inter"/>
                          <a:ea typeface="Inter"/>
                          <a:cs typeface="Inter"/>
                        </a:rPr>
                        <a:t>Wang et al. [7]</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40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11.97</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54.61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567</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No</a:t>
                      </a:r>
                    </a:p>
                  </a:txBody>
                  <a:tcPr marL="91440" marR="91440" marT="45720" marB="45720">
                    <a:lnR w="9525">
                      <a:solidFill>
                        <a:srgbClr val="D4DEE3"/>
                      </a:solidFill>
                      <a:prstDash val="solid"/>
                    </a:lnR>
                    <a:lnB w="9525">
                      <a:solidFill>
                        <a:srgbClr val="D4DEE3"/>
                      </a:solidFill>
                      <a:prstDash val="solid"/>
                    </a:lnB>
                    <a:solidFill>
                      <a:srgbClr val="FFFFFF"/>
                    </a:solidFill>
                  </a:tcPr>
                </a:tc>
              </a:tr>
              <a:tr h="650875">
                <a:tc>
                  <a:txBody>
                    <a:bodyPr/>
                    <a:lstStyle/>
                    <a:p>
                      <a:r>
                        <a:rPr sz="2100" b="0">
                          <a:solidFill>
                            <a:srgbClr val="002B57"/>
                          </a:solidFill>
                          <a:latin typeface="Inter"/>
                          <a:ea typeface="Inter"/>
                          <a:cs typeface="Inter"/>
                        </a:rPr>
                        <a:t>OpenSpike [5]</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130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33.3</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Not given</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56.8</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Yes</a:t>
                      </a:r>
                    </a:p>
                  </a:txBody>
                  <a:tcPr marL="91440" marR="91440" marT="45720" marB="45720">
                    <a:lnR w="9525">
                      <a:solidFill>
                        <a:srgbClr val="D4DEE3"/>
                      </a:solidFill>
                      <a:prstDash val="solid"/>
                    </a:lnR>
                    <a:lnB w="9525">
                      <a:solidFill>
                        <a:srgbClr val="D4DEE3"/>
                      </a:solidFill>
                      <a:prstDash val="solid"/>
                    </a:lnB>
                    <a:solidFill>
                      <a:srgbClr val="FFFFFF"/>
                    </a:solidFill>
                  </a:tcPr>
                </a:tc>
              </a:tr>
              <a:tr h="650875">
                <a:tc>
                  <a:txBody>
                    <a:bodyPr/>
                    <a:lstStyle/>
                    <a:p>
                      <a:r>
                        <a:rPr sz="2100" b="1">
                          <a:solidFill>
                            <a:srgbClr val="002B57"/>
                          </a:solidFill>
                          <a:latin typeface="Inter Bold"/>
                          <a:ea typeface="Inter Bold"/>
                          <a:cs typeface="Inter Bold"/>
                        </a:rPr>
                        <a:t>This work</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100" b="1">
                          <a:solidFill>
                            <a:srgbClr val="002B57"/>
                          </a:solidFill>
                          <a:latin typeface="Inter Bold"/>
                          <a:ea typeface="Inter Bold"/>
                          <a:cs typeface="Inter Bold"/>
                        </a:rPr>
                        <a:t>180</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00" b="1">
                          <a:solidFill>
                            <a:srgbClr val="002B57"/>
                          </a:solidFill>
                          <a:latin typeface="Inter Bold"/>
                          <a:ea typeface="Inter Bold"/>
                          <a:cs typeface="Inter Bold"/>
                        </a:rPr>
                        <a:t>1.761*</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00" b="1">
                          <a:solidFill>
                            <a:srgbClr val="002B57"/>
                          </a:solidFill>
                          <a:latin typeface="Inter Bold"/>
                          <a:ea typeface="Inter Bold"/>
                          <a:cs typeface="Inter Bold"/>
                        </a:rPr>
                        <a:t>0.8</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00" b="1">
                          <a:solidFill>
                            <a:srgbClr val="002B57"/>
                          </a:solidFill>
                          <a:latin typeface="Inter Bold"/>
                          <a:ea typeface="Inter Bold"/>
                          <a:cs typeface="Inter Bold"/>
                        </a:rPr>
                        <a:t>6.0**</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00" b="1">
                          <a:solidFill>
                            <a:srgbClr val="002B57"/>
                          </a:solidFill>
                          <a:latin typeface="Inter Bold"/>
                          <a:ea typeface="Inter Bold"/>
                          <a:cs typeface="Inter Bold"/>
                        </a:rPr>
                        <a:t>Yes</a:t>
                      </a:r>
                    </a:p>
                  </a:txBody>
                  <a:tcPr marL="91440" marR="91440" marT="45720" marB="45720">
                    <a:lnR w="9525">
                      <a:solidFill>
                        <a:srgbClr val="D4DEE3"/>
                      </a:solidFill>
                      <a:prstDash val="solid"/>
                    </a:lnR>
                    <a:lnB w="9525">
                      <a:solidFill>
                        <a:srgbClr val="D4DEE3"/>
                      </a:solidFill>
                      <a:prstDash val="solid"/>
                    </a:lnB>
                    <a:solidFill>
                      <a:srgbClr val="E9F2F5"/>
                    </a:solidFill>
                  </a:tcPr>
                </a:tc>
              </a:tr>
            </a:tbl>
          </a:graphicData>
        </a:graphic>
      </p:graphicFrame>
      <p:sp>
        <p:nvSpPr>
          <p:cNvPr id="6" name="">
            <a:extLst xmlns:a="http://schemas.openxmlformats.org/drawingml/2006/main">
              <a:ext uri="{FF2B5EF4-FFF2-40B4-BE49-F238E27FC236}">
                <a16:creationId xmlns:a16="http://schemas.microsoft.com/office/drawing/2014/main" id="{6EBF0250-25A4-4925-99BC-A8D998D40472}"/>
              </a:ext>
            </a:extLst>
          </p:cNvPr>
          <p:cNvSpPr>
            <a:spLocks xmlns:a="http://schemas.openxmlformats.org/drawingml/2006/main" noGrp="1"/>
          </p:cNvSpPr>
          <p:nvPr/>
        </p:nvSpPr>
        <p:spPr>
          <a:xfrm xmlns:a="http://schemas.openxmlformats.org/drawingml/2006/main">
            <a:off x="1809750" y="8096250"/>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Our contribution: a measured area reduction within an open implementation flow.</a:t>
            </a:r>
          </a:p>
        </p:txBody>
      </p:sp>
      <p:sp>
        <p:nvSpPr>
          <p:cNvPr id="7" name="">
            <a:extLst xmlns:a="http://schemas.openxmlformats.org/drawingml/2006/main">
              <a:ext uri="{FF2B5EF4-FFF2-40B4-BE49-F238E27FC236}">
                <a16:creationId xmlns:a16="http://schemas.microsoft.com/office/drawing/2014/main" id="{51CECBC9-67AD-461D-9C63-A2D08FC1AEF0}"/>
              </a:ext>
            </a:extLst>
          </p:cNvPr>
          <p:cNvSpPr>
            <a:spLocks xmlns:a="http://schemas.openxmlformats.org/drawingml/2006/main" noGrp="1"/>
          </p:cNvSpPr>
          <p:nvPr/>
        </p:nvSpPr>
        <p:spPr>
          <a:xfrm xmlns:a="http://schemas.openxmlformats.org/drawingml/2006/main">
            <a:off x="1809750" y="9048750"/>
            <a:ext cx="1428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75" b="0">
                <a:solidFill>
                  <a:srgbClr val="002B57"/>
                </a:solidFill>
                <a:latin typeface="Inter"/>
                <a:ea typeface="Inter"/>
                <a:cs typeface="Inter"/>
              </a:defRPr>
            </a:defPPr>
            <a:lvl1pPr>
              <a:defRPr sz="2175" b="0">
                <a:solidFill>
                  <a:srgbClr val="002B57"/>
                </a:solidFill>
                <a:latin typeface="Inter"/>
                <a:ea typeface="Inter"/>
                <a:cs typeface="Inter"/>
              </a:defRPr>
            </a:lvl1pPr>
            <a:lvl2pPr>
              <a:defRPr sz="2175" b="0">
                <a:solidFill>
                  <a:srgbClr val="002B57"/>
                </a:solidFill>
                <a:latin typeface="Inter"/>
                <a:ea typeface="Inter"/>
                <a:cs typeface="Inter"/>
              </a:defRPr>
            </a:lvl2pPr>
            <a:lvl3pPr>
              <a:defRPr sz="2175" b="0">
                <a:solidFill>
                  <a:srgbClr val="002B57"/>
                </a:solidFill>
                <a:latin typeface="Inter"/>
                <a:ea typeface="Inter"/>
                <a:cs typeface="Inter"/>
              </a:defRPr>
            </a:lvl3pPr>
            <a:lvl4pPr>
              <a:defRPr sz="2175" b="0">
                <a:solidFill>
                  <a:srgbClr val="002B57"/>
                </a:solidFill>
                <a:latin typeface="Inter"/>
                <a:ea typeface="Inter"/>
                <a:cs typeface="Inter"/>
              </a:defRPr>
            </a:lvl4pPr>
            <a:lvl5pPr>
              <a:defRPr sz="2175" b="0">
                <a:solidFill>
                  <a:srgbClr val="002B57"/>
                </a:solidFill>
                <a:latin typeface="Inter"/>
                <a:ea typeface="Inter"/>
                <a:cs typeface="Inter"/>
              </a:defRPr>
            </a:lvl5pPr>
            <a:lvl6pPr>
              <a:defRPr sz="2175" b="0">
                <a:solidFill>
                  <a:srgbClr val="002B57"/>
                </a:solidFill>
                <a:latin typeface="Inter"/>
                <a:ea typeface="Inter"/>
                <a:cs typeface="Inter"/>
              </a:defRPr>
            </a:lvl6pPr>
            <a:lvl7pPr>
              <a:defRPr sz="2175" b="0">
                <a:solidFill>
                  <a:srgbClr val="002B57"/>
                </a:solidFill>
                <a:latin typeface="Inter"/>
                <a:ea typeface="Inter"/>
                <a:cs typeface="Inter"/>
              </a:defRPr>
            </a:lvl7pPr>
            <a:lvl8pPr>
              <a:defRPr sz="2175" b="0">
                <a:solidFill>
                  <a:srgbClr val="002B57"/>
                </a:solidFill>
                <a:latin typeface="Inter"/>
                <a:ea typeface="Inter"/>
                <a:cs typeface="Inter"/>
              </a:defRPr>
            </a:lvl8pPr>
            <a:lvl9pPr>
              <a:defRPr sz="2175" b="0">
                <a:solidFill>
                  <a:srgbClr val="002B57"/>
                </a:solidFill>
                <a:latin typeface="Inter"/>
                <a:ea typeface="Inter"/>
                <a:cs typeface="Inter"/>
              </a:defRPr>
            </a:lvl9pPr>
          </a:lstStyle>
          <a:p xmlns:a="http://schemas.openxmlformats.org/drawingml/2006/main">
            <a:pPr>
              <a:defRPr sz="2175" b="0">
                <a:solidFill>
                  <a:srgbClr val="002B57"/>
                </a:solidFill>
                <a:latin typeface="Inter"/>
                <a:ea typeface="Inter"/>
                <a:cs typeface="Inter"/>
              </a:defRPr>
            </a:pPr>
            <a:r>
              <a:rPr sz="2175" b="0">
                <a:solidFill>
                  <a:srgbClr val="002B57"/>
                </a:solidFill>
                <a:latin typeface="Inter"/>
                <a:ea typeface="Inter"/>
                <a:cs typeface="Inter"/>
              </a:rPr>
              <a:t>Different nodes, workloads and area bases prevent a direct performance ranking.</a:t>
            </a:r>
          </a:p>
        </p:txBody>
      </p:sp>
      <p:sp>
        <p:nvSpPr>
          <p:cNvPr id="8" name="">
            <a:extLst xmlns:a="http://schemas.openxmlformats.org/drawingml/2006/main">
              <a:ext uri="{FF2B5EF4-FFF2-40B4-BE49-F238E27FC236}">
                <a16:creationId xmlns:a16="http://schemas.microsoft.com/office/drawing/2014/main" id="{3F8903FD-5844-44EE-A600-C4752D2B3AA8}"/>
              </a:ext>
            </a:extLst>
          </p:cNvPr>
          <p:cNvSpPr>
            <a:spLocks xmlns:a="http://schemas.openxmlformats.org/drawingml/2006/main" noGrp="1"/>
          </p:cNvSpPr>
          <p:nvPr/>
        </p:nvSpPr>
        <p:spPr>
          <a:xfrm xmlns:a="http://schemas.openxmlformats.org/drawingml/2006/main">
            <a:off x="1809750" y="9572625"/>
            <a:ext cx="1428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725" b="0">
                <a:solidFill>
                  <a:srgbClr val="566675"/>
                </a:solidFill>
                <a:latin typeface="Inter"/>
                <a:ea typeface="Inter"/>
                <a:cs typeface="Inter"/>
              </a:defRPr>
            </a:defPPr>
            <a:lvl1pPr>
              <a:defRPr sz="1725" b="0">
                <a:solidFill>
                  <a:srgbClr val="566675"/>
                </a:solidFill>
                <a:latin typeface="Inter"/>
                <a:ea typeface="Inter"/>
                <a:cs typeface="Inter"/>
              </a:defRPr>
            </a:lvl1pPr>
            <a:lvl2pPr>
              <a:defRPr sz="1725" b="0">
                <a:solidFill>
                  <a:srgbClr val="566675"/>
                </a:solidFill>
                <a:latin typeface="Inter"/>
                <a:ea typeface="Inter"/>
                <a:cs typeface="Inter"/>
              </a:defRPr>
            </a:lvl2pPr>
            <a:lvl3pPr>
              <a:defRPr sz="1725" b="0">
                <a:solidFill>
                  <a:srgbClr val="566675"/>
                </a:solidFill>
                <a:latin typeface="Inter"/>
                <a:ea typeface="Inter"/>
                <a:cs typeface="Inter"/>
              </a:defRPr>
            </a:lvl3pPr>
            <a:lvl4pPr>
              <a:defRPr sz="1725" b="0">
                <a:solidFill>
                  <a:srgbClr val="566675"/>
                </a:solidFill>
                <a:latin typeface="Inter"/>
                <a:ea typeface="Inter"/>
                <a:cs typeface="Inter"/>
              </a:defRPr>
            </a:lvl4pPr>
            <a:lvl5pPr>
              <a:defRPr sz="1725" b="0">
                <a:solidFill>
                  <a:srgbClr val="566675"/>
                </a:solidFill>
                <a:latin typeface="Inter"/>
                <a:ea typeface="Inter"/>
                <a:cs typeface="Inter"/>
              </a:defRPr>
            </a:lvl5pPr>
            <a:lvl6pPr>
              <a:defRPr sz="1725" b="0">
                <a:solidFill>
                  <a:srgbClr val="566675"/>
                </a:solidFill>
                <a:latin typeface="Inter"/>
                <a:ea typeface="Inter"/>
                <a:cs typeface="Inter"/>
              </a:defRPr>
            </a:lvl6pPr>
            <a:lvl7pPr>
              <a:defRPr sz="1725" b="0">
                <a:solidFill>
                  <a:srgbClr val="566675"/>
                </a:solidFill>
                <a:latin typeface="Inter"/>
                <a:ea typeface="Inter"/>
                <a:cs typeface="Inter"/>
              </a:defRPr>
            </a:lvl7pPr>
            <a:lvl8pPr>
              <a:defRPr sz="1725" b="0">
                <a:solidFill>
                  <a:srgbClr val="566675"/>
                </a:solidFill>
                <a:latin typeface="Inter"/>
                <a:ea typeface="Inter"/>
                <a:cs typeface="Inter"/>
              </a:defRPr>
            </a:lvl8pPr>
            <a:lvl9pPr>
              <a:defRPr sz="1725" b="0">
                <a:solidFill>
                  <a:srgbClr val="566675"/>
                </a:solidFill>
                <a:latin typeface="Inter"/>
                <a:ea typeface="Inter"/>
                <a:cs typeface="Inter"/>
              </a:defRPr>
            </a:lvl9pPr>
          </a:lstStyle>
          <a:p xmlns:a="http://schemas.openxmlformats.org/drawingml/2006/main">
            <a:pPr>
              <a:defRPr sz="1725" b="0">
                <a:solidFill>
                  <a:srgbClr val="566675"/>
                </a:solidFill>
                <a:latin typeface="Inter"/>
                <a:ea typeface="Inter"/>
                <a:cs typeface="Inter"/>
              </a:defRPr>
            </a:pPr>
            <a:r>
              <a:rPr sz="1725" b="0">
                <a:solidFill>
                  <a:srgbClr val="566675"/>
                </a:solidFill>
                <a:latin typeface="Inter"/>
                <a:ea typeface="Inter"/>
                <a:cs typeface="Inter"/>
              </a:rPr>
              <a:t>*Core area. **Estimated power. GOPS = billion operations/s. Prior image latencies are not given in Table V.</a:t>
            </a:r>
          </a:p>
        </p:txBody>
      </p:sp>
      <p:sp>
        <p:nvSpPr>
          <p:cNvPr id="9" name="">
            <a:extLst xmlns:a="http://schemas.openxmlformats.org/drawingml/2006/main">
              <a:ext uri="{FF2B5EF4-FFF2-40B4-BE49-F238E27FC236}">
                <a16:creationId xmlns:a16="http://schemas.microsoft.com/office/drawing/2014/main" id="{7B308946-6CA9-4E0C-82EE-8AC0CE60B6EF}"/>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21</a:t>
            </a:r>
          </a:p>
        </p:txBody>
      </p:sp>
    </p:spTree>
    <p:extLst>
      <p:ext uri="{BB962C8B-B14F-4D97-AF65-F5344CB8AC3E}">
        <p14:creationId xmlns:p14="http://schemas.microsoft.com/office/powerpoint/2010/main" val="154956549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2B70638-5389-440A-A2F8-A873AAA71C18}"/>
              </a:ext>
            </a:extLst>
          </p:cNvPr>
          <p:cNvPicPr>
            <a:picLocks xmlns:a="http://schemas.openxmlformats.org/drawingml/2006/main" noChangeAspect="1"/>
          </p:cNvPicPr>
          <p:nvPr/>
        </p:nvPicPr>
        <p:blipFill>
          <a:blip xmlns:r="http://schemas.openxmlformats.org/officeDocument/2006/relationships" xmlns:a="http://schemas.openxmlformats.org/drawingml/2006/main" r:embed="R6dda5ec2c5c945e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7108FE-7FEA-4109-BE16-3787FA9BE71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V. CONCLUSION</a:t>
            </a:r>
          </a:p>
        </p:txBody>
      </p:sp>
      <p:sp>
        <p:nvSpPr>
          <p:cNvPr id="3" name="">
            <a:extLst xmlns:a="http://schemas.openxmlformats.org/drawingml/2006/main">
              <a:ext uri="{FF2B5EF4-FFF2-40B4-BE49-F238E27FC236}">
                <a16:creationId xmlns:a16="http://schemas.microsoft.com/office/drawing/2014/main" id="{20BC015C-E928-4100-BB34-90C97511563E}"/>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556E899F-FB7E-4FA0-AA07-A5A4D69A2797}"/>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Smaller result storage makes this accelerator smaller</a:t>
            </a:r>
          </a:p>
        </p:txBody>
      </p:sp>
      <p:sp>
        <p:nvSpPr>
          <p:cNvPr id="5" name="">
            <a:extLst xmlns:a="http://schemas.openxmlformats.org/drawingml/2006/main">
              <a:ext uri="{FF2B5EF4-FFF2-40B4-BE49-F238E27FC236}">
                <a16:creationId xmlns:a16="http://schemas.microsoft.com/office/drawing/2014/main" id="{DE52B770-1F79-4156-8AFD-2E1A6FAB69A7}"/>
              </a:ext>
            </a:extLst>
          </p:cNvPr>
          <p:cNvSpPr>
            <a:spLocks xmlns:a="http://schemas.openxmlformats.org/drawingml/2006/main" noGrp="1"/>
          </p:cNvSpPr>
          <p:nvPr/>
        </p:nvSpPr>
        <p:spPr>
          <a:xfrm xmlns:a="http://schemas.openxmlformats.org/drawingml/2006/main">
            <a:off x="1809750" y="3857625"/>
            <a:ext cx="1428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7275" b="1">
                <a:solidFill>
                  <a:srgbClr val="F25903"/>
                </a:solidFill>
                <a:latin typeface="Inter Bold"/>
                <a:ea typeface="Inter Bold"/>
                <a:cs typeface="Inter Bold"/>
              </a:defRPr>
            </a:defPPr>
            <a:lvl1pPr>
              <a:defRPr sz="7275" b="1">
                <a:solidFill>
                  <a:srgbClr val="F25903"/>
                </a:solidFill>
                <a:latin typeface="Inter Bold"/>
                <a:ea typeface="Inter Bold"/>
                <a:cs typeface="Inter Bold"/>
              </a:defRPr>
            </a:lvl1pPr>
            <a:lvl2pPr>
              <a:defRPr sz="7275" b="1">
                <a:solidFill>
                  <a:srgbClr val="F25903"/>
                </a:solidFill>
                <a:latin typeface="Inter Bold"/>
                <a:ea typeface="Inter Bold"/>
                <a:cs typeface="Inter Bold"/>
              </a:defRPr>
            </a:lvl2pPr>
            <a:lvl3pPr>
              <a:defRPr sz="7275" b="1">
                <a:solidFill>
                  <a:srgbClr val="F25903"/>
                </a:solidFill>
                <a:latin typeface="Inter Bold"/>
                <a:ea typeface="Inter Bold"/>
                <a:cs typeface="Inter Bold"/>
              </a:defRPr>
            </a:lvl3pPr>
            <a:lvl4pPr>
              <a:defRPr sz="7275" b="1">
                <a:solidFill>
                  <a:srgbClr val="F25903"/>
                </a:solidFill>
                <a:latin typeface="Inter Bold"/>
                <a:ea typeface="Inter Bold"/>
                <a:cs typeface="Inter Bold"/>
              </a:defRPr>
            </a:lvl4pPr>
            <a:lvl5pPr>
              <a:defRPr sz="7275" b="1">
                <a:solidFill>
                  <a:srgbClr val="F25903"/>
                </a:solidFill>
                <a:latin typeface="Inter Bold"/>
                <a:ea typeface="Inter Bold"/>
                <a:cs typeface="Inter Bold"/>
              </a:defRPr>
            </a:lvl5pPr>
            <a:lvl6pPr>
              <a:defRPr sz="7275" b="1">
                <a:solidFill>
                  <a:srgbClr val="F25903"/>
                </a:solidFill>
                <a:latin typeface="Inter Bold"/>
                <a:ea typeface="Inter Bold"/>
                <a:cs typeface="Inter Bold"/>
              </a:defRPr>
            </a:lvl6pPr>
            <a:lvl7pPr>
              <a:defRPr sz="7275" b="1">
                <a:solidFill>
                  <a:srgbClr val="F25903"/>
                </a:solidFill>
                <a:latin typeface="Inter Bold"/>
                <a:ea typeface="Inter Bold"/>
                <a:cs typeface="Inter Bold"/>
              </a:defRPr>
            </a:lvl7pPr>
            <a:lvl8pPr>
              <a:defRPr sz="7275" b="1">
                <a:solidFill>
                  <a:srgbClr val="F25903"/>
                </a:solidFill>
                <a:latin typeface="Inter Bold"/>
                <a:ea typeface="Inter Bold"/>
                <a:cs typeface="Inter Bold"/>
              </a:defRPr>
            </a:lvl8pPr>
            <a:lvl9pPr>
              <a:defRPr sz="7275" b="1">
                <a:solidFill>
                  <a:srgbClr val="F25903"/>
                </a:solidFill>
                <a:latin typeface="Inter Bold"/>
                <a:ea typeface="Inter Bold"/>
                <a:cs typeface="Inter Bold"/>
              </a:defRPr>
            </a:lvl9pPr>
          </a:lstStyle>
          <a:p xmlns:a="http://schemas.openxmlformats.org/drawingml/2006/main">
            <a:pPr>
              <a:defRPr sz="7275" b="1">
                <a:solidFill>
                  <a:srgbClr val="F25903"/>
                </a:solidFill>
                <a:latin typeface="Inter Bold"/>
                <a:ea typeface="Inter Bold"/>
                <a:cs typeface="Inter Bold"/>
              </a:defRPr>
            </a:pPr>
            <a:r>
              <a:rPr sz="7275" b="1">
                <a:solidFill>
                  <a:srgbClr val="F25903"/>
                </a:solidFill>
                <a:latin typeface="Inter Bold"/>
                <a:ea typeface="Inter Bold"/>
                <a:cs typeface="Inter Bold"/>
              </a:rPr>
              <a:t>24% less chip area</a:t>
            </a:r>
          </a:p>
        </p:txBody>
      </p:sp>
      <p:sp>
        <p:nvSpPr>
          <p:cNvPr id="6" name="">
            <a:extLst xmlns:a="http://schemas.openxmlformats.org/drawingml/2006/main">
              <a:ext uri="{FF2B5EF4-FFF2-40B4-BE49-F238E27FC236}">
                <a16:creationId xmlns:a16="http://schemas.microsoft.com/office/drawing/2014/main" id="{C5FA85B4-B83B-4C93-B929-DE9CFD958184}"/>
              </a:ext>
            </a:extLst>
          </p:cNvPr>
          <p:cNvSpPr>
            <a:spLocks xmlns:a="http://schemas.openxmlformats.org/drawingml/2006/main" noGrp="1"/>
          </p:cNvSpPr>
          <p:nvPr/>
        </p:nvSpPr>
        <p:spPr>
          <a:xfrm xmlns:a="http://schemas.openxmlformats.org/drawingml/2006/main">
            <a:off x="1809750" y="5762625"/>
            <a:ext cx="1428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225" b="1">
                <a:solidFill>
                  <a:srgbClr val="0E749A"/>
                </a:solidFill>
                <a:latin typeface="Inter Bold"/>
                <a:ea typeface="Inter Bold"/>
                <a:cs typeface="Inter Bold"/>
              </a:defRPr>
            </a:defPPr>
            <a:lvl1pPr>
              <a:defRPr sz="3225" b="1">
                <a:solidFill>
                  <a:srgbClr val="0E749A"/>
                </a:solidFill>
                <a:latin typeface="Inter Bold"/>
                <a:ea typeface="Inter Bold"/>
                <a:cs typeface="Inter Bold"/>
              </a:defRPr>
            </a:lvl1pPr>
            <a:lvl2pPr>
              <a:defRPr sz="3225" b="1">
                <a:solidFill>
                  <a:srgbClr val="0E749A"/>
                </a:solidFill>
                <a:latin typeface="Inter Bold"/>
                <a:ea typeface="Inter Bold"/>
                <a:cs typeface="Inter Bold"/>
              </a:defRPr>
            </a:lvl2pPr>
            <a:lvl3pPr>
              <a:defRPr sz="3225" b="1">
                <a:solidFill>
                  <a:srgbClr val="0E749A"/>
                </a:solidFill>
                <a:latin typeface="Inter Bold"/>
                <a:ea typeface="Inter Bold"/>
                <a:cs typeface="Inter Bold"/>
              </a:defRPr>
            </a:lvl3pPr>
            <a:lvl4pPr>
              <a:defRPr sz="3225" b="1">
                <a:solidFill>
                  <a:srgbClr val="0E749A"/>
                </a:solidFill>
                <a:latin typeface="Inter Bold"/>
                <a:ea typeface="Inter Bold"/>
                <a:cs typeface="Inter Bold"/>
              </a:defRPr>
            </a:lvl4pPr>
            <a:lvl5pPr>
              <a:defRPr sz="3225" b="1">
                <a:solidFill>
                  <a:srgbClr val="0E749A"/>
                </a:solidFill>
                <a:latin typeface="Inter Bold"/>
                <a:ea typeface="Inter Bold"/>
                <a:cs typeface="Inter Bold"/>
              </a:defRPr>
            </a:lvl5pPr>
            <a:lvl6pPr>
              <a:defRPr sz="3225" b="1">
                <a:solidFill>
                  <a:srgbClr val="0E749A"/>
                </a:solidFill>
                <a:latin typeface="Inter Bold"/>
                <a:ea typeface="Inter Bold"/>
                <a:cs typeface="Inter Bold"/>
              </a:defRPr>
            </a:lvl6pPr>
            <a:lvl7pPr>
              <a:defRPr sz="3225" b="1">
                <a:solidFill>
                  <a:srgbClr val="0E749A"/>
                </a:solidFill>
                <a:latin typeface="Inter Bold"/>
                <a:ea typeface="Inter Bold"/>
                <a:cs typeface="Inter Bold"/>
              </a:defRPr>
            </a:lvl7pPr>
            <a:lvl8pPr>
              <a:defRPr sz="3225" b="1">
                <a:solidFill>
                  <a:srgbClr val="0E749A"/>
                </a:solidFill>
                <a:latin typeface="Inter Bold"/>
                <a:ea typeface="Inter Bold"/>
                <a:cs typeface="Inter Bold"/>
              </a:defRPr>
            </a:lvl8pPr>
            <a:lvl9pPr>
              <a:defRPr sz="3225" b="1">
                <a:solidFill>
                  <a:srgbClr val="0E749A"/>
                </a:solidFill>
                <a:latin typeface="Inter Bold"/>
                <a:ea typeface="Inter Bold"/>
                <a:cs typeface="Inter Bold"/>
              </a:defRPr>
            </a:lvl9pPr>
          </a:lstStyle>
          <a:p xmlns:a="http://schemas.openxmlformats.org/drawingml/2006/main">
            <a:pPr>
              <a:defRPr sz="3225" b="1">
                <a:solidFill>
                  <a:srgbClr val="0E749A"/>
                </a:solidFill>
                <a:latin typeface="Inter Bold"/>
                <a:ea typeface="Inter Bold"/>
                <a:cs typeface="Inter Bold"/>
              </a:defRPr>
            </a:pPr>
            <a:r>
              <a:rPr sz="3225" b="1">
                <a:solidFill>
                  <a:srgbClr val="0E749A"/>
                </a:solidFill>
                <a:latin typeface="Inter Bold"/>
                <a:ea typeface="Inter Bold"/>
                <a:cs typeface="Inter Bold"/>
              </a:rPr>
              <a:t>How: replace 3 oversized result memories with 1 smaller memory.</a:t>
            </a:r>
          </a:p>
        </p:txBody>
      </p:sp>
      <p:sp>
        <p:nvSpPr>
          <p:cNvPr id="7" name="">
            <a:extLst xmlns:a="http://schemas.openxmlformats.org/drawingml/2006/main">
              <a:ext uri="{FF2B5EF4-FFF2-40B4-BE49-F238E27FC236}">
                <a16:creationId xmlns:a16="http://schemas.microsoft.com/office/drawing/2014/main" id="{3E8035F0-5DD2-4C4F-B244-388DF678208E}"/>
              </a:ext>
            </a:extLst>
          </p:cNvPr>
          <p:cNvSpPr>
            <a:spLocks xmlns:a="http://schemas.openxmlformats.org/drawingml/2006/main" noGrp="1"/>
          </p:cNvSpPr>
          <p:nvPr/>
        </p:nvSpPr>
        <p:spPr>
          <a:xfrm xmlns:a="http://schemas.openxmlformats.org/drawingml/2006/main">
            <a:off x="1809750" y="7000875"/>
            <a:ext cx="1428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0">
                <a:solidFill>
                  <a:srgbClr val="002B57"/>
                </a:solidFill>
                <a:latin typeface="Inter"/>
                <a:ea typeface="Inter"/>
                <a:cs typeface="Inter"/>
              </a:defRPr>
            </a:defPPr>
            <a:lvl1pPr>
              <a:defRPr sz="3000" b="0">
                <a:solidFill>
                  <a:srgbClr val="002B57"/>
                </a:solidFill>
                <a:latin typeface="Inter"/>
                <a:ea typeface="Inter"/>
                <a:cs typeface="Inter"/>
              </a:defRPr>
            </a:lvl1pPr>
            <a:lvl2pPr>
              <a:defRPr sz="3000" b="0">
                <a:solidFill>
                  <a:srgbClr val="002B57"/>
                </a:solidFill>
                <a:latin typeface="Inter"/>
                <a:ea typeface="Inter"/>
                <a:cs typeface="Inter"/>
              </a:defRPr>
            </a:lvl2pPr>
            <a:lvl3pPr>
              <a:defRPr sz="3000" b="0">
                <a:solidFill>
                  <a:srgbClr val="002B57"/>
                </a:solidFill>
                <a:latin typeface="Inter"/>
                <a:ea typeface="Inter"/>
                <a:cs typeface="Inter"/>
              </a:defRPr>
            </a:lvl3pPr>
            <a:lvl4pPr>
              <a:defRPr sz="3000" b="0">
                <a:solidFill>
                  <a:srgbClr val="002B57"/>
                </a:solidFill>
                <a:latin typeface="Inter"/>
                <a:ea typeface="Inter"/>
                <a:cs typeface="Inter"/>
              </a:defRPr>
            </a:lvl4pPr>
            <a:lvl5pPr>
              <a:defRPr sz="3000" b="0">
                <a:solidFill>
                  <a:srgbClr val="002B57"/>
                </a:solidFill>
                <a:latin typeface="Inter"/>
                <a:ea typeface="Inter"/>
                <a:cs typeface="Inter"/>
              </a:defRPr>
            </a:lvl5pPr>
            <a:lvl6pPr>
              <a:defRPr sz="3000" b="0">
                <a:solidFill>
                  <a:srgbClr val="002B57"/>
                </a:solidFill>
                <a:latin typeface="Inter"/>
                <a:ea typeface="Inter"/>
                <a:cs typeface="Inter"/>
              </a:defRPr>
            </a:lvl6pPr>
            <a:lvl7pPr>
              <a:defRPr sz="3000" b="0">
                <a:solidFill>
                  <a:srgbClr val="002B57"/>
                </a:solidFill>
                <a:latin typeface="Inter"/>
                <a:ea typeface="Inter"/>
                <a:cs typeface="Inter"/>
              </a:defRPr>
            </a:lvl7pPr>
            <a:lvl8pPr>
              <a:defRPr sz="3000" b="0">
                <a:solidFill>
                  <a:srgbClr val="002B57"/>
                </a:solidFill>
                <a:latin typeface="Inter"/>
                <a:ea typeface="Inter"/>
                <a:cs typeface="Inter"/>
              </a:defRPr>
            </a:lvl8pPr>
            <a:lvl9pPr>
              <a:defRPr sz="3000" b="0">
                <a:solidFill>
                  <a:srgbClr val="002B57"/>
                </a:solidFill>
                <a:latin typeface="Inter"/>
                <a:ea typeface="Inter"/>
                <a:cs typeface="Inter"/>
              </a:defRPr>
            </a:lvl9pPr>
          </a:lstStyle>
          <a:p xmlns:a="http://schemas.openxmlformats.org/drawingml/2006/main">
            <a:pPr>
              <a:defRPr sz="3000" b="0">
                <a:solidFill>
                  <a:srgbClr val="002B57"/>
                </a:solidFill>
                <a:latin typeface="Inter"/>
                <a:ea typeface="Inter"/>
                <a:cs typeface="Inter"/>
              </a:defRPr>
            </a:pPr>
            <a:r>
              <a:rPr sz="3000" b="0">
                <a:solidFill>
                  <a:srgbClr val="002B57"/>
                </a:solidFill>
                <a:latin typeface="Inter"/>
                <a:ea typeface="Inter"/>
                <a:cs typeface="Inter"/>
              </a:rPr>
              <a:t>Cost: 11.7% longer on-chip time, about 0.04% longer total image time.</a:t>
            </a:r>
          </a:p>
        </p:txBody>
      </p:sp>
      <p:sp>
        <p:nvSpPr>
          <p:cNvPr id="8" name="">
            <a:extLst xmlns:a="http://schemas.openxmlformats.org/drawingml/2006/main">
              <a:ext uri="{FF2B5EF4-FFF2-40B4-BE49-F238E27FC236}">
                <a16:creationId xmlns:a16="http://schemas.microsoft.com/office/drawing/2014/main" id="{441D7A6B-57C5-41BA-B19F-281106A5CFA4}"/>
              </a:ext>
            </a:extLst>
          </p:cNvPr>
          <p:cNvSpPr>
            <a:spLocks xmlns:a="http://schemas.openxmlformats.org/drawingml/2006/main" noGrp="1"/>
          </p:cNvSpPr>
          <p:nvPr/>
        </p:nvSpPr>
        <p:spPr>
          <a:xfrm xmlns:a="http://schemas.openxmlformats.org/drawingml/2006/main">
            <a:off x="1809750" y="8191500"/>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0">
                <a:solidFill>
                  <a:srgbClr val="002B57"/>
                </a:solidFill>
                <a:latin typeface="Inter"/>
                <a:ea typeface="Inter"/>
                <a:cs typeface="Inter"/>
              </a:defRPr>
            </a:defPPr>
            <a:lvl1pPr>
              <a:defRPr sz="2700" b="0">
                <a:solidFill>
                  <a:srgbClr val="002B57"/>
                </a:solidFill>
                <a:latin typeface="Inter"/>
                <a:ea typeface="Inter"/>
                <a:cs typeface="Inter"/>
              </a:defRPr>
            </a:lvl1pPr>
            <a:lvl2pPr>
              <a:defRPr sz="2700" b="0">
                <a:solidFill>
                  <a:srgbClr val="002B57"/>
                </a:solidFill>
                <a:latin typeface="Inter"/>
                <a:ea typeface="Inter"/>
                <a:cs typeface="Inter"/>
              </a:defRPr>
            </a:lvl2pPr>
            <a:lvl3pPr>
              <a:defRPr sz="2700" b="0">
                <a:solidFill>
                  <a:srgbClr val="002B57"/>
                </a:solidFill>
                <a:latin typeface="Inter"/>
                <a:ea typeface="Inter"/>
                <a:cs typeface="Inter"/>
              </a:defRPr>
            </a:lvl3pPr>
            <a:lvl4pPr>
              <a:defRPr sz="2700" b="0">
                <a:solidFill>
                  <a:srgbClr val="002B57"/>
                </a:solidFill>
                <a:latin typeface="Inter"/>
                <a:ea typeface="Inter"/>
                <a:cs typeface="Inter"/>
              </a:defRPr>
            </a:lvl4pPr>
            <a:lvl5pPr>
              <a:defRPr sz="2700" b="0">
                <a:solidFill>
                  <a:srgbClr val="002B57"/>
                </a:solidFill>
                <a:latin typeface="Inter"/>
                <a:ea typeface="Inter"/>
                <a:cs typeface="Inter"/>
              </a:defRPr>
            </a:lvl5pPr>
            <a:lvl6pPr>
              <a:defRPr sz="2700" b="0">
                <a:solidFill>
                  <a:srgbClr val="002B57"/>
                </a:solidFill>
                <a:latin typeface="Inter"/>
                <a:ea typeface="Inter"/>
                <a:cs typeface="Inter"/>
              </a:defRPr>
            </a:lvl6pPr>
            <a:lvl7pPr>
              <a:defRPr sz="2700" b="0">
                <a:solidFill>
                  <a:srgbClr val="002B57"/>
                </a:solidFill>
                <a:latin typeface="Inter"/>
                <a:ea typeface="Inter"/>
                <a:cs typeface="Inter"/>
              </a:defRPr>
            </a:lvl7pPr>
            <a:lvl8pPr>
              <a:defRPr sz="2700" b="0">
                <a:solidFill>
                  <a:srgbClr val="002B57"/>
                </a:solidFill>
                <a:latin typeface="Inter"/>
                <a:ea typeface="Inter"/>
                <a:cs typeface="Inter"/>
              </a:defRPr>
            </a:lvl8pPr>
            <a:lvl9pPr>
              <a:defRPr sz="2700" b="0">
                <a:solidFill>
                  <a:srgbClr val="002B57"/>
                </a:solidFill>
                <a:latin typeface="Inter"/>
                <a:ea typeface="Inter"/>
                <a:cs typeface="Inter"/>
              </a:defRPr>
            </a:lvl9pPr>
          </a:lstStyle>
          <a:p xmlns:a="http://schemas.openxmlformats.org/drawingml/2006/main">
            <a:pPr>
              <a:defRPr sz="2700" b="0">
                <a:solidFill>
                  <a:srgbClr val="002B57"/>
                </a:solidFill>
                <a:latin typeface="Inter"/>
                <a:ea typeface="Inter"/>
                <a:cs typeface="Inter"/>
              </a:defRPr>
            </a:pPr>
            <a:r>
              <a:rPr sz="2700" b="0">
                <a:solidFill>
                  <a:srgbClr val="002B57"/>
                </a:solidFill>
                <a:latin typeface="Inter"/>
                <a:ea typeface="Inter"/>
                <a:cs typeface="Inter"/>
              </a:rPr>
              <a:t>Next: reuse weights across images, improve transfers, then validate silicon.</a:t>
            </a:r>
          </a:p>
        </p:txBody>
      </p:sp>
      <p:sp>
        <p:nvSpPr>
          <p:cNvPr id="9" name="">
            <a:extLst xmlns:a="http://schemas.openxmlformats.org/drawingml/2006/main">
              <a:ext uri="{FF2B5EF4-FFF2-40B4-BE49-F238E27FC236}">
                <a16:creationId xmlns:a16="http://schemas.microsoft.com/office/drawing/2014/main" id="{F4123AD4-B444-4BAD-9977-1E97B70998E1}"/>
              </a:ext>
            </a:extLst>
          </p:cNvPr>
          <p:cNvSpPr>
            <a:spLocks xmlns:a="http://schemas.openxmlformats.org/drawingml/2006/main" noGrp="1"/>
          </p:cNvSpPr>
          <p:nvPr/>
        </p:nvSpPr>
        <p:spPr>
          <a:xfrm xmlns:a="http://schemas.openxmlformats.org/drawingml/2006/main">
            <a:off x="1809750" y="9525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0E749A"/>
                </a:solidFill>
                <a:latin typeface="Inter Bold"/>
                <a:ea typeface="Inter Bold"/>
                <a:cs typeface="Inter Bold"/>
              </a:defRPr>
            </a:defPPr>
            <a:lvl1pPr>
              <a:defRPr sz="2250" b="1">
                <a:solidFill>
                  <a:srgbClr val="0E749A"/>
                </a:solidFill>
                <a:latin typeface="Inter Bold"/>
                <a:ea typeface="Inter Bold"/>
                <a:cs typeface="Inter Bold"/>
              </a:defRPr>
            </a:lvl1pPr>
            <a:lvl2pPr>
              <a:defRPr sz="2250" b="1">
                <a:solidFill>
                  <a:srgbClr val="0E749A"/>
                </a:solidFill>
                <a:latin typeface="Inter Bold"/>
                <a:ea typeface="Inter Bold"/>
                <a:cs typeface="Inter Bold"/>
              </a:defRPr>
            </a:lvl2pPr>
            <a:lvl3pPr>
              <a:defRPr sz="2250" b="1">
                <a:solidFill>
                  <a:srgbClr val="0E749A"/>
                </a:solidFill>
                <a:latin typeface="Inter Bold"/>
                <a:ea typeface="Inter Bold"/>
                <a:cs typeface="Inter Bold"/>
              </a:defRPr>
            </a:lvl3pPr>
            <a:lvl4pPr>
              <a:defRPr sz="2250" b="1">
                <a:solidFill>
                  <a:srgbClr val="0E749A"/>
                </a:solidFill>
                <a:latin typeface="Inter Bold"/>
                <a:ea typeface="Inter Bold"/>
                <a:cs typeface="Inter Bold"/>
              </a:defRPr>
            </a:lvl4pPr>
            <a:lvl5pPr>
              <a:defRPr sz="2250" b="1">
                <a:solidFill>
                  <a:srgbClr val="0E749A"/>
                </a:solidFill>
                <a:latin typeface="Inter Bold"/>
                <a:ea typeface="Inter Bold"/>
                <a:cs typeface="Inter Bold"/>
              </a:defRPr>
            </a:lvl5pPr>
            <a:lvl6pPr>
              <a:defRPr sz="2250" b="1">
                <a:solidFill>
                  <a:srgbClr val="0E749A"/>
                </a:solidFill>
                <a:latin typeface="Inter Bold"/>
                <a:ea typeface="Inter Bold"/>
                <a:cs typeface="Inter Bold"/>
              </a:defRPr>
            </a:lvl6pPr>
            <a:lvl7pPr>
              <a:defRPr sz="2250" b="1">
                <a:solidFill>
                  <a:srgbClr val="0E749A"/>
                </a:solidFill>
                <a:latin typeface="Inter Bold"/>
                <a:ea typeface="Inter Bold"/>
                <a:cs typeface="Inter Bold"/>
              </a:defRPr>
            </a:lvl7pPr>
            <a:lvl8pPr>
              <a:defRPr sz="2250" b="1">
                <a:solidFill>
                  <a:srgbClr val="0E749A"/>
                </a:solidFill>
                <a:latin typeface="Inter Bold"/>
                <a:ea typeface="Inter Bold"/>
                <a:cs typeface="Inter Bold"/>
              </a:defRPr>
            </a:lvl8pPr>
            <a:lvl9pPr>
              <a:defRPr sz="2250" b="1">
                <a:solidFill>
                  <a:srgbClr val="0E749A"/>
                </a:solidFill>
                <a:latin typeface="Inter Bold"/>
                <a:ea typeface="Inter Bold"/>
                <a:cs typeface="Inter Bold"/>
              </a:defRPr>
            </a:lvl9pPr>
          </a:lstStyle>
          <a:p xmlns:a="http://schemas.openxmlformats.org/drawingml/2006/main">
            <a:pPr>
              <a:defRPr sz="2250" b="1">
                <a:solidFill>
                  <a:srgbClr val="0E749A"/>
                </a:solidFill>
                <a:latin typeface="Inter Bold"/>
                <a:ea typeface="Inter Bold"/>
                <a:cs typeface="Inter Bold"/>
              </a:defRPr>
            </a:pPr>
            <a:r>
              <a:rPr sz="2250" b="1">
                <a:solidFill>
                  <a:srgbClr val="0E749A"/>
                </a:solidFill>
                <a:latin typeface="Inter Bold"/>
                <a:ea typeface="Inter Bold"/>
                <a:cs typeface="Inter Bold"/>
              </a:rPr>
              <a:t>Thank you</a:t>
            </a:r>
          </a:p>
        </p:txBody>
      </p:sp>
      <p:sp>
        <p:nvSpPr>
          <p:cNvPr id="10" name="">
            <a:extLst xmlns:a="http://schemas.openxmlformats.org/drawingml/2006/main">
              <a:ext uri="{FF2B5EF4-FFF2-40B4-BE49-F238E27FC236}">
                <a16:creationId xmlns:a16="http://schemas.microsoft.com/office/drawing/2014/main" id="{46CE4000-F38B-4825-A40A-1DAA305A7F1B}"/>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22</a:t>
            </a:r>
          </a:p>
        </p:txBody>
      </p:sp>
    </p:spTree>
    <p:extLst>
      <p:ext uri="{BB962C8B-B14F-4D97-AF65-F5344CB8AC3E}">
        <p14:creationId xmlns:p14="http://schemas.microsoft.com/office/powerpoint/2010/main" val="214139972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34CDE33-FB30-4679-AF27-6ECB21A3BECB}"/>
              </a:ext>
            </a:extLst>
          </p:cNvPr>
          <p:cNvPicPr>
            <a:picLocks xmlns:a="http://schemas.openxmlformats.org/drawingml/2006/main" noChangeAspect="1"/>
          </p:cNvPicPr>
          <p:nvPr/>
        </p:nvPicPr>
        <p:blipFill>
          <a:blip xmlns:r="http://schemas.openxmlformats.org/officeDocument/2006/relationships" xmlns:a="http://schemas.openxmlformats.org/drawingml/2006/main" r:embed="R3712f8db668240f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8B141F-0A9C-4C8C-BA45-0E43548F8DC8}"/>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a:t>
            </a:r>
          </a:p>
        </p:txBody>
      </p:sp>
      <p:sp>
        <p:nvSpPr>
          <p:cNvPr id="3" name="">
            <a:extLst xmlns:a="http://schemas.openxmlformats.org/drawingml/2006/main">
              <a:ext uri="{FF2B5EF4-FFF2-40B4-BE49-F238E27FC236}">
                <a16:creationId xmlns:a16="http://schemas.microsoft.com/office/drawing/2014/main" id="{0687DD0C-868A-4602-8A8D-EC857F1278B3}"/>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2F94EAEC-7FEB-4A69-834B-9E6907B61D5B}"/>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Appendix: questions and technical evidence</a:t>
            </a:r>
          </a:p>
        </p:txBody>
      </p:sp>
      <p:sp>
        <p:nvSpPr>
          <p:cNvPr id="5" name="">
            <a:extLst xmlns:a="http://schemas.openxmlformats.org/drawingml/2006/main">
              <a:ext uri="{FF2B5EF4-FFF2-40B4-BE49-F238E27FC236}">
                <a16:creationId xmlns:a16="http://schemas.microsoft.com/office/drawing/2014/main" id="{FF789455-9F00-4E4D-A1CF-2457D1B5F038}"/>
              </a:ext>
            </a:extLst>
          </p:cNvPr>
          <p:cNvSpPr>
            <a:spLocks xmlns:a="http://schemas.openxmlformats.org/drawingml/2006/main" noGrp="1"/>
          </p:cNvSpPr>
          <p:nvPr/>
        </p:nvSpPr>
        <p:spPr>
          <a:xfrm xmlns:a="http://schemas.openxmlformats.org/drawingml/2006/main">
            <a:off x="1809750" y="400050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A2  Why MNIST and GF180MCU?</a:t>
            </a:r>
          </a:p>
        </p:txBody>
      </p:sp>
      <p:sp>
        <p:nvSpPr>
          <p:cNvPr id="6" name="">
            <a:extLst xmlns:a="http://schemas.openxmlformats.org/drawingml/2006/main">
              <a:ext uri="{FF2B5EF4-FFF2-40B4-BE49-F238E27FC236}">
                <a16:creationId xmlns:a16="http://schemas.microsoft.com/office/drawing/2014/main" id="{96368F0B-A967-41AA-ACEE-86DDD66272FB}"/>
              </a:ext>
            </a:extLst>
          </p:cNvPr>
          <p:cNvSpPr>
            <a:spLocks xmlns:a="http://schemas.openxmlformats.org/drawingml/2006/main" noGrp="1"/>
          </p:cNvSpPr>
          <p:nvPr/>
        </p:nvSpPr>
        <p:spPr>
          <a:xfrm xmlns:a="http://schemas.openxmlformats.org/drawingml/2006/main">
            <a:off x="1809750" y="465772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A3  Host responsibilities and chip status</a:t>
            </a:r>
          </a:p>
        </p:txBody>
      </p:sp>
      <p:sp>
        <p:nvSpPr>
          <p:cNvPr id="7" name="">
            <a:extLst xmlns:a="http://schemas.openxmlformats.org/drawingml/2006/main">
              <a:ext uri="{FF2B5EF4-FFF2-40B4-BE49-F238E27FC236}">
                <a16:creationId xmlns:a16="http://schemas.microsoft.com/office/drawing/2014/main" id="{1F868E61-780A-41FD-9ABA-8628998794E2}"/>
              </a:ext>
            </a:extLst>
          </p:cNvPr>
          <p:cNvSpPr>
            <a:spLocks xmlns:a="http://schemas.openxmlformats.org/drawingml/2006/main" noGrp="1"/>
          </p:cNvSpPr>
          <p:nvPr/>
        </p:nvSpPr>
        <p:spPr>
          <a:xfrm xmlns:a="http://schemas.openxmlformats.org/drawingml/2006/main">
            <a:off x="1809750" y="531495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A4  Accumulator width and accuracy</a:t>
            </a:r>
          </a:p>
        </p:txBody>
      </p:sp>
      <p:sp>
        <p:nvSpPr>
          <p:cNvPr id="8" name="">
            <a:extLst xmlns:a="http://schemas.openxmlformats.org/drawingml/2006/main">
              <a:ext uri="{FF2B5EF4-FFF2-40B4-BE49-F238E27FC236}">
                <a16:creationId xmlns:a16="http://schemas.microsoft.com/office/drawing/2014/main" id="{8FBFF857-E042-4921-B6E5-CFCA1D8DAAE8}"/>
              </a:ext>
            </a:extLst>
          </p:cNvPr>
          <p:cNvSpPr>
            <a:spLocks xmlns:a="http://schemas.openxmlformats.org/drawingml/2006/main" noGrp="1"/>
          </p:cNvSpPr>
          <p:nvPr/>
        </p:nvSpPr>
        <p:spPr>
          <a:xfrm xmlns:a="http://schemas.openxmlformats.org/drawingml/2006/main">
            <a:off x="1809750" y="597217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A5  Memory folding and bandwidth</a:t>
            </a:r>
          </a:p>
        </p:txBody>
      </p:sp>
      <p:sp>
        <p:nvSpPr>
          <p:cNvPr id="9" name="">
            <a:extLst xmlns:a="http://schemas.openxmlformats.org/drawingml/2006/main">
              <a:ext uri="{FF2B5EF4-FFF2-40B4-BE49-F238E27FC236}">
                <a16:creationId xmlns:a16="http://schemas.microsoft.com/office/drawing/2014/main" id="{9B15426B-8AAF-46B6-9C8D-A2B1709C0281}"/>
              </a:ext>
            </a:extLst>
          </p:cNvPr>
          <p:cNvSpPr>
            <a:spLocks xmlns:a="http://schemas.openxmlformats.org/drawingml/2006/main" noGrp="1"/>
          </p:cNvSpPr>
          <p:nvPr/>
        </p:nvSpPr>
        <p:spPr>
          <a:xfrm xmlns:a="http://schemas.openxmlformats.org/drawingml/2006/main">
            <a:off x="1809750" y="662940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A6  Latency breakdown and utilization</a:t>
            </a:r>
          </a:p>
        </p:txBody>
      </p:sp>
      <p:sp>
        <p:nvSpPr>
          <p:cNvPr id="10" name="">
            <a:extLst xmlns:a="http://schemas.openxmlformats.org/drawingml/2006/main">
              <a:ext uri="{FF2B5EF4-FFF2-40B4-BE49-F238E27FC236}">
                <a16:creationId xmlns:a16="http://schemas.microsoft.com/office/drawing/2014/main" id="{C799684A-EE7C-4171-8F86-3A668A4EB964}"/>
              </a:ext>
            </a:extLst>
          </p:cNvPr>
          <p:cNvSpPr>
            <a:spLocks xmlns:a="http://schemas.openxmlformats.org/drawingml/2006/main" noGrp="1"/>
          </p:cNvSpPr>
          <p:nvPr/>
        </p:nvSpPr>
        <p:spPr>
          <a:xfrm xmlns:a="http://schemas.openxmlformats.org/drawingml/2006/main">
            <a:off x="1809750" y="728662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A7  Area, power and sign-off evidence</a:t>
            </a:r>
          </a:p>
        </p:txBody>
      </p:sp>
      <p:sp>
        <p:nvSpPr>
          <p:cNvPr id="11" name="">
            <a:extLst xmlns:a="http://schemas.openxmlformats.org/drawingml/2006/main">
              <a:ext uri="{FF2B5EF4-FFF2-40B4-BE49-F238E27FC236}">
                <a16:creationId xmlns:a16="http://schemas.microsoft.com/office/drawing/2014/main" id="{27BBD165-B32F-4792-AD02-73C2EEEB7E20}"/>
              </a:ext>
            </a:extLst>
          </p:cNvPr>
          <p:cNvSpPr>
            <a:spLocks xmlns:a="http://schemas.openxmlformats.org/drawingml/2006/main" noGrp="1"/>
          </p:cNvSpPr>
          <p:nvPr/>
        </p:nvSpPr>
        <p:spPr>
          <a:xfrm xmlns:a="http://schemas.openxmlformats.org/drawingml/2006/main">
            <a:off x="1809750" y="794385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A8  Serial interface and next steps</a:t>
            </a:r>
          </a:p>
        </p:txBody>
      </p:sp>
      <p:sp>
        <p:nvSpPr>
          <p:cNvPr id="12" name="">
            <a:extLst xmlns:a="http://schemas.openxmlformats.org/drawingml/2006/main">
              <a:ext uri="{FF2B5EF4-FFF2-40B4-BE49-F238E27FC236}">
                <a16:creationId xmlns:a16="http://schemas.microsoft.com/office/drawing/2014/main" id="{E0EBC21D-BED3-47DC-923B-1C34F43B6E9F}"/>
              </a:ext>
            </a:extLst>
          </p:cNvPr>
          <p:cNvSpPr>
            <a:spLocks xmlns:a="http://schemas.openxmlformats.org/drawingml/2006/main" noGrp="1"/>
          </p:cNvSpPr>
          <p:nvPr/>
        </p:nvSpPr>
        <p:spPr>
          <a:xfrm xmlns:a="http://schemas.openxmlformats.org/drawingml/2006/main">
            <a:off x="1809750" y="860107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A9  GAN background references</a:t>
            </a:r>
          </a:p>
        </p:txBody>
      </p:sp>
      <p:sp>
        <p:nvSpPr>
          <p:cNvPr id="13" name="">
            <a:extLst xmlns:a="http://schemas.openxmlformats.org/drawingml/2006/main">
              <a:ext uri="{FF2B5EF4-FFF2-40B4-BE49-F238E27FC236}">
                <a16:creationId xmlns:a16="http://schemas.microsoft.com/office/drawing/2014/main" id="{58C7EF49-674D-47F1-AC88-E90357C17AC2}"/>
              </a:ext>
            </a:extLst>
          </p:cNvPr>
          <p:cNvSpPr>
            <a:spLocks xmlns:a="http://schemas.openxmlformats.org/drawingml/2006/main" noGrp="1"/>
          </p:cNvSpPr>
          <p:nvPr/>
        </p:nvSpPr>
        <p:spPr>
          <a:xfrm xmlns:a="http://schemas.openxmlformats.org/drawingml/2006/main">
            <a:off x="9429750" y="400050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A10  All seven verification tests</a:t>
            </a:r>
          </a:p>
        </p:txBody>
      </p:sp>
      <p:sp>
        <p:nvSpPr>
          <p:cNvPr id="14" name="">
            <a:extLst xmlns:a="http://schemas.openxmlformats.org/drawingml/2006/main">
              <a:ext uri="{FF2B5EF4-FFF2-40B4-BE49-F238E27FC236}">
                <a16:creationId xmlns:a16="http://schemas.microsoft.com/office/drawing/2014/main" id="{F31B0F63-0369-426F-82A3-73605EBE481A}"/>
              </a:ext>
            </a:extLst>
          </p:cNvPr>
          <p:cNvSpPr>
            <a:spLocks xmlns:a="http://schemas.openxmlformats.org/drawingml/2006/main" noGrp="1"/>
          </p:cNvSpPr>
          <p:nvPr/>
        </p:nvSpPr>
        <p:spPr>
          <a:xfrm xmlns:a="http://schemas.openxmlformats.org/drawingml/2006/main">
            <a:off x="9429750" y="465772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A11  Read-latency bugs and contracts</a:t>
            </a:r>
          </a:p>
        </p:txBody>
      </p:sp>
      <p:sp>
        <p:nvSpPr>
          <p:cNvPr id="15" name="">
            <a:extLst xmlns:a="http://schemas.openxmlformats.org/drawingml/2006/main">
              <a:ext uri="{FF2B5EF4-FFF2-40B4-BE49-F238E27FC236}">
                <a16:creationId xmlns:a16="http://schemas.microsoft.com/office/drawing/2014/main" id="{CD188FD7-99DD-4275-9EAB-136261BE241D}"/>
              </a:ext>
            </a:extLst>
          </p:cNvPr>
          <p:cNvSpPr>
            <a:spLocks xmlns:a="http://schemas.openxmlformats.org/drawingml/2006/main" noGrp="1"/>
          </p:cNvSpPr>
          <p:nvPr/>
        </p:nvSpPr>
        <p:spPr>
          <a:xfrm xmlns:a="http://schemas.openxmlformats.org/drawingml/2006/main">
            <a:off x="9429750" y="531495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A12  Complete antenna sweep</a:t>
            </a:r>
          </a:p>
        </p:txBody>
      </p:sp>
      <p:sp>
        <p:nvSpPr>
          <p:cNvPr id="16" name="">
            <a:extLst xmlns:a="http://schemas.openxmlformats.org/drawingml/2006/main">
              <a:ext uri="{FF2B5EF4-FFF2-40B4-BE49-F238E27FC236}">
                <a16:creationId xmlns:a16="http://schemas.microsoft.com/office/drawing/2014/main" id="{5F9CE5CD-06F9-46ED-B7C7-67DBA5DC6728}"/>
              </a:ext>
            </a:extLst>
          </p:cNvPr>
          <p:cNvSpPr>
            <a:spLocks xmlns:a="http://schemas.openxmlformats.org/drawingml/2006/main" noGrp="1"/>
          </p:cNvSpPr>
          <p:nvPr/>
        </p:nvSpPr>
        <p:spPr>
          <a:xfrm xmlns:a="http://schemas.openxmlformats.org/drawingml/2006/main">
            <a:off x="9429750" y="597217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A13  Physical flow and library fixes</a:t>
            </a:r>
          </a:p>
        </p:txBody>
      </p:sp>
      <p:sp>
        <p:nvSpPr>
          <p:cNvPr id="17" name="">
            <a:extLst xmlns:a="http://schemas.openxmlformats.org/drawingml/2006/main">
              <a:ext uri="{FF2B5EF4-FFF2-40B4-BE49-F238E27FC236}">
                <a16:creationId xmlns:a16="http://schemas.microsoft.com/office/drawing/2014/main" id="{2BE64518-C69B-4121-B1EF-D2A026C1A500}"/>
              </a:ext>
            </a:extLst>
          </p:cNvPr>
          <p:cNvSpPr>
            <a:spLocks xmlns:a="http://schemas.openxmlformats.org/drawingml/2006/main" noGrp="1"/>
          </p:cNvSpPr>
          <p:nvPr/>
        </p:nvSpPr>
        <p:spPr>
          <a:xfrm xmlns:a="http://schemas.openxmlformats.org/drawingml/2006/main">
            <a:off x="9429750" y="662940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A14  Full timing and area metrics</a:t>
            </a:r>
          </a:p>
        </p:txBody>
      </p:sp>
      <p:sp>
        <p:nvSpPr>
          <p:cNvPr id="18" name="">
            <a:extLst xmlns:a="http://schemas.openxmlformats.org/drawingml/2006/main">
              <a:ext uri="{FF2B5EF4-FFF2-40B4-BE49-F238E27FC236}">
                <a16:creationId xmlns:a16="http://schemas.microsoft.com/office/drawing/2014/main" id="{9AC947F2-154C-4567-9862-D02C3A93E362}"/>
              </a:ext>
            </a:extLst>
          </p:cNvPr>
          <p:cNvSpPr>
            <a:spLocks xmlns:a="http://schemas.openxmlformats.org/drawingml/2006/main" noGrp="1"/>
          </p:cNvSpPr>
          <p:nvPr/>
        </p:nvSpPr>
        <p:spPr>
          <a:xfrm xmlns:a="http://schemas.openxmlformats.org/drawingml/2006/main">
            <a:off x="9429750" y="7286625"/>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A15  Final floorplan-size selection</a:t>
            </a:r>
          </a:p>
        </p:txBody>
      </p:sp>
      <p:sp>
        <p:nvSpPr>
          <p:cNvPr id="19" name="">
            <a:extLst xmlns:a="http://schemas.openxmlformats.org/drawingml/2006/main">
              <a:ext uri="{FF2B5EF4-FFF2-40B4-BE49-F238E27FC236}">
                <a16:creationId xmlns:a16="http://schemas.microsoft.com/office/drawing/2014/main" id="{016F309D-2ABC-4C21-ADBA-93C63A878033}"/>
              </a:ext>
            </a:extLst>
          </p:cNvPr>
          <p:cNvSpPr>
            <a:spLocks xmlns:a="http://schemas.openxmlformats.org/drawingml/2006/main" noGrp="1"/>
          </p:cNvSpPr>
          <p:nvPr/>
        </p:nvSpPr>
        <p:spPr>
          <a:xfrm xmlns:a="http://schemas.openxmlformats.org/drawingml/2006/main">
            <a:off x="9429750" y="7943850"/>
            <a:ext cx="695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A16  Original architecture diagrams</a:t>
            </a:r>
          </a:p>
        </p:txBody>
      </p:sp>
      <p:sp>
        <p:nvSpPr>
          <p:cNvPr id="20" name="">
            <a:extLst xmlns:a="http://schemas.openxmlformats.org/drawingml/2006/main">
              <a:ext uri="{FF2B5EF4-FFF2-40B4-BE49-F238E27FC236}">
                <a16:creationId xmlns:a16="http://schemas.microsoft.com/office/drawing/2014/main" id="{F0B6BD22-463F-4E42-98EE-6DC0AFD57EA0}"/>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a:t>
            </a:r>
          </a:p>
        </p:txBody>
      </p:sp>
    </p:spTree>
    <p:extLst>
      <p:ext uri="{BB962C8B-B14F-4D97-AF65-F5344CB8AC3E}">
        <p14:creationId xmlns:p14="http://schemas.microsoft.com/office/powerpoint/2010/main" val="95400432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9DEBC64-593E-480D-AE99-4AE166EF1E5B}"/>
              </a:ext>
            </a:extLst>
          </p:cNvPr>
          <p:cNvPicPr>
            <a:picLocks xmlns:a="http://schemas.openxmlformats.org/drawingml/2006/main" noChangeAspect="1"/>
          </p:cNvPicPr>
          <p:nvPr/>
        </p:nvPicPr>
        <p:blipFill>
          <a:blip xmlns:r="http://schemas.openxmlformats.org/officeDocument/2006/relationships" xmlns:a="http://schemas.openxmlformats.org/drawingml/2006/main" r:embed="Rf1156c8ac8b4435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0E19B1-2690-41D2-BA8E-B065B115771C}"/>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A2</a:t>
            </a:r>
          </a:p>
        </p:txBody>
      </p:sp>
      <p:sp>
        <p:nvSpPr>
          <p:cNvPr id="3" name="">
            <a:extLst xmlns:a="http://schemas.openxmlformats.org/drawingml/2006/main">
              <a:ext uri="{FF2B5EF4-FFF2-40B4-BE49-F238E27FC236}">
                <a16:creationId xmlns:a16="http://schemas.microsoft.com/office/drawing/2014/main" id="{AB739AD6-575E-4076-B877-5684DF213C4F}"/>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40DB2C5D-DFD2-4BB0-BBAF-00BB461DDFFA}"/>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Why this generator and this process?</a:t>
            </a:r>
          </a:p>
        </p:txBody>
      </p:sp>
      <p:sp>
        <p:nvSpPr>
          <p:cNvPr id="5" name="">
            <a:extLst xmlns:a="http://schemas.openxmlformats.org/drawingml/2006/main">
              <a:ext uri="{FF2B5EF4-FFF2-40B4-BE49-F238E27FC236}">
                <a16:creationId xmlns:a16="http://schemas.microsoft.com/office/drawing/2014/main" id="{B32BA5B7-FF0D-487E-9A89-5F83F542BFC3}"/>
              </a:ext>
            </a:extLst>
          </p:cNvPr>
          <p:cNvSpPr>
            <a:spLocks xmlns:a="http://schemas.openxmlformats.org/drawingml/2006/main" noGrp="1"/>
          </p:cNvSpPr>
          <p:nvPr/>
        </p:nvSpPr>
        <p:spPr>
          <a:xfrm xmlns:a="http://schemas.openxmlformats.org/drawingml/2006/main">
            <a:off x="1809750" y="3857625"/>
            <a:ext cx="1438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Why MNIST rather than a larger image generator?</a:t>
            </a:r>
          </a:p>
        </p:txBody>
      </p:sp>
      <p:sp>
        <p:nvSpPr>
          <p:cNvPr id="6" name="">
            <a:extLst xmlns:a="http://schemas.openxmlformats.org/drawingml/2006/main">
              <a:ext uri="{FF2B5EF4-FFF2-40B4-BE49-F238E27FC236}">
                <a16:creationId xmlns:a16="http://schemas.microsoft.com/office/drawing/2014/main" id="{AF58FB4D-61E9-4960-9073-56B936858264}"/>
              </a:ext>
            </a:extLst>
          </p:cNvPr>
          <p:cNvSpPr>
            <a:spLocks xmlns:a="http://schemas.openxmlformats.org/drawingml/2006/main" noGrp="1"/>
          </p:cNvSpPr>
          <p:nvPr/>
        </p:nvSpPr>
        <p:spPr>
          <a:xfrm xmlns:a="http://schemas.openxmlformats.org/drawingml/2006/main">
            <a:off x="1809750" y="4600575"/>
            <a:ext cx="1428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A compact workload for checking the full numerical and hardware path.</a:t>
            </a:r>
          </a:p>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The paper evaluates a 28 × 28 MLP generator, not large-image GAN performance.</a:t>
            </a:r>
          </a:p>
        </p:txBody>
      </p:sp>
      <p:sp>
        <p:nvSpPr>
          <p:cNvPr id="7" name="">
            <a:extLst xmlns:a="http://schemas.openxmlformats.org/drawingml/2006/main">
              <a:ext uri="{FF2B5EF4-FFF2-40B4-BE49-F238E27FC236}">
                <a16:creationId xmlns:a16="http://schemas.microsoft.com/office/drawing/2014/main" id="{E4EC99E9-D130-4073-9E4C-7283AC6FD0DE}"/>
              </a:ext>
            </a:extLst>
          </p:cNvPr>
          <p:cNvSpPr>
            <a:spLocks xmlns:a="http://schemas.openxmlformats.org/drawingml/2006/main" noGrp="1"/>
          </p:cNvSpPr>
          <p:nvPr/>
        </p:nvSpPr>
        <p:spPr>
          <a:xfrm xmlns:a="http://schemas.openxmlformats.org/drawingml/2006/main">
            <a:off x="1809750" y="6191250"/>
            <a:ext cx="1438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Why GF180MCU at 180 nm?</a:t>
            </a:r>
          </a:p>
        </p:txBody>
      </p:sp>
      <p:sp>
        <p:nvSpPr>
          <p:cNvPr id="8" name="">
            <a:extLst xmlns:a="http://schemas.openxmlformats.org/drawingml/2006/main">
              <a:ext uri="{FF2B5EF4-FFF2-40B4-BE49-F238E27FC236}">
                <a16:creationId xmlns:a16="http://schemas.microsoft.com/office/drawing/2014/main" id="{045080C2-60D3-437E-943F-620231206A55}"/>
              </a:ext>
            </a:extLst>
          </p:cNvPr>
          <p:cNvSpPr>
            <a:spLocks xmlns:a="http://schemas.openxmlformats.org/drawingml/2006/main" noGrp="1"/>
          </p:cNvSpPr>
          <p:nvPr/>
        </p:nvSpPr>
        <p:spPr>
          <a:xfrm xmlns:a="http://schemas.openxmlformats.org/drawingml/2006/main">
            <a:off x="1809750" y="6934200"/>
            <a:ext cx="1428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The open PDK supports the paper’s fully open-source implementation flow.</a:t>
            </a:r>
          </a:p>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The contribution concerns area and reproducibility at this implementation scale.</a:t>
            </a:r>
          </a:p>
        </p:txBody>
      </p:sp>
      <p:sp>
        <p:nvSpPr>
          <p:cNvPr id="9" name="">
            <a:extLst xmlns:a="http://schemas.openxmlformats.org/drawingml/2006/main">
              <a:ext uri="{FF2B5EF4-FFF2-40B4-BE49-F238E27FC236}">
                <a16:creationId xmlns:a16="http://schemas.microsoft.com/office/drawing/2014/main" id="{CDA1DDF7-1D1D-4CBE-A502-B2EE803AD708}"/>
              </a:ext>
            </a:extLst>
          </p:cNvPr>
          <p:cNvSpPr>
            <a:spLocks xmlns:a="http://schemas.openxmlformats.org/drawingml/2006/main" noGrp="1"/>
          </p:cNvSpPr>
          <p:nvPr/>
        </p:nvSpPr>
        <p:spPr>
          <a:xfrm xmlns:a="http://schemas.openxmlformats.org/drawingml/2006/main">
            <a:off x="1809750" y="881062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00" b="1">
                <a:solidFill>
                  <a:srgbClr val="0E749A"/>
                </a:solidFill>
                <a:latin typeface="Inter Bold"/>
                <a:ea typeface="Inter Bold"/>
                <a:cs typeface="Inter Bold"/>
              </a:defRPr>
            </a:defPPr>
            <a:lvl1pPr>
              <a:defRPr sz="2700" b="1">
                <a:solidFill>
                  <a:srgbClr val="0E749A"/>
                </a:solidFill>
                <a:latin typeface="Inter Bold"/>
                <a:ea typeface="Inter Bold"/>
                <a:cs typeface="Inter Bold"/>
              </a:defRPr>
            </a:lvl1pPr>
            <a:lvl2pPr>
              <a:defRPr sz="2700" b="1">
                <a:solidFill>
                  <a:srgbClr val="0E749A"/>
                </a:solidFill>
                <a:latin typeface="Inter Bold"/>
                <a:ea typeface="Inter Bold"/>
                <a:cs typeface="Inter Bold"/>
              </a:defRPr>
            </a:lvl2pPr>
            <a:lvl3pPr>
              <a:defRPr sz="2700" b="1">
                <a:solidFill>
                  <a:srgbClr val="0E749A"/>
                </a:solidFill>
                <a:latin typeface="Inter Bold"/>
                <a:ea typeface="Inter Bold"/>
                <a:cs typeface="Inter Bold"/>
              </a:defRPr>
            </a:lvl3pPr>
            <a:lvl4pPr>
              <a:defRPr sz="2700" b="1">
                <a:solidFill>
                  <a:srgbClr val="0E749A"/>
                </a:solidFill>
                <a:latin typeface="Inter Bold"/>
                <a:ea typeface="Inter Bold"/>
                <a:cs typeface="Inter Bold"/>
              </a:defRPr>
            </a:lvl4pPr>
            <a:lvl5pPr>
              <a:defRPr sz="2700" b="1">
                <a:solidFill>
                  <a:srgbClr val="0E749A"/>
                </a:solidFill>
                <a:latin typeface="Inter Bold"/>
                <a:ea typeface="Inter Bold"/>
                <a:cs typeface="Inter Bold"/>
              </a:defRPr>
            </a:lvl5pPr>
            <a:lvl6pPr>
              <a:defRPr sz="2700" b="1">
                <a:solidFill>
                  <a:srgbClr val="0E749A"/>
                </a:solidFill>
                <a:latin typeface="Inter Bold"/>
                <a:ea typeface="Inter Bold"/>
                <a:cs typeface="Inter Bold"/>
              </a:defRPr>
            </a:lvl6pPr>
            <a:lvl7pPr>
              <a:defRPr sz="2700" b="1">
                <a:solidFill>
                  <a:srgbClr val="0E749A"/>
                </a:solidFill>
                <a:latin typeface="Inter Bold"/>
                <a:ea typeface="Inter Bold"/>
                <a:cs typeface="Inter Bold"/>
              </a:defRPr>
            </a:lvl7pPr>
            <a:lvl8pPr>
              <a:defRPr sz="2700" b="1">
                <a:solidFill>
                  <a:srgbClr val="0E749A"/>
                </a:solidFill>
                <a:latin typeface="Inter Bold"/>
                <a:ea typeface="Inter Bold"/>
                <a:cs typeface="Inter Bold"/>
              </a:defRPr>
            </a:lvl8pPr>
            <a:lvl9pPr>
              <a:defRPr sz="2700" b="1">
                <a:solidFill>
                  <a:srgbClr val="0E749A"/>
                </a:solidFill>
                <a:latin typeface="Inter Bold"/>
                <a:ea typeface="Inter Bold"/>
                <a:cs typeface="Inter Bold"/>
              </a:defRPr>
            </a:lvl9pPr>
          </a:lstStyle>
          <a:p xmlns:a="http://schemas.openxmlformats.org/drawingml/2006/main">
            <a:pPr>
              <a:defRPr sz="2700" b="1">
                <a:solidFill>
                  <a:srgbClr val="0E749A"/>
                </a:solidFill>
                <a:latin typeface="Inter Bold"/>
                <a:ea typeface="Inter Bold"/>
                <a:cs typeface="Inter Bold"/>
              </a:defRPr>
            </a:pPr>
            <a:r>
              <a:rPr sz="2700" b="1">
                <a:solidFill>
                  <a:srgbClr val="0E749A"/>
                </a:solidFill>
                <a:latin typeface="Inter Bold"/>
                <a:ea typeface="Inter Bold"/>
                <a:cs typeface="Inter Bold"/>
              </a:rPr>
              <a:t>Broader workloads require new mapping, memory and quality evaluations.</a:t>
            </a:r>
          </a:p>
        </p:txBody>
      </p:sp>
      <p:sp>
        <p:nvSpPr>
          <p:cNvPr id="10" name="">
            <a:extLst xmlns:a="http://schemas.openxmlformats.org/drawingml/2006/main">
              <a:ext uri="{FF2B5EF4-FFF2-40B4-BE49-F238E27FC236}">
                <a16:creationId xmlns:a16="http://schemas.microsoft.com/office/drawing/2014/main" id="{2CB11E8C-D92F-4D42-9BC3-5520EF71C878}"/>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A2</a:t>
            </a:r>
          </a:p>
        </p:txBody>
      </p:sp>
    </p:spTree>
    <p:extLst>
      <p:ext uri="{BB962C8B-B14F-4D97-AF65-F5344CB8AC3E}">
        <p14:creationId xmlns:p14="http://schemas.microsoft.com/office/powerpoint/2010/main" val="165236140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C9CB401-22A7-48D4-B54B-FFB2E6A7B5E3}"/>
              </a:ext>
            </a:extLst>
          </p:cNvPr>
          <p:cNvPicPr>
            <a:picLocks xmlns:a="http://schemas.openxmlformats.org/drawingml/2006/main" noChangeAspect="1"/>
          </p:cNvPicPr>
          <p:nvPr/>
        </p:nvPicPr>
        <p:blipFill>
          <a:blip xmlns:r="http://schemas.openxmlformats.org/officeDocument/2006/relationships" xmlns:a="http://schemas.openxmlformats.org/drawingml/2006/main" r:embed="Rbc6aaaba20a7412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D74010-A088-401A-A01A-E071E9B6E2FD}"/>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A3</a:t>
            </a:r>
          </a:p>
        </p:txBody>
      </p:sp>
      <p:sp>
        <p:nvSpPr>
          <p:cNvPr id="3" name="">
            <a:extLst xmlns:a="http://schemas.openxmlformats.org/drawingml/2006/main">
              <a:ext uri="{FF2B5EF4-FFF2-40B4-BE49-F238E27FC236}">
                <a16:creationId xmlns:a16="http://schemas.microsoft.com/office/drawing/2014/main" id="{3567CE3B-4B5D-49AD-94C6-5ECA4C178A40}"/>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D2291639-A9F8-493F-998F-9B2A5088A65B}"/>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What runs on the accelerator?</a:t>
            </a:r>
          </a:p>
        </p:txBody>
      </p:sp>
      <p:graphicFrame>
        <p:nvGraphicFramePr>
          <p:cNvPr id="5" name="">
            <a:extLst xmlns:a="http://schemas.openxmlformats.org/drawingml/2006/main">
              <a:ext uri="{FF2B5EF4-FFF2-40B4-BE49-F238E27FC236}">
                <a16:creationId xmlns:a16="http://schemas.microsoft.com/office/drawing/2014/main" id="{71FBAB39-5B40-4E19-AC44-F452A2CB6868}"/>
              </a:ext>
            </a:extLst>
          </p:cNvPr>
          <p:cNvGraphicFramePr/>
          <p:nvPr/>
        </p:nvGraphicFramePr>
        <p:xfrm>
          <a:off xmlns:a="http://schemas.openxmlformats.org/drawingml/2006/main" x="1809750" y="3952875"/>
          <a:ext xmlns:a="http://schemas.openxmlformats.org/drawingml/2006/main" cx="14097000" cy="3714750"/>
        </p:xfrm>
        <a:graphic xmlns:a="http://schemas.openxmlformats.org/drawingml/2006/main">
          <a:graphicData uri="http://schemas.openxmlformats.org/drawingml/2006/table">
            <a:tbl>
              <a:tblPr/>
              <a:tblGrid>
                <a:gridCol w="8572500"/>
                <a:gridCol w="5524500"/>
              </a:tblGrid>
              <a:tr h="619125">
                <a:tc>
                  <a:txBody>
                    <a:bodyPr/>
                    <a:lstStyle/>
                    <a:p>
                      <a:r>
                        <a:rPr sz="2400" b="1">
                          <a:solidFill>
                            <a:srgbClr val="FFFFFF"/>
                          </a:solidFill>
                          <a:latin typeface="Inter Bold"/>
                          <a:ea typeface="Inter Bold"/>
                          <a:cs typeface="Inter Bold"/>
                        </a:rPr>
                        <a:t>Function</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400" b="1">
                          <a:solidFill>
                            <a:srgbClr val="FFFFFF"/>
                          </a:solidFill>
                          <a:latin typeface="Inter Bold"/>
                          <a:ea typeface="Inter Bold"/>
                          <a:cs typeface="Inter Bold"/>
                        </a:rPr>
                        <a:t>Where it runs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19125">
                <a:tc>
                  <a:txBody>
                    <a:bodyPr/>
                    <a:lstStyle/>
                    <a:p>
                      <a:r>
                        <a:rPr sz="2400" b="0">
                          <a:solidFill>
                            <a:srgbClr val="002B57"/>
                          </a:solidFill>
                          <a:latin typeface="Inter"/>
                          <a:ea typeface="Inter"/>
                          <a:cs typeface="Inter"/>
                        </a:rPr>
                        <a:t>GAN training and discriminator</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Outside this accelerator</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400" b="0">
                          <a:solidFill>
                            <a:srgbClr val="002B57"/>
                          </a:solidFill>
                          <a:latin typeface="Inter"/>
                          <a:ea typeface="Inter"/>
                          <a:cs typeface="Inter"/>
                        </a:rPr>
                        <a:t>Quantization and tile scheduling</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Host</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400" b="0">
                          <a:solidFill>
                            <a:srgbClr val="002B57"/>
                          </a:solidFill>
                          <a:latin typeface="Inter"/>
                          <a:ea typeface="Inter"/>
                          <a:cs typeface="Inter"/>
                        </a:rPr>
                        <a:t>Signed INT8 dot products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Accelerator</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400" b="0">
                          <a:solidFill>
                            <a:srgbClr val="002B57"/>
                          </a:solidFill>
                          <a:latin typeface="Inter"/>
                          <a:ea typeface="Inter"/>
                          <a:cs typeface="Inter"/>
                        </a:rPr>
                        <a:t>Bias, ReLU and requantization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Host</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400" b="0">
                          <a:solidFill>
                            <a:srgbClr val="002B57"/>
                          </a:solidFill>
                          <a:latin typeface="Inter"/>
                          <a:ea typeface="Inter"/>
                          <a:cs typeface="Inter"/>
                        </a:rPr>
                        <a:t>tanh lookup and grayscale conversion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Host</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00DD02E-FE80-4C80-AB69-A442F34C2EB7}"/>
              </a:ext>
            </a:extLst>
          </p:cNvPr>
          <p:cNvSpPr>
            <a:spLocks xmlns:a="http://schemas.openxmlformats.org/drawingml/2006/main" noGrp="1"/>
          </p:cNvSpPr>
          <p:nvPr/>
        </p:nvSpPr>
        <p:spPr>
          <a:xfrm xmlns:a="http://schemas.openxmlformats.org/drawingml/2006/main">
            <a:off x="1809750" y="8143875"/>
            <a:ext cx="1428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0E749A"/>
                </a:solidFill>
                <a:latin typeface="Inter Bold"/>
                <a:ea typeface="Inter Bold"/>
                <a:cs typeface="Inter Bold"/>
              </a:defRPr>
            </a:defPPr>
            <a:lvl1pPr>
              <a:defRPr sz="2850" b="1">
                <a:solidFill>
                  <a:srgbClr val="0E749A"/>
                </a:solidFill>
                <a:latin typeface="Inter Bold"/>
                <a:ea typeface="Inter Bold"/>
                <a:cs typeface="Inter Bold"/>
              </a:defRPr>
            </a:lvl1pPr>
            <a:lvl2pPr>
              <a:defRPr sz="2850" b="1">
                <a:solidFill>
                  <a:srgbClr val="0E749A"/>
                </a:solidFill>
                <a:latin typeface="Inter Bold"/>
                <a:ea typeface="Inter Bold"/>
                <a:cs typeface="Inter Bold"/>
              </a:defRPr>
            </a:lvl2pPr>
            <a:lvl3pPr>
              <a:defRPr sz="2850" b="1">
                <a:solidFill>
                  <a:srgbClr val="0E749A"/>
                </a:solidFill>
                <a:latin typeface="Inter Bold"/>
                <a:ea typeface="Inter Bold"/>
                <a:cs typeface="Inter Bold"/>
              </a:defRPr>
            </a:lvl3pPr>
            <a:lvl4pPr>
              <a:defRPr sz="2850" b="1">
                <a:solidFill>
                  <a:srgbClr val="0E749A"/>
                </a:solidFill>
                <a:latin typeface="Inter Bold"/>
                <a:ea typeface="Inter Bold"/>
                <a:cs typeface="Inter Bold"/>
              </a:defRPr>
            </a:lvl4pPr>
            <a:lvl5pPr>
              <a:defRPr sz="2850" b="1">
                <a:solidFill>
                  <a:srgbClr val="0E749A"/>
                </a:solidFill>
                <a:latin typeface="Inter Bold"/>
                <a:ea typeface="Inter Bold"/>
                <a:cs typeface="Inter Bold"/>
              </a:defRPr>
            </a:lvl5pPr>
            <a:lvl6pPr>
              <a:defRPr sz="2850" b="1">
                <a:solidFill>
                  <a:srgbClr val="0E749A"/>
                </a:solidFill>
                <a:latin typeface="Inter Bold"/>
                <a:ea typeface="Inter Bold"/>
                <a:cs typeface="Inter Bold"/>
              </a:defRPr>
            </a:lvl6pPr>
            <a:lvl7pPr>
              <a:defRPr sz="2850" b="1">
                <a:solidFill>
                  <a:srgbClr val="0E749A"/>
                </a:solidFill>
                <a:latin typeface="Inter Bold"/>
                <a:ea typeface="Inter Bold"/>
                <a:cs typeface="Inter Bold"/>
              </a:defRPr>
            </a:lvl7pPr>
            <a:lvl8pPr>
              <a:defRPr sz="2850" b="1">
                <a:solidFill>
                  <a:srgbClr val="0E749A"/>
                </a:solidFill>
                <a:latin typeface="Inter Bold"/>
                <a:ea typeface="Inter Bold"/>
                <a:cs typeface="Inter Bold"/>
              </a:defRPr>
            </a:lvl8pPr>
            <a:lvl9pPr>
              <a:defRPr sz="2850" b="1">
                <a:solidFill>
                  <a:srgbClr val="0E749A"/>
                </a:solidFill>
                <a:latin typeface="Inter Bold"/>
                <a:ea typeface="Inter Bold"/>
                <a:cs typeface="Inter Bold"/>
              </a:defRPr>
            </a:lvl9pPr>
          </a:lstStyle>
          <a:p xmlns:a="http://schemas.openxmlformats.org/drawingml/2006/main">
            <a:pPr>
              <a:defRPr sz="2850" b="1">
                <a:solidFill>
                  <a:srgbClr val="0E749A"/>
                </a:solidFill>
                <a:latin typeface="Inter Bold"/>
                <a:ea typeface="Inter Bold"/>
                <a:cs typeface="Inter Bold"/>
              </a:defRPr>
            </a:pPr>
            <a:r>
              <a:rPr sz="2850" b="1">
                <a:solidFill>
                  <a:srgbClr val="0E749A"/>
                </a:solidFill>
                <a:latin typeface="Inter Bold"/>
                <a:ea typeface="Inter Bold"/>
                <a:cs typeface="Inter Bold"/>
              </a:rPr>
              <a:t>Current evidence: nine-macro accelerator sign-off and routed-netlist tests</a:t>
            </a:r>
          </a:p>
        </p:txBody>
      </p:sp>
      <p:sp>
        <p:nvSpPr>
          <p:cNvPr id="7" name="">
            <a:extLst xmlns:a="http://schemas.openxmlformats.org/drawingml/2006/main">
              <a:ext uri="{FF2B5EF4-FFF2-40B4-BE49-F238E27FC236}">
                <a16:creationId xmlns:a16="http://schemas.microsoft.com/office/drawing/2014/main" id="{F2AFDCE0-E02C-42F2-AA41-15731DD01C80}"/>
              </a:ext>
            </a:extLst>
          </p:cNvPr>
          <p:cNvSpPr>
            <a:spLocks xmlns:a="http://schemas.openxmlformats.org/drawingml/2006/main" noGrp="1"/>
          </p:cNvSpPr>
          <p:nvPr/>
        </p:nvSpPr>
        <p:spPr>
          <a:xfrm xmlns:a="http://schemas.openxmlformats.org/drawingml/2006/main">
            <a:off x="1809750" y="9191625"/>
            <a:ext cx="1428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002B57"/>
                </a:solidFill>
                <a:latin typeface="Inter"/>
                <a:ea typeface="Inter"/>
                <a:cs typeface="Inter"/>
              </a:defRPr>
            </a:defPPr>
            <a:lvl1pPr>
              <a:defRPr sz="2400" b="0">
                <a:solidFill>
                  <a:srgbClr val="002B57"/>
                </a:solidFill>
                <a:latin typeface="Inter"/>
                <a:ea typeface="Inter"/>
                <a:cs typeface="Inter"/>
              </a:defRPr>
            </a:lvl1pPr>
            <a:lvl2pPr>
              <a:defRPr sz="2400" b="0">
                <a:solidFill>
                  <a:srgbClr val="002B57"/>
                </a:solidFill>
                <a:latin typeface="Inter"/>
                <a:ea typeface="Inter"/>
                <a:cs typeface="Inter"/>
              </a:defRPr>
            </a:lvl2pPr>
            <a:lvl3pPr>
              <a:defRPr sz="2400" b="0">
                <a:solidFill>
                  <a:srgbClr val="002B57"/>
                </a:solidFill>
                <a:latin typeface="Inter"/>
                <a:ea typeface="Inter"/>
                <a:cs typeface="Inter"/>
              </a:defRPr>
            </a:lvl3pPr>
            <a:lvl4pPr>
              <a:defRPr sz="2400" b="0">
                <a:solidFill>
                  <a:srgbClr val="002B57"/>
                </a:solidFill>
                <a:latin typeface="Inter"/>
                <a:ea typeface="Inter"/>
                <a:cs typeface="Inter"/>
              </a:defRPr>
            </a:lvl4pPr>
            <a:lvl5pPr>
              <a:defRPr sz="2400" b="0">
                <a:solidFill>
                  <a:srgbClr val="002B57"/>
                </a:solidFill>
                <a:latin typeface="Inter"/>
                <a:ea typeface="Inter"/>
                <a:cs typeface="Inter"/>
              </a:defRPr>
            </a:lvl5pPr>
            <a:lvl6pPr>
              <a:defRPr sz="2400" b="0">
                <a:solidFill>
                  <a:srgbClr val="002B57"/>
                </a:solidFill>
                <a:latin typeface="Inter"/>
                <a:ea typeface="Inter"/>
                <a:cs typeface="Inter"/>
              </a:defRPr>
            </a:lvl6pPr>
            <a:lvl7pPr>
              <a:defRPr sz="2400" b="0">
                <a:solidFill>
                  <a:srgbClr val="002B57"/>
                </a:solidFill>
                <a:latin typeface="Inter"/>
                <a:ea typeface="Inter"/>
                <a:cs typeface="Inter"/>
              </a:defRPr>
            </a:lvl7pPr>
            <a:lvl8pPr>
              <a:defRPr sz="2400" b="0">
                <a:solidFill>
                  <a:srgbClr val="002B57"/>
                </a:solidFill>
                <a:latin typeface="Inter"/>
                <a:ea typeface="Inter"/>
                <a:cs typeface="Inter"/>
              </a:defRPr>
            </a:lvl8pPr>
            <a:lvl9pPr>
              <a:defRPr sz="2400" b="0">
                <a:solidFill>
                  <a:srgbClr val="002B57"/>
                </a:solidFill>
                <a:latin typeface="Inter"/>
                <a:ea typeface="Inter"/>
                <a:cs typeface="Inter"/>
              </a:defRPr>
            </a:lvl9pPr>
          </a:lstStyle>
          <a:p xmlns:a="http://schemas.openxmlformats.org/drawingml/2006/main">
            <a:pPr>
              <a:defRPr sz="2400" b="0">
                <a:solidFill>
                  <a:srgbClr val="002B57"/>
                </a:solidFill>
                <a:latin typeface="Inter"/>
                <a:ea typeface="Inter"/>
                <a:cs typeface="Inter"/>
              </a:defRPr>
            </a:pPr>
            <a:r>
              <a:rPr sz="2400" b="0">
                <a:solidFill>
                  <a:srgbClr val="002B57"/>
                </a:solidFill>
                <a:latin typeface="Inter"/>
                <a:ea typeface="Inter"/>
                <a:cs typeface="Inter"/>
              </a:rPr>
              <a:t>Updated padring integration and silicon validation remain next steps.</a:t>
            </a:r>
          </a:p>
        </p:txBody>
      </p:sp>
      <p:sp>
        <p:nvSpPr>
          <p:cNvPr id="8" name="">
            <a:extLst xmlns:a="http://schemas.openxmlformats.org/drawingml/2006/main">
              <a:ext uri="{FF2B5EF4-FFF2-40B4-BE49-F238E27FC236}">
                <a16:creationId xmlns:a16="http://schemas.microsoft.com/office/drawing/2014/main" id="{3D85E08F-40E9-41C6-9CD0-BBE0B92061AB}"/>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A3</a:t>
            </a:r>
          </a:p>
        </p:txBody>
      </p:sp>
    </p:spTree>
    <p:extLst>
      <p:ext uri="{BB962C8B-B14F-4D97-AF65-F5344CB8AC3E}">
        <p14:creationId xmlns:p14="http://schemas.microsoft.com/office/powerpoint/2010/main" val="164438539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3432E6C-655B-4DC4-891D-DC5B027EE753}"/>
              </a:ext>
            </a:extLst>
          </p:cNvPr>
          <p:cNvPicPr>
            <a:picLocks xmlns:a="http://schemas.openxmlformats.org/drawingml/2006/main" noChangeAspect="1"/>
          </p:cNvPicPr>
          <p:nvPr/>
        </p:nvPicPr>
        <p:blipFill>
          <a:blip xmlns:r="http://schemas.openxmlformats.org/officeDocument/2006/relationships" xmlns:a="http://schemas.openxmlformats.org/drawingml/2006/main" r:embed="R13cb98240f6d41f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D4AD796-86CA-4E37-9710-5A1EB20E2CA5}"/>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A4</a:t>
            </a:r>
          </a:p>
        </p:txBody>
      </p:sp>
      <p:sp>
        <p:nvSpPr>
          <p:cNvPr id="3" name="">
            <a:extLst xmlns:a="http://schemas.openxmlformats.org/drawingml/2006/main">
              <a:ext uri="{FF2B5EF4-FFF2-40B4-BE49-F238E27FC236}">
                <a16:creationId xmlns:a16="http://schemas.microsoft.com/office/drawing/2014/main" id="{A45E2FF7-D822-4ECC-B11A-7F9DF99731E3}"/>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28C1D031-F07A-45F5-9D12-4CE85A1A616F}"/>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Why 24-bit accumulation and INT8?</a:t>
            </a:r>
          </a:p>
        </p:txBody>
      </p:sp>
      <p:sp>
        <p:nvSpPr>
          <p:cNvPr id="5" name="">
            <a:extLst xmlns:a="http://schemas.openxmlformats.org/drawingml/2006/main">
              <a:ext uri="{FF2B5EF4-FFF2-40B4-BE49-F238E27FC236}">
                <a16:creationId xmlns:a16="http://schemas.microsoft.com/office/drawing/2014/main" id="{139E79C6-8F6E-49EB-8980-D5A57E1663ED}"/>
              </a:ext>
            </a:extLst>
          </p:cNvPr>
          <p:cNvSpPr>
            <a:spLocks xmlns:a="http://schemas.openxmlformats.org/drawingml/2006/main" noGrp="1"/>
          </p:cNvSpPr>
          <p:nvPr/>
        </p:nvSpPr>
        <p:spPr>
          <a:xfrm xmlns:a="http://schemas.openxmlformats.org/drawingml/2006/main">
            <a:off x="1809750" y="3810000"/>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75" b="1">
                <a:solidFill>
                  <a:srgbClr val="0E749A"/>
                </a:solidFill>
                <a:latin typeface="Inter Bold"/>
                <a:ea typeface="Inter Bold"/>
                <a:cs typeface="Inter Bold"/>
              </a:defRPr>
            </a:defPPr>
            <a:lvl1pPr>
              <a:defRPr sz="3375" b="1">
                <a:solidFill>
                  <a:srgbClr val="0E749A"/>
                </a:solidFill>
                <a:latin typeface="Inter Bold"/>
                <a:ea typeface="Inter Bold"/>
                <a:cs typeface="Inter Bold"/>
              </a:defRPr>
            </a:lvl1pPr>
            <a:lvl2pPr>
              <a:defRPr sz="3375" b="1">
                <a:solidFill>
                  <a:srgbClr val="0E749A"/>
                </a:solidFill>
                <a:latin typeface="Inter Bold"/>
                <a:ea typeface="Inter Bold"/>
                <a:cs typeface="Inter Bold"/>
              </a:defRPr>
            </a:lvl2pPr>
            <a:lvl3pPr>
              <a:defRPr sz="3375" b="1">
                <a:solidFill>
                  <a:srgbClr val="0E749A"/>
                </a:solidFill>
                <a:latin typeface="Inter Bold"/>
                <a:ea typeface="Inter Bold"/>
                <a:cs typeface="Inter Bold"/>
              </a:defRPr>
            </a:lvl3pPr>
            <a:lvl4pPr>
              <a:defRPr sz="3375" b="1">
                <a:solidFill>
                  <a:srgbClr val="0E749A"/>
                </a:solidFill>
                <a:latin typeface="Inter Bold"/>
                <a:ea typeface="Inter Bold"/>
                <a:cs typeface="Inter Bold"/>
              </a:defRPr>
            </a:lvl4pPr>
            <a:lvl5pPr>
              <a:defRPr sz="3375" b="1">
                <a:solidFill>
                  <a:srgbClr val="0E749A"/>
                </a:solidFill>
                <a:latin typeface="Inter Bold"/>
                <a:ea typeface="Inter Bold"/>
                <a:cs typeface="Inter Bold"/>
              </a:defRPr>
            </a:lvl5pPr>
            <a:lvl6pPr>
              <a:defRPr sz="3375" b="1">
                <a:solidFill>
                  <a:srgbClr val="0E749A"/>
                </a:solidFill>
                <a:latin typeface="Inter Bold"/>
                <a:ea typeface="Inter Bold"/>
                <a:cs typeface="Inter Bold"/>
              </a:defRPr>
            </a:lvl6pPr>
            <a:lvl7pPr>
              <a:defRPr sz="3375" b="1">
                <a:solidFill>
                  <a:srgbClr val="0E749A"/>
                </a:solidFill>
                <a:latin typeface="Inter Bold"/>
                <a:ea typeface="Inter Bold"/>
                <a:cs typeface="Inter Bold"/>
              </a:defRPr>
            </a:lvl7pPr>
            <a:lvl8pPr>
              <a:defRPr sz="3375" b="1">
                <a:solidFill>
                  <a:srgbClr val="0E749A"/>
                </a:solidFill>
                <a:latin typeface="Inter Bold"/>
                <a:ea typeface="Inter Bold"/>
                <a:cs typeface="Inter Bold"/>
              </a:defRPr>
            </a:lvl8pPr>
            <a:lvl9pPr>
              <a:defRPr sz="3375" b="1">
                <a:solidFill>
                  <a:srgbClr val="0E749A"/>
                </a:solidFill>
                <a:latin typeface="Inter Bold"/>
                <a:ea typeface="Inter Bold"/>
                <a:cs typeface="Inter Bold"/>
              </a:defRPr>
            </a:lvl9pPr>
          </a:lstStyle>
          <a:p xmlns:a="http://schemas.openxmlformats.org/drawingml/2006/main">
            <a:pPr>
              <a:defRPr sz="3375" b="1">
                <a:solidFill>
                  <a:srgbClr val="0E749A"/>
                </a:solidFill>
                <a:latin typeface="Inter Bold"/>
                <a:ea typeface="Inter Bold"/>
                <a:cs typeface="Inter Bold"/>
              </a:defRPr>
            </a:pPr>
            <a:r>
              <a:rPr sz="3375" b="1">
                <a:solidFill>
                  <a:srgbClr val="0E749A"/>
                </a:solidFill>
                <a:latin typeface="Inter Bold"/>
                <a:ea typeface="Inter Bold"/>
                <a:cs typeface="Inter Bold"/>
              </a:rPr>
              <a:t>256 products require headroom beyond an 8-bit output</a:t>
            </a:r>
          </a:p>
        </p:txBody>
      </p:sp>
      <p:sp>
        <p:nvSpPr>
          <p:cNvPr id="6" name="">
            <a:extLst xmlns:a="http://schemas.openxmlformats.org/drawingml/2006/main">
              <a:ext uri="{FF2B5EF4-FFF2-40B4-BE49-F238E27FC236}">
                <a16:creationId xmlns:a16="http://schemas.microsoft.com/office/drawing/2014/main" id="{8A0F20A7-D686-4B9F-9603-DEB8E838EED9}"/>
              </a:ext>
            </a:extLst>
          </p:cNvPr>
          <p:cNvSpPr>
            <a:spLocks xmlns:a="http://schemas.openxmlformats.org/drawingml/2006/main" noGrp="1"/>
          </p:cNvSpPr>
          <p:nvPr/>
        </p:nvSpPr>
        <p:spPr>
          <a:xfrm xmlns:a="http://schemas.openxmlformats.org/drawingml/2006/main">
            <a:off x="1809750" y="4810125"/>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0">
                <a:solidFill>
                  <a:srgbClr val="002B57"/>
                </a:solidFill>
                <a:latin typeface="Inter"/>
                <a:ea typeface="Inter"/>
                <a:cs typeface="Inter"/>
              </a:defRPr>
            </a:defPPr>
            <a:lvl1pPr>
              <a:defRPr sz="2925" b="0">
                <a:solidFill>
                  <a:srgbClr val="002B57"/>
                </a:solidFill>
                <a:latin typeface="Inter"/>
                <a:ea typeface="Inter"/>
                <a:cs typeface="Inter"/>
              </a:defRPr>
            </a:lvl1pPr>
            <a:lvl2pPr>
              <a:defRPr sz="2925" b="0">
                <a:solidFill>
                  <a:srgbClr val="002B57"/>
                </a:solidFill>
                <a:latin typeface="Inter"/>
                <a:ea typeface="Inter"/>
                <a:cs typeface="Inter"/>
              </a:defRPr>
            </a:lvl2pPr>
            <a:lvl3pPr>
              <a:defRPr sz="2925" b="0">
                <a:solidFill>
                  <a:srgbClr val="002B57"/>
                </a:solidFill>
                <a:latin typeface="Inter"/>
                <a:ea typeface="Inter"/>
                <a:cs typeface="Inter"/>
              </a:defRPr>
            </a:lvl3pPr>
            <a:lvl4pPr>
              <a:defRPr sz="2925" b="0">
                <a:solidFill>
                  <a:srgbClr val="002B57"/>
                </a:solidFill>
                <a:latin typeface="Inter"/>
                <a:ea typeface="Inter"/>
                <a:cs typeface="Inter"/>
              </a:defRPr>
            </a:lvl4pPr>
            <a:lvl5pPr>
              <a:defRPr sz="2925" b="0">
                <a:solidFill>
                  <a:srgbClr val="002B57"/>
                </a:solidFill>
                <a:latin typeface="Inter"/>
                <a:ea typeface="Inter"/>
                <a:cs typeface="Inter"/>
              </a:defRPr>
            </a:lvl5pPr>
            <a:lvl6pPr>
              <a:defRPr sz="2925" b="0">
                <a:solidFill>
                  <a:srgbClr val="002B57"/>
                </a:solidFill>
                <a:latin typeface="Inter"/>
                <a:ea typeface="Inter"/>
                <a:cs typeface="Inter"/>
              </a:defRPr>
            </a:lvl6pPr>
            <a:lvl7pPr>
              <a:defRPr sz="2925" b="0">
                <a:solidFill>
                  <a:srgbClr val="002B57"/>
                </a:solidFill>
                <a:latin typeface="Inter"/>
                <a:ea typeface="Inter"/>
                <a:cs typeface="Inter"/>
              </a:defRPr>
            </a:lvl7pPr>
            <a:lvl8pPr>
              <a:defRPr sz="2925" b="0">
                <a:solidFill>
                  <a:srgbClr val="002B57"/>
                </a:solidFill>
                <a:latin typeface="Inter"/>
                <a:ea typeface="Inter"/>
                <a:cs typeface="Inter"/>
              </a:defRPr>
            </a:lvl8pPr>
            <a:lvl9pPr>
              <a:defRPr sz="2925" b="0">
                <a:solidFill>
                  <a:srgbClr val="002B57"/>
                </a:solidFill>
                <a:latin typeface="Inter"/>
                <a:ea typeface="Inter"/>
                <a:cs typeface="Inter"/>
              </a:defRPr>
            </a:lvl9pPr>
          </a:lstStyle>
          <a:p xmlns:a="http://schemas.openxmlformats.org/drawingml/2006/main">
            <a:pPr>
              <a:defRPr sz="2925" b="0">
                <a:solidFill>
                  <a:srgbClr val="002B57"/>
                </a:solidFill>
                <a:latin typeface="Inter"/>
                <a:ea typeface="Inter"/>
                <a:cs typeface="Inter"/>
              </a:defRPr>
            </a:pPr>
            <a:r>
              <a:rPr sz="2925" b="0">
                <a:solidFill>
                  <a:srgbClr val="002B57"/>
                </a:solidFill>
                <a:latin typeface="Inter"/>
                <a:ea typeface="Inter"/>
                <a:cs typeface="Inter"/>
              </a:rPr>
              <a:t>Full signed-INT8 bound: 256 × (−128) × (−128) = 4,194,304</a:t>
            </a:r>
          </a:p>
        </p:txBody>
      </p:sp>
      <p:sp>
        <p:nvSpPr>
          <p:cNvPr id="7" name="">
            <a:extLst xmlns:a="http://schemas.openxmlformats.org/drawingml/2006/main">
              <a:ext uri="{FF2B5EF4-FFF2-40B4-BE49-F238E27FC236}">
                <a16:creationId xmlns:a16="http://schemas.microsoft.com/office/drawing/2014/main" id="{3D0BA37C-20F9-4B45-9AC8-09AD7F2AFB30}"/>
              </a:ext>
            </a:extLst>
          </p:cNvPr>
          <p:cNvSpPr>
            <a:spLocks xmlns:a="http://schemas.openxmlformats.org/drawingml/2006/main" noGrp="1"/>
          </p:cNvSpPr>
          <p:nvPr/>
        </p:nvSpPr>
        <p:spPr>
          <a:xfrm xmlns:a="http://schemas.openxmlformats.org/drawingml/2006/main">
            <a:off x="1809750" y="566737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0">
                <a:solidFill>
                  <a:srgbClr val="002B57"/>
                </a:solidFill>
                <a:latin typeface="Inter"/>
                <a:ea typeface="Inter"/>
                <a:cs typeface="Inter"/>
              </a:defRPr>
            </a:defPPr>
            <a:lvl1pPr>
              <a:defRPr sz="2925" b="0">
                <a:solidFill>
                  <a:srgbClr val="002B57"/>
                </a:solidFill>
                <a:latin typeface="Inter"/>
                <a:ea typeface="Inter"/>
                <a:cs typeface="Inter"/>
              </a:defRPr>
            </a:lvl1pPr>
            <a:lvl2pPr>
              <a:defRPr sz="2925" b="0">
                <a:solidFill>
                  <a:srgbClr val="002B57"/>
                </a:solidFill>
                <a:latin typeface="Inter"/>
                <a:ea typeface="Inter"/>
                <a:cs typeface="Inter"/>
              </a:defRPr>
            </a:lvl2pPr>
            <a:lvl3pPr>
              <a:defRPr sz="2925" b="0">
                <a:solidFill>
                  <a:srgbClr val="002B57"/>
                </a:solidFill>
                <a:latin typeface="Inter"/>
                <a:ea typeface="Inter"/>
                <a:cs typeface="Inter"/>
              </a:defRPr>
            </a:lvl3pPr>
            <a:lvl4pPr>
              <a:defRPr sz="2925" b="0">
                <a:solidFill>
                  <a:srgbClr val="002B57"/>
                </a:solidFill>
                <a:latin typeface="Inter"/>
                <a:ea typeface="Inter"/>
                <a:cs typeface="Inter"/>
              </a:defRPr>
            </a:lvl4pPr>
            <a:lvl5pPr>
              <a:defRPr sz="2925" b="0">
                <a:solidFill>
                  <a:srgbClr val="002B57"/>
                </a:solidFill>
                <a:latin typeface="Inter"/>
                <a:ea typeface="Inter"/>
                <a:cs typeface="Inter"/>
              </a:defRPr>
            </a:lvl5pPr>
            <a:lvl6pPr>
              <a:defRPr sz="2925" b="0">
                <a:solidFill>
                  <a:srgbClr val="002B57"/>
                </a:solidFill>
                <a:latin typeface="Inter"/>
                <a:ea typeface="Inter"/>
                <a:cs typeface="Inter"/>
              </a:defRPr>
            </a:lvl6pPr>
            <a:lvl7pPr>
              <a:defRPr sz="2925" b="0">
                <a:solidFill>
                  <a:srgbClr val="002B57"/>
                </a:solidFill>
                <a:latin typeface="Inter"/>
                <a:ea typeface="Inter"/>
                <a:cs typeface="Inter"/>
              </a:defRPr>
            </a:lvl7pPr>
            <a:lvl8pPr>
              <a:defRPr sz="2925" b="0">
                <a:solidFill>
                  <a:srgbClr val="002B57"/>
                </a:solidFill>
                <a:latin typeface="Inter"/>
                <a:ea typeface="Inter"/>
                <a:cs typeface="Inter"/>
              </a:defRPr>
            </a:lvl8pPr>
            <a:lvl9pPr>
              <a:defRPr sz="2925" b="0">
                <a:solidFill>
                  <a:srgbClr val="002B57"/>
                </a:solidFill>
                <a:latin typeface="Inter"/>
                <a:ea typeface="Inter"/>
                <a:cs typeface="Inter"/>
              </a:defRPr>
            </a:lvl9pPr>
          </a:lstStyle>
          <a:p xmlns:a="http://schemas.openxmlformats.org/drawingml/2006/main">
            <a:pPr>
              <a:defRPr sz="2925" b="0">
                <a:solidFill>
                  <a:srgbClr val="002B57"/>
                </a:solidFill>
                <a:latin typeface="Inter"/>
                <a:ea typeface="Inter"/>
                <a:cs typeface="Inter"/>
              </a:defRPr>
            </a:pPr>
            <a:r>
              <a:rPr sz="2925" b="0">
                <a:solidFill>
                  <a:srgbClr val="002B57"/>
                </a:solidFill>
                <a:latin typeface="Inter"/>
                <a:ea typeface="Inter"/>
                <a:cs typeface="Inter"/>
              </a:rPr>
              <a:t>Signed 24-bit range: −8,388,608 to +8,388,607</a:t>
            </a:r>
          </a:p>
        </p:txBody>
      </p:sp>
      <p:graphicFrame>
        <p:nvGraphicFramePr>
          <p:cNvPr id="8" name="">
            <a:extLst xmlns:a="http://schemas.openxmlformats.org/drawingml/2006/main">
              <a:ext uri="{FF2B5EF4-FFF2-40B4-BE49-F238E27FC236}">
                <a16:creationId xmlns:a16="http://schemas.microsoft.com/office/drawing/2014/main" id="{2E09D349-EFC1-4131-91F7-587A9D69119B}"/>
              </a:ext>
            </a:extLst>
          </p:cNvPr>
          <p:cNvGraphicFramePr/>
          <p:nvPr/>
        </p:nvGraphicFramePr>
        <p:xfrm>
          <a:off xmlns:a="http://schemas.openxmlformats.org/drawingml/2006/main" x="1809750" y="6762750"/>
          <a:ext xmlns:a="http://schemas.openxmlformats.org/drawingml/2006/main" cx="14097000" cy="2381250"/>
        </p:xfrm>
        <a:graphic xmlns:a="http://schemas.openxmlformats.org/drawingml/2006/main">
          <a:graphicData uri="http://schemas.openxmlformats.org/drawingml/2006/table">
            <a:tbl>
              <a:tblPr/>
              <a:tblGrid>
                <a:gridCol w="2952750"/>
                <a:gridCol w="3905250"/>
                <a:gridCol w="4191000"/>
                <a:gridCol w="3048000"/>
              </a:tblGrid>
              <a:tr h="476250">
                <a:tc>
                  <a:txBody>
                    <a:bodyPr/>
                    <a:lstStyle/>
                    <a:p>
                      <a:r>
                        <a:rPr sz="2175" b="1">
                          <a:solidFill>
                            <a:srgbClr val="FFFFFF"/>
                          </a:solidFill>
                          <a:latin typeface="Inter Bold"/>
                          <a:ea typeface="Inter Bold"/>
                          <a:cs typeface="Inter Bold"/>
                        </a:rPr>
                        <a:t>Format</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75" b="1">
                          <a:solidFill>
                            <a:srgbClr val="FFFFFF"/>
                          </a:solidFill>
                          <a:latin typeface="Inter Bold"/>
                          <a:ea typeface="Inter Bold"/>
                          <a:cs typeface="Inter Bold"/>
                        </a:rPr>
                        <a:t>Mean error</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75" b="1">
                          <a:solidFill>
                            <a:srgbClr val="FFFFFF"/>
                          </a:solidFill>
                          <a:latin typeface="Inter Bold"/>
                          <a:ea typeface="Inter Bold"/>
                          <a:cs typeface="Inter Bold"/>
                        </a:rPr>
                        <a:t>Maximum error</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75" b="1">
                          <a:solidFill>
                            <a:srgbClr val="FFFFFF"/>
                          </a:solidFill>
                          <a:latin typeface="Inter Bold"/>
                          <a:ea typeface="Inter Bold"/>
                          <a:cs typeface="Inter Bold"/>
                        </a:rPr>
                        <a:t>Weights (KiB)</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476250">
                <a:tc>
                  <a:txBody>
                    <a:bodyPr/>
                    <a:lstStyle/>
                    <a:p>
                      <a:r>
                        <a:rPr sz="2175" b="0">
                          <a:solidFill>
                            <a:srgbClr val="002B57"/>
                          </a:solidFill>
                          <a:latin typeface="Inter"/>
                          <a:ea typeface="Inter"/>
                          <a:cs typeface="Inter"/>
                        </a:rPr>
                        <a:t>INT4</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22.26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255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138</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175" b="1">
                          <a:solidFill>
                            <a:srgbClr val="002B57"/>
                          </a:solidFill>
                          <a:latin typeface="Inter Bold"/>
                          <a:ea typeface="Inter Bold"/>
                          <a:cs typeface="Inter Bold"/>
                        </a:rPr>
                        <a:t>INT8</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175" b="1">
                          <a:solidFill>
                            <a:srgbClr val="002B57"/>
                          </a:solidFill>
                          <a:latin typeface="Inter Bold"/>
                          <a:ea typeface="Inter Bold"/>
                          <a:cs typeface="Inter Bold"/>
                        </a:rPr>
                        <a:t>1.22</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75" b="1">
                          <a:solidFill>
                            <a:srgbClr val="002B57"/>
                          </a:solidFill>
                          <a:latin typeface="Inter Bold"/>
                          <a:ea typeface="Inter Bold"/>
                          <a:cs typeface="Inter Bold"/>
                        </a:rPr>
                        <a:t>72</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175" b="1">
                          <a:solidFill>
                            <a:srgbClr val="002B57"/>
                          </a:solidFill>
                          <a:latin typeface="Inter Bold"/>
                          <a:ea typeface="Inter Bold"/>
                          <a:cs typeface="Inter Bold"/>
                        </a:rPr>
                        <a:t>276</a:t>
                      </a:r>
                    </a:p>
                  </a:txBody>
                  <a:tcPr marL="91440" marR="91440" marT="45720" marB="45720">
                    <a:lnR w="9525">
                      <a:solidFill>
                        <a:srgbClr val="D4DEE3"/>
                      </a:solidFill>
                      <a:prstDash val="solid"/>
                    </a:lnR>
                    <a:lnB w="9525">
                      <a:solidFill>
                        <a:srgbClr val="D4DEE3"/>
                      </a:solidFill>
                      <a:prstDash val="solid"/>
                    </a:lnB>
                    <a:solidFill>
                      <a:srgbClr val="E9F2F5"/>
                    </a:solidFill>
                  </a:tcPr>
                </a:tc>
              </a:tr>
              <a:tr h="476250">
                <a:tc>
                  <a:txBody>
                    <a:bodyPr/>
                    <a:lstStyle/>
                    <a:p>
                      <a:r>
                        <a:rPr sz="2175" b="0">
                          <a:solidFill>
                            <a:srgbClr val="002B57"/>
                          </a:solidFill>
                          <a:latin typeface="Inter"/>
                          <a:ea typeface="Inter"/>
                          <a:cs typeface="Inter"/>
                        </a:rPr>
                        <a:t>INT16</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0.01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552</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175" b="0">
                          <a:solidFill>
                            <a:srgbClr val="002B57"/>
                          </a:solidFill>
                          <a:latin typeface="Inter"/>
                          <a:ea typeface="Inter"/>
                          <a:cs typeface="Inter"/>
                        </a:rPr>
                        <a:t>FP16</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0.06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75" b="0">
                          <a:solidFill>
                            <a:srgbClr val="002B57"/>
                          </a:solidFill>
                          <a:latin typeface="Inter"/>
                          <a:ea typeface="Inter"/>
                          <a:cs typeface="Inter"/>
                        </a:rPr>
                        <a:t>552</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769B0423-1A47-44FF-84D2-FF5B7E430E64}"/>
              </a:ext>
            </a:extLst>
          </p:cNvPr>
          <p:cNvSpPr>
            <a:spLocks xmlns:a="http://schemas.openxmlformats.org/drawingml/2006/main" noGrp="1"/>
          </p:cNvSpPr>
          <p:nvPr/>
        </p:nvSpPr>
        <p:spPr>
          <a:xfrm xmlns:a="http://schemas.openxmlformats.org/drawingml/2006/main">
            <a:off x="1809750" y="9382125"/>
            <a:ext cx="1428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950" b="0">
                <a:solidFill>
                  <a:srgbClr val="566675"/>
                </a:solidFill>
                <a:latin typeface="Inter"/>
                <a:ea typeface="Inter"/>
                <a:cs typeface="Inter"/>
              </a:defRPr>
            </a:defPPr>
            <a:lvl1pPr>
              <a:defRPr sz="1950" b="0">
                <a:solidFill>
                  <a:srgbClr val="566675"/>
                </a:solidFill>
                <a:latin typeface="Inter"/>
                <a:ea typeface="Inter"/>
                <a:cs typeface="Inter"/>
              </a:defRPr>
            </a:lvl1pPr>
            <a:lvl2pPr>
              <a:defRPr sz="1950" b="0">
                <a:solidFill>
                  <a:srgbClr val="566675"/>
                </a:solidFill>
                <a:latin typeface="Inter"/>
                <a:ea typeface="Inter"/>
                <a:cs typeface="Inter"/>
              </a:defRPr>
            </a:lvl2pPr>
            <a:lvl3pPr>
              <a:defRPr sz="1950" b="0">
                <a:solidFill>
                  <a:srgbClr val="566675"/>
                </a:solidFill>
                <a:latin typeface="Inter"/>
                <a:ea typeface="Inter"/>
                <a:cs typeface="Inter"/>
              </a:defRPr>
            </a:lvl3pPr>
            <a:lvl4pPr>
              <a:defRPr sz="1950" b="0">
                <a:solidFill>
                  <a:srgbClr val="566675"/>
                </a:solidFill>
                <a:latin typeface="Inter"/>
                <a:ea typeface="Inter"/>
                <a:cs typeface="Inter"/>
              </a:defRPr>
            </a:lvl4pPr>
            <a:lvl5pPr>
              <a:defRPr sz="1950" b="0">
                <a:solidFill>
                  <a:srgbClr val="566675"/>
                </a:solidFill>
                <a:latin typeface="Inter"/>
                <a:ea typeface="Inter"/>
                <a:cs typeface="Inter"/>
              </a:defRPr>
            </a:lvl5pPr>
            <a:lvl6pPr>
              <a:defRPr sz="1950" b="0">
                <a:solidFill>
                  <a:srgbClr val="566675"/>
                </a:solidFill>
                <a:latin typeface="Inter"/>
                <a:ea typeface="Inter"/>
                <a:cs typeface="Inter"/>
              </a:defRPr>
            </a:lvl6pPr>
            <a:lvl7pPr>
              <a:defRPr sz="1950" b="0">
                <a:solidFill>
                  <a:srgbClr val="566675"/>
                </a:solidFill>
                <a:latin typeface="Inter"/>
                <a:ea typeface="Inter"/>
                <a:cs typeface="Inter"/>
              </a:defRPr>
            </a:lvl7pPr>
            <a:lvl8pPr>
              <a:defRPr sz="1950" b="0">
                <a:solidFill>
                  <a:srgbClr val="566675"/>
                </a:solidFill>
                <a:latin typeface="Inter"/>
                <a:ea typeface="Inter"/>
                <a:cs typeface="Inter"/>
              </a:defRPr>
            </a:lvl8pPr>
            <a:lvl9pPr>
              <a:defRPr sz="1950" b="0">
                <a:solidFill>
                  <a:srgbClr val="566675"/>
                </a:solidFill>
                <a:latin typeface="Inter"/>
                <a:ea typeface="Inter"/>
                <a:cs typeface="Inter"/>
              </a:defRPr>
            </a:lvl9pPr>
          </a:lstStyle>
          <a:p xmlns:a="http://schemas.openxmlformats.org/drawingml/2006/main">
            <a:pPr>
              <a:defRPr sz="1950" b="0">
                <a:solidFill>
                  <a:srgbClr val="566675"/>
                </a:solidFill>
                <a:latin typeface="Inter"/>
                <a:ea typeface="Inter"/>
                <a:cs typeface="Inter"/>
              </a:defRPr>
            </a:pPr>
            <a:r>
              <a:rPr sz="1950" b="0">
                <a:solidFill>
                  <a:srgbClr val="566675"/>
                </a:solidFill>
                <a:latin typeface="Inter"/>
                <a:ea typeface="Inter"/>
                <a:cs typeface="Inter"/>
              </a:rPr>
              <a:t>10 latents and 7,840 pixels. Pixel agreement does not establish perceptual quality.</a:t>
            </a:r>
          </a:p>
        </p:txBody>
      </p:sp>
      <p:sp>
        <p:nvSpPr>
          <p:cNvPr id="10" name="">
            <a:extLst xmlns:a="http://schemas.openxmlformats.org/drawingml/2006/main">
              <a:ext uri="{FF2B5EF4-FFF2-40B4-BE49-F238E27FC236}">
                <a16:creationId xmlns:a16="http://schemas.microsoft.com/office/drawing/2014/main" id="{BB0DBCFB-9758-4C47-B3F4-3FE3B54D5617}"/>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A4</a:t>
            </a:r>
          </a:p>
        </p:txBody>
      </p:sp>
    </p:spTree>
    <p:extLst>
      <p:ext uri="{BB962C8B-B14F-4D97-AF65-F5344CB8AC3E}">
        <p14:creationId xmlns:p14="http://schemas.microsoft.com/office/powerpoint/2010/main" val="368713770"/>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FD32EE4-48CE-46CC-A010-51539C73D930}"/>
              </a:ext>
            </a:extLst>
          </p:cNvPr>
          <p:cNvPicPr>
            <a:picLocks xmlns:a="http://schemas.openxmlformats.org/drawingml/2006/main" noChangeAspect="1"/>
          </p:cNvPicPr>
          <p:nvPr/>
        </p:nvPicPr>
        <p:blipFill>
          <a:blip xmlns:r="http://schemas.openxmlformats.org/officeDocument/2006/relationships" xmlns:a="http://schemas.openxmlformats.org/drawingml/2006/main" r:embed="R107d0b2aa31244e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C2084A4-7C60-43D7-BB58-4863020F91A9}"/>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A5</a:t>
            </a:r>
          </a:p>
        </p:txBody>
      </p:sp>
      <p:sp>
        <p:nvSpPr>
          <p:cNvPr id="3" name="">
            <a:extLst xmlns:a="http://schemas.openxmlformats.org/drawingml/2006/main">
              <a:ext uri="{FF2B5EF4-FFF2-40B4-BE49-F238E27FC236}">
                <a16:creationId xmlns:a16="http://schemas.microsoft.com/office/drawing/2014/main" id="{08517412-B7BB-4B1F-8A8C-0BCF756D6501}"/>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DF63D6CC-7D9E-4BF6-8127-B158DB6ED5A6}"/>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Why can C shrink while A and B cannot?</a:t>
            </a:r>
          </a:p>
        </p:txBody>
      </p:sp>
      <p:graphicFrame>
        <p:nvGraphicFramePr>
          <p:cNvPr id="5" name="">
            <a:extLst xmlns:a="http://schemas.openxmlformats.org/drawingml/2006/main">
              <a:ext uri="{FF2B5EF4-FFF2-40B4-BE49-F238E27FC236}">
                <a16:creationId xmlns:a16="http://schemas.microsoft.com/office/drawing/2014/main" id="{614AC18C-11C2-4509-86BE-AB430167FA9C}"/>
              </a:ext>
            </a:extLst>
          </p:cNvPr>
          <p:cNvGraphicFramePr/>
          <p:nvPr/>
        </p:nvGraphicFramePr>
        <p:xfrm>
          <a:off xmlns:a="http://schemas.openxmlformats.org/drawingml/2006/main" x="1809750" y="3952875"/>
          <a:ext xmlns:a="http://schemas.openxmlformats.org/drawingml/2006/main" cx="14097000" cy="2667000"/>
        </p:xfrm>
        <a:graphic xmlns:a="http://schemas.openxmlformats.org/drawingml/2006/main">
          <a:graphicData uri="http://schemas.openxmlformats.org/drawingml/2006/table">
            <a:tbl>
              <a:tblPr/>
              <a:tblGrid>
                <a:gridCol w="2857500"/>
                <a:gridCol w="6572250"/>
                <a:gridCol w="4667250"/>
              </a:tblGrid>
              <a:tr h="666750">
                <a:tc>
                  <a:txBody>
                    <a:bodyPr/>
                    <a:lstStyle/>
                    <a:p>
                      <a:r>
                        <a:rPr sz="2325" b="1">
                          <a:solidFill>
                            <a:srgbClr val="FFFFFF"/>
                          </a:solidFill>
                          <a:latin typeface="Inter Bold"/>
                          <a:ea typeface="Inter Bold"/>
                          <a:cs typeface="Inter Bold"/>
                        </a:rPr>
                        <a:t>Buffer</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Requirement</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Consequence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66750">
                <a:tc>
                  <a:txBody>
                    <a:bodyPr/>
                    <a:lstStyle/>
                    <a:p>
                      <a:r>
                        <a:rPr sz="2325" b="0">
                          <a:solidFill>
                            <a:srgbClr val="002B57"/>
                          </a:solidFill>
                          <a:latin typeface="Inter"/>
                          <a:ea typeface="Inter"/>
                          <a:cs typeface="Inter"/>
                        </a:rPr>
                        <a:t>A operands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Four 8-bit lanes every compute cycle</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Four single-port SRAMs</a:t>
                      </a:r>
                    </a:p>
                  </a:txBody>
                  <a:tcPr marL="91440" marR="91440" marT="45720" marB="45720">
                    <a:lnR w="9525">
                      <a:solidFill>
                        <a:srgbClr val="D4DEE3"/>
                      </a:solidFill>
                      <a:prstDash val="solid"/>
                    </a:lnR>
                    <a:lnB w="9525">
                      <a:solidFill>
                        <a:srgbClr val="D4DEE3"/>
                      </a:solidFill>
                      <a:prstDash val="solid"/>
                    </a:lnB>
                    <a:solidFill>
                      <a:srgbClr val="FFFFFF"/>
                    </a:solidFill>
                  </a:tcPr>
                </a:tc>
              </a:tr>
              <a:tr h="666750">
                <a:tc>
                  <a:txBody>
                    <a:bodyPr/>
                    <a:lstStyle/>
                    <a:p>
                      <a:r>
                        <a:rPr sz="2325" b="0">
                          <a:solidFill>
                            <a:srgbClr val="002B57"/>
                          </a:solidFill>
                          <a:latin typeface="Inter"/>
                          <a:ea typeface="Inter"/>
                          <a:cs typeface="Inter"/>
                        </a:rPr>
                        <a:t>B operands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Four 8-bit lanes every compute cycle</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Four single-port SRAMs</a:t>
                      </a:r>
                    </a:p>
                  </a:txBody>
                  <a:tcPr marL="91440" marR="91440" marT="45720" marB="45720">
                    <a:lnR w="9525">
                      <a:solidFill>
                        <a:srgbClr val="D4DEE3"/>
                      </a:solidFill>
                      <a:prstDash val="solid"/>
                    </a:lnR>
                    <a:lnB w="9525">
                      <a:solidFill>
                        <a:srgbClr val="D4DEE3"/>
                      </a:solidFill>
                      <a:prstDash val="solid"/>
                    </a:lnB>
                    <a:solidFill>
                      <a:srgbClr val="FFFFFF"/>
                    </a:solidFill>
                  </a:tcPr>
                </a:tc>
              </a:tr>
              <a:tr h="666750">
                <a:tc>
                  <a:txBody>
                    <a:bodyPr/>
                    <a:lstStyle/>
                    <a:p>
                      <a:r>
                        <a:rPr sz="2325" b="0">
                          <a:solidFill>
                            <a:srgbClr val="002B57"/>
                          </a:solidFill>
                          <a:latin typeface="Inter"/>
                          <a:ea typeface="Inter"/>
                          <a:cs typeface="Inter"/>
                        </a:rPr>
                        <a:t>C results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16 values of 24 bits per tile</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48 bytes, accessed sequentially</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4FD83D5-9678-42EA-AF7E-60008CF1667C}"/>
              </a:ext>
            </a:extLst>
          </p:cNvPr>
          <p:cNvSpPr>
            <a:spLocks xmlns:a="http://schemas.openxmlformats.org/drawingml/2006/main" noGrp="1"/>
          </p:cNvSpPr>
          <p:nvPr/>
        </p:nvSpPr>
        <p:spPr>
          <a:xfrm xmlns:a="http://schemas.openxmlformats.org/drawingml/2006/main">
            <a:off x="1809750" y="71913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525" b="1">
                <a:solidFill>
                  <a:srgbClr val="0E749A"/>
                </a:solidFill>
                <a:latin typeface="Inter Bold"/>
                <a:ea typeface="Inter Bold"/>
                <a:cs typeface="Inter Bold"/>
              </a:defRPr>
            </a:defPPr>
            <a:lvl1pPr>
              <a:defRPr sz="3525" b="1">
                <a:solidFill>
                  <a:srgbClr val="0E749A"/>
                </a:solidFill>
                <a:latin typeface="Inter Bold"/>
                <a:ea typeface="Inter Bold"/>
                <a:cs typeface="Inter Bold"/>
              </a:defRPr>
            </a:lvl1pPr>
            <a:lvl2pPr>
              <a:defRPr sz="3525" b="1">
                <a:solidFill>
                  <a:srgbClr val="0E749A"/>
                </a:solidFill>
                <a:latin typeface="Inter Bold"/>
                <a:ea typeface="Inter Bold"/>
                <a:cs typeface="Inter Bold"/>
              </a:defRPr>
            </a:lvl2pPr>
            <a:lvl3pPr>
              <a:defRPr sz="3525" b="1">
                <a:solidFill>
                  <a:srgbClr val="0E749A"/>
                </a:solidFill>
                <a:latin typeface="Inter Bold"/>
                <a:ea typeface="Inter Bold"/>
                <a:cs typeface="Inter Bold"/>
              </a:defRPr>
            </a:lvl3pPr>
            <a:lvl4pPr>
              <a:defRPr sz="3525" b="1">
                <a:solidFill>
                  <a:srgbClr val="0E749A"/>
                </a:solidFill>
                <a:latin typeface="Inter Bold"/>
                <a:ea typeface="Inter Bold"/>
                <a:cs typeface="Inter Bold"/>
              </a:defRPr>
            </a:lvl4pPr>
            <a:lvl5pPr>
              <a:defRPr sz="3525" b="1">
                <a:solidFill>
                  <a:srgbClr val="0E749A"/>
                </a:solidFill>
                <a:latin typeface="Inter Bold"/>
                <a:ea typeface="Inter Bold"/>
                <a:cs typeface="Inter Bold"/>
              </a:defRPr>
            </a:lvl5pPr>
            <a:lvl6pPr>
              <a:defRPr sz="3525" b="1">
                <a:solidFill>
                  <a:srgbClr val="0E749A"/>
                </a:solidFill>
                <a:latin typeface="Inter Bold"/>
                <a:ea typeface="Inter Bold"/>
                <a:cs typeface="Inter Bold"/>
              </a:defRPr>
            </a:lvl6pPr>
            <a:lvl7pPr>
              <a:defRPr sz="3525" b="1">
                <a:solidFill>
                  <a:srgbClr val="0E749A"/>
                </a:solidFill>
                <a:latin typeface="Inter Bold"/>
                <a:ea typeface="Inter Bold"/>
                <a:cs typeface="Inter Bold"/>
              </a:defRPr>
            </a:lvl7pPr>
            <a:lvl8pPr>
              <a:defRPr sz="3525" b="1">
                <a:solidFill>
                  <a:srgbClr val="0E749A"/>
                </a:solidFill>
                <a:latin typeface="Inter Bold"/>
                <a:ea typeface="Inter Bold"/>
                <a:cs typeface="Inter Bold"/>
              </a:defRPr>
            </a:lvl8pPr>
            <a:lvl9pPr>
              <a:defRPr sz="3525" b="1">
                <a:solidFill>
                  <a:srgbClr val="0E749A"/>
                </a:solidFill>
                <a:latin typeface="Inter Bold"/>
                <a:ea typeface="Inter Bold"/>
                <a:cs typeface="Inter Bold"/>
              </a:defRPr>
            </a:lvl9pPr>
          </a:lstStyle>
          <a:p xmlns:a="http://schemas.openxmlformats.org/drawingml/2006/main">
            <a:pPr>
              <a:defRPr sz="3525" b="1">
                <a:solidFill>
                  <a:srgbClr val="0E749A"/>
                </a:solidFill>
                <a:latin typeface="Inter Bold"/>
                <a:ea typeface="Inter Bold"/>
                <a:cs typeface="Inter Bold"/>
              </a:defRPr>
            </a:pPr>
            <a:r>
              <a:rPr sz="3525" b="1">
                <a:solidFill>
                  <a:srgbClr val="0E749A"/>
                </a:solidFill>
                <a:latin typeface="Inter Bold"/>
                <a:ea typeface="Inter Bold"/>
                <a:cs typeface="Inter Bold"/>
              </a:rPr>
              <a:t>C address = 3 × word + plane</a:t>
            </a:r>
          </a:p>
        </p:txBody>
      </p:sp>
      <p:sp>
        <p:nvSpPr>
          <p:cNvPr id="7" name="">
            <a:extLst xmlns:a="http://schemas.openxmlformats.org/drawingml/2006/main">
              <a:ext uri="{FF2B5EF4-FFF2-40B4-BE49-F238E27FC236}">
                <a16:creationId xmlns:a16="http://schemas.microsoft.com/office/drawing/2014/main" id="{DC5CE257-B4DE-4777-8586-BFC4DEF8A6C8}"/>
              </a:ext>
            </a:extLst>
          </p:cNvPr>
          <p:cNvSpPr>
            <a:spLocks xmlns:a="http://schemas.openxmlformats.org/drawingml/2006/main" noGrp="1"/>
          </p:cNvSpPr>
          <p:nvPr/>
        </p:nvSpPr>
        <p:spPr>
          <a:xfrm xmlns:a="http://schemas.openxmlformats.org/drawingml/2006/main">
            <a:off x="1809750" y="8048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550" b="0">
                <a:solidFill>
                  <a:srgbClr val="002B57"/>
                </a:solidFill>
                <a:latin typeface="Inter"/>
                <a:ea typeface="Inter"/>
                <a:cs typeface="Inter"/>
              </a:defRPr>
            </a:defPPr>
            <a:lvl1pPr>
              <a:defRPr sz="2550" b="0">
                <a:solidFill>
                  <a:srgbClr val="002B57"/>
                </a:solidFill>
                <a:latin typeface="Inter"/>
                <a:ea typeface="Inter"/>
                <a:cs typeface="Inter"/>
              </a:defRPr>
            </a:lvl1pPr>
            <a:lvl2pPr>
              <a:defRPr sz="2550" b="0">
                <a:solidFill>
                  <a:srgbClr val="002B57"/>
                </a:solidFill>
                <a:latin typeface="Inter"/>
                <a:ea typeface="Inter"/>
                <a:cs typeface="Inter"/>
              </a:defRPr>
            </a:lvl2pPr>
            <a:lvl3pPr>
              <a:defRPr sz="2550" b="0">
                <a:solidFill>
                  <a:srgbClr val="002B57"/>
                </a:solidFill>
                <a:latin typeface="Inter"/>
                <a:ea typeface="Inter"/>
                <a:cs typeface="Inter"/>
              </a:defRPr>
            </a:lvl3pPr>
            <a:lvl4pPr>
              <a:defRPr sz="2550" b="0">
                <a:solidFill>
                  <a:srgbClr val="002B57"/>
                </a:solidFill>
                <a:latin typeface="Inter"/>
                <a:ea typeface="Inter"/>
                <a:cs typeface="Inter"/>
              </a:defRPr>
            </a:lvl4pPr>
            <a:lvl5pPr>
              <a:defRPr sz="2550" b="0">
                <a:solidFill>
                  <a:srgbClr val="002B57"/>
                </a:solidFill>
                <a:latin typeface="Inter"/>
                <a:ea typeface="Inter"/>
                <a:cs typeface="Inter"/>
              </a:defRPr>
            </a:lvl5pPr>
            <a:lvl6pPr>
              <a:defRPr sz="2550" b="0">
                <a:solidFill>
                  <a:srgbClr val="002B57"/>
                </a:solidFill>
                <a:latin typeface="Inter"/>
                <a:ea typeface="Inter"/>
                <a:cs typeface="Inter"/>
              </a:defRPr>
            </a:lvl6pPr>
            <a:lvl7pPr>
              <a:defRPr sz="2550" b="0">
                <a:solidFill>
                  <a:srgbClr val="002B57"/>
                </a:solidFill>
                <a:latin typeface="Inter"/>
                <a:ea typeface="Inter"/>
                <a:cs typeface="Inter"/>
              </a:defRPr>
            </a:lvl7pPr>
            <a:lvl8pPr>
              <a:defRPr sz="2550" b="0">
                <a:solidFill>
                  <a:srgbClr val="002B57"/>
                </a:solidFill>
                <a:latin typeface="Inter"/>
                <a:ea typeface="Inter"/>
                <a:cs typeface="Inter"/>
              </a:defRPr>
            </a:lvl8pPr>
            <a:lvl9pPr>
              <a:defRPr sz="2550" b="0">
                <a:solidFill>
                  <a:srgbClr val="002B57"/>
                </a:solidFill>
                <a:latin typeface="Inter"/>
                <a:ea typeface="Inter"/>
                <a:cs typeface="Inter"/>
              </a:defRPr>
            </a:lvl9pPr>
          </a:lstStyle>
          <a:p xmlns:a="http://schemas.openxmlformats.org/drawingml/2006/main">
            <a:pPr>
              <a:defRPr sz="2550" b="0">
                <a:solidFill>
                  <a:srgbClr val="002B57"/>
                </a:solidFill>
                <a:latin typeface="Inter"/>
                <a:ea typeface="Inter"/>
                <a:cs typeface="Inter"/>
              </a:defRPr>
            </a:pPr>
            <a:r>
              <a:rPr sz="2550" b="0">
                <a:solidFill>
                  <a:srgbClr val="002B57"/>
                </a:solidFill>
                <a:latin typeface="Inter"/>
                <a:ea typeface="Inter"/>
                <a:cs typeface="Inter"/>
              </a:rPr>
              <a:t>word: 0 to 15       plane: 0 to 2       used addresses: 0 to 47</a:t>
            </a:r>
          </a:p>
        </p:txBody>
      </p:sp>
      <p:sp>
        <p:nvSpPr>
          <p:cNvPr id="8" name="">
            <a:extLst xmlns:a="http://schemas.openxmlformats.org/drawingml/2006/main">
              <a:ext uri="{FF2B5EF4-FFF2-40B4-BE49-F238E27FC236}">
                <a16:creationId xmlns:a16="http://schemas.microsoft.com/office/drawing/2014/main" id="{B7D3E297-84B7-4970-A453-F637C17ECF04}"/>
              </a:ext>
            </a:extLst>
          </p:cNvPr>
          <p:cNvSpPr>
            <a:spLocks xmlns:a="http://schemas.openxmlformats.org/drawingml/2006/main" noGrp="1"/>
          </p:cNvSpPr>
          <p:nvPr/>
        </p:nvSpPr>
        <p:spPr>
          <a:xfrm xmlns:a="http://schemas.openxmlformats.org/drawingml/2006/main">
            <a:off x="1809750" y="9048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64 × 8 is the shallowest available macro in this SRAM family.</a:t>
            </a:r>
          </a:p>
        </p:txBody>
      </p:sp>
      <p:sp>
        <p:nvSpPr>
          <p:cNvPr id="9" name="">
            <a:extLst xmlns:a="http://schemas.openxmlformats.org/drawingml/2006/main">
              <a:ext uri="{FF2B5EF4-FFF2-40B4-BE49-F238E27FC236}">
                <a16:creationId xmlns:a16="http://schemas.microsoft.com/office/drawing/2014/main" id="{25E2AE2D-F369-44A9-B985-D322C3FFF67C}"/>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A5</a:t>
            </a:r>
          </a:p>
        </p:txBody>
      </p:sp>
    </p:spTree>
    <p:extLst>
      <p:ext uri="{BB962C8B-B14F-4D97-AF65-F5344CB8AC3E}">
        <p14:creationId xmlns:p14="http://schemas.microsoft.com/office/powerpoint/2010/main" val="119146019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F8B56F0-F80F-422C-BCA2-21C218CF8FD6}"/>
              </a:ext>
            </a:extLst>
          </p:cNvPr>
          <p:cNvPicPr>
            <a:picLocks xmlns:a="http://schemas.openxmlformats.org/drawingml/2006/main" noChangeAspect="1"/>
          </p:cNvPicPr>
          <p:nvPr/>
        </p:nvPicPr>
        <p:blipFill>
          <a:blip xmlns:r="http://schemas.openxmlformats.org/officeDocument/2006/relationships" xmlns:a="http://schemas.openxmlformats.org/drawingml/2006/main" r:embed="R312aa60a90a5475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DEDAA8-9608-40B9-B976-14D81087431E}"/>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A6</a:t>
            </a:r>
          </a:p>
        </p:txBody>
      </p:sp>
      <p:sp>
        <p:nvSpPr>
          <p:cNvPr id="3" name="">
            <a:extLst xmlns:a="http://schemas.openxmlformats.org/drawingml/2006/main">
              <a:ext uri="{FF2B5EF4-FFF2-40B4-BE49-F238E27FC236}">
                <a16:creationId xmlns:a16="http://schemas.microsoft.com/office/drawing/2014/main" id="{268B9204-6583-4E92-9513-CC148342B0B3}"/>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F2F7040C-C681-4F2A-AD7A-EC72A971CB6D}"/>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Latency breakdown and compute utilization</a:t>
            </a:r>
          </a:p>
        </p:txBody>
      </p:sp>
      <p:graphicFrame>
        <p:nvGraphicFramePr>
          <p:cNvPr id="5" name="">
            <a:extLst xmlns:a="http://schemas.openxmlformats.org/drawingml/2006/main">
              <a:ext uri="{FF2B5EF4-FFF2-40B4-BE49-F238E27FC236}">
                <a16:creationId xmlns:a16="http://schemas.microsoft.com/office/drawing/2014/main" id="{9B72C068-C1F9-4C4B-BF1E-4DC85B6B470C}"/>
              </a:ext>
            </a:extLst>
          </p:cNvPr>
          <p:cNvGraphicFramePr/>
          <p:nvPr/>
        </p:nvGraphicFramePr>
        <p:xfrm>
          <a:off xmlns:a="http://schemas.openxmlformats.org/drawingml/2006/main" x="1809750" y="3905250"/>
          <a:ext xmlns:a="http://schemas.openxmlformats.org/drawingml/2006/main" cx="14097000" cy="3619500"/>
        </p:xfrm>
        <a:graphic xmlns:a="http://schemas.openxmlformats.org/drawingml/2006/main">
          <a:graphicData uri="http://schemas.openxmlformats.org/drawingml/2006/table">
            <a:tbl>
              <a:tblPr/>
              <a:tblGrid>
                <a:gridCol w="7620000"/>
                <a:gridCol w="3238500"/>
                <a:gridCol w="3238500"/>
              </a:tblGrid>
              <a:tr h="603250">
                <a:tc>
                  <a:txBody>
                    <a:bodyPr/>
                    <a:lstStyle/>
                    <a:p>
                      <a:r>
                        <a:rPr sz="2325" b="1">
                          <a:solidFill>
                            <a:srgbClr val="FFFFFF"/>
                          </a:solidFill>
                          <a:latin typeface="Inter Bold"/>
                          <a:ea typeface="Inter Bold"/>
                          <a:cs typeface="Inter Bold"/>
                        </a:rPr>
                        <a:t>Stage</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Time (ms)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325" b="1">
                          <a:solidFill>
                            <a:srgbClr val="FFFFFF"/>
                          </a:solidFill>
                          <a:latin typeface="Inter Bold"/>
                          <a:ea typeface="Inter Bold"/>
                          <a:cs typeface="Inter Bold"/>
                        </a:rPr>
                        <a:t>Share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03250">
                <a:tc>
                  <a:txBody>
                    <a:bodyPr/>
                    <a:lstStyle/>
                    <a:p>
                      <a:r>
                        <a:rPr sz="2325" b="1">
                          <a:solidFill>
                            <a:srgbClr val="002B57"/>
                          </a:solidFill>
                          <a:latin typeface="Inter Bold"/>
                          <a:ea typeface="Inter Bold"/>
                          <a:cs typeface="Inter Bold"/>
                        </a:rPr>
                        <a:t>Weight loading</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2,123.4</a:t>
                      </a:r>
                    </a:p>
                  </a:txBody>
                  <a:tcPr marL="91440" marR="91440" marT="45720" marB="45720">
                    <a:lnR w="9525">
                      <a:solidFill>
                        <a:srgbClr val="D4DEE3"/>
                      </a:solidFill>
                      <a:prstDash val="solid"/>
                    </a:lnR>
                    <a:lnB w="9525">
                      <a:solidFill>
                        <a:srgbClr val="D4DEE3"/>
                      </a:solidFill>
                      <a:prstDash val="solid"/>
                    </a:lnB>
                    <a:solidFill>
                      <a:srgbClr val="E9F2F5"/>
                    </a:solidFill>
                  </a:tcPr>
                </a:tc>
                <a:tc>
                  <a:txBody>
                    <a:bodyPr/>
                    <a:lstStyle/>
                    <a:p>
                      <a:r>
                        <a:rPr sz="2325" b="1">
                          <a:solidFill>
                            <a:srgbClr val="002B57"/>
                          </a:solidFill>
                          <a:latin typeface="Inter Bold"/>
                          <a:ea typeface="Inter Bold"/>
                          <a:cs typeface="Inter Bold"/>
                        </a:rPr>
                        <a:t>98.85%</a:t>
                      </a:r>
                    </a:p>
                  </a:txBody>
                  <a:tcPr marL="91440" marR="91440" marT="45720" marB="45720">
                    <a:lnR w="9525">
                      <a:solidFill>
                        <a:srgbClr val="D4DEE3"/>
                      </a:solidFill>
                      <a:prstDash val="solid"/>
                    </a:lnR>
                    <a:lnB w="9525">
                      <a:solidFill>
                        <a:srgbClr val="D4DEE3"/>
                      </a:solidFill>
                      <a:prstDash val="solid"/>
                    </a:lnB>
                    <a:solidFill>
                      <a:srgbClr val="E9F2F5"/>
                    </a:solidFill>
                  </a:tcPr>
                </a:tc>
              </a:tr>
              <a:tr h="603250">
                <a:tc>
                  <a:txBody>
                    <a:bodyPr/>
                    <a:lstStyle/>
                    <a:p>
                      <a:r>
                        <a:rPr sz="2325" b="0">
                          <a:solidFill>
                            <a:srgbClr val="002B57"/>
                          </a:solidFill>
                          <a:latin typeface="Inter"/>
                          <a:ea typeface="Inter"/>
                          <a:cs typeface="Inter"/>
                        </a:rPr>
                        <a:t>Input loading</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4.9</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0.23%</a:t>
                      </a:r>
                    </a:p>
                  </a:txBody>
                  <a:tcPr marL="91440" marR="91440" marT="45720" marB="45720">
                    <a:lnR w="9525">
                      <a:solidFill>
                        <a:srgbClr val="D4DEE3"/>
                      </a:solidFill>
                      <a:prstDash val="solid"/>
                    </a:lnR>
                    <a:lnB w="9525">
                      <a:solidFill>
                        <a:srgbClr val="D4DEE3"/>
                      </a:solidFill>
                      <a:prstDash val="solid"/>
                    </a:lnB>
                    <a:solidFill>
                      <a:srgbClr val="FFFFFF"/>
                    </a:solidFill>
                  </a:tcPr>
                </a:tc>
              </a:tr>
              <a:tr h="603250">
                <a:tc>
                  <a:txBody>
                    <a:bodyPr/>
                    <a:lstStyle/>
                    <a:p>
                      <a:r>
                        <a:rPr sz="2325" b="0">
                          <a:solidFill>
                            <a:srgbClr val="002B57"/>
                          </a:solidFill>
                          <a:latin typeface="Inter"/>
                          <a:ea typeface="Inter"/>
                          <a:cs typeface="Inter"/>
                        </a:rPr>
                        <a:t>START commands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0.06%</a:t>
                      </a:r>
                    </a:p>
                  </a:txBody>
                  <a:tcPr marL="91440" marR="91440" marT="45720" marB="45720">
                    <a:lnR w="9525">
                      <a:solidFill>
                        <a:srgbClr val="D4DEE3"/>
                      </a:solidFill>
                      <a:prstDash val="solid"/>
                    </a:lnR>
                    <a:lnB w="9525">
                      <a:solidFill>
                        <a:srgbClr val="D4DEE3"/>
                      </a:solidFill>
                      <a:prstDash val="solid"/>
                    </a:lnB>
                    <a:solidFill>
                      <a:srgbClr val="FFFFFF"/>
                    </a:solidFill>
                  </a:tcPr>
                </a:tc>
              </a:tr>
              <a:tr h="603250">
                <a:tc>
                  <a:txBody>
                    <a:bodyPr/>
                    <a:lstStyle/>
                    <a:p>
                      <a:r>
                        <a:rPr sz="2325" b="0">
                          <a:solidFill>
                            <a:srgbClr val="002B57"/>
                          </a:solidFill>
                          <a:latin typeface="Inter"/>
                          <a:ea typeface="Inter"/>
                          <a:cs typeface="Inter"/>
                        </a:rPr>
                        <a:t>Compute + writeback</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4.0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0.18%</a:t>
                      </a:r>
                    </a:p>
                  </a:txBody>
                  <a:tcPr marL="91440" marR="91440" marT="45720" marB="45720">
                    <a:lnR w="9525">
                      <a:solidFill>
                        <a:srgbClr val="D4DEE3"/>
                      </a:solidFill>
                      <a:prstDash val="solid"/>
                    </a:lnR>
                    <a:lnB w="9525">
                      <a:solidFill>
                        <a:srgbClr val="D4DEE3"/>
                      </a:solidFill>
                      <a:prstDash val="solid"/>
                    </a:lnB>
                    <a:solidFill>
                      <a:srgbClr val="FFFFFF"/>
                    </a:solidFill>
                  </a:tcPr>
                </a:tc>
              </a:tr>
              <a:tr h="603250">
                <a:tc>
                  <a:txBody>
                    <a:bodyPr/>
                    <a:lstStyle/>
                    <a:p>
                      <a:r>
                        <a:rPr sz="2325" b="0">
                          <a:solidFill>
                            <a:srgbClr val="002B57"/>
                          </a:solidFill>
                          <a:latin typeface="Inter"/>
                          <a:ea typeface="Inter"/>
                          <a:cs typeface="Inter"/>
                        </a:rPr>
                        <a:t>Result readback</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15.3</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325" b="0">
                          <a:solidFill>
                            <a:srgbClr val="002B57"/>
                          </a:solidFill>
                          <a:latin typeface="Inter"/>
                          <a:ea typeface="Inter"/>
                          <a:cs typeface="Inter"/>
                        </a:rPr>
                        <a:t>0.71%</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79FAD72-1511-4D50-A429-68CF25D47AE5}"/>
              </a:ext>
            </a:extLst>
          </p:cNvPr>
          <p:cNvSpPr>
            <a:spLocks xmlns:a="http://schemas.openxmlformats.org/drawingml/2006/main" noGrp="1"/>
          </p:cNvSpPr>
          <p:nvPr/>
        </p:nvSpPr>
        <p:spPr>
          <a:xfrm xmlns:a="http://schemas.openxmlformats.org/drawingml/2006/main">
            <a:off x="1809750" y="795337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0E749A"/>
                </a:solidFill>
                <a:latin typeface="Inter Bold"/>
                <a:ea typeface="Inter Bold"/>
                <a:cs typeface="Inter Bold"/>
              </a:defRPr>
            </a:defPPr>
            <a:lvl1pPr>
              <a:defRPr sz="2850" b="1">
                <a:solidFill>
                  <a:srgbClr val="0E749A"/>
                </a:solidFill>
                <a:latin typeface="Inter Bold"/>
                <a:ea typeface="Inter Bold"/>
                <a:cs typeface="Inter Bold"/>
              </a:defRPr>
            </a:lvl1pPr>
            <a:lvl2pPr>
              <a:defRPr sz="2850" b="1">
                <a:solidFill>
                  <a:srgbClr val="0E749A"/>
                </a:solidFill>
                <a:latin typeface="Inter Bold"/>
                <a:ea typeface="Inter Bold"/>
                <a:cs typeface="Inter Bold"/>
              </a:defRPr>
            </a:lvl2pPr>
            <a:lvl3pPr>
              <a:defRPr sz="2850" b="1">
                <a:solidFill>
                  <a:srgbClr val="0E749A"/>
                </a:solidFill>
                <a:latin typeface="Inter Bold"/>
                <a:ea typeface="Inter Bold"/>
                <a:cs typeface="Inter Bold"/>
              </a:defRPr>
            </a:lvl3pPr>
            <a:lvl4pPr>
              <a:defRPr sz="2850" b="1">
                <a:solidFill>
                  <a:srgbClr val="0E749A"/>
                </a:solidFill>
                <a:latin typeface="Inter Bold"/>
                <a:ea typeface="Inter Bold"/>
                <a:cs typeface="Inter Bold"/>
              </a:defRPr>
            </a:lvl4pPr>
            <a:lvl5pPr>
              <a:defRPr sz="2850" b="1">
                <a:solidFill>
                  <a:srgbClr val="0E749A"/>
                </a:solidFill>
                <a:latin typeface="Inter Bold"/>
                <a:ea typeface="Inter Bold"/>
                <a:cs typeface="Inter Bold"/>
              </a:defRPr>
            </a:lvl5pPr>
            <a:lvl6pPr>
              <a:defRPr sz="2850" b="1">
                <a:solidFill>
                  <a:srgbClr val="0E749A"/>
                </a:solidFill>
                <a:latin typeface="Inter Bold"/>
                <a:ea typeface="Inter Bold"/>
                <a:cs typeface="Inter Bold"/>
              </a:defRPr>
            </a:lvl6pPr>
            <a:lvl7pPr>
              <a:defRPr sz="2850" b="1">
                <a:solidFill>
                  <a:srgbClr val="0E749A"/>
                </a:solidFill>
                <a:latin typeface="Inter Bold"/>
                <a:ea typeface="Inter Bold"/>
                <a:cs typeface="Inter Bold"/>
              </a:defRPr>
            </a:lvl7pPr>
            <a:lvl8pPr>
              <a:defRPr sz="2850" b="1">
                <a:solidFill>
                  <a:srgbClr val="0E749A"/>
                </a:solidFill>
                <a:latin typeface="Inter Bold"/>
                <a:ea typeface="Inter Bold"/>
                <a:cs typeface="Inter Bold"/>
              </a:defRPr>
            </a:lvl8pPr>
            <a:lvl9pPr>
              <a:defRPr sz="2850" b="1">
                <a:solidFill>
                  <a:srgbClr val="0E749A"/>
                </a:solidFill>
                <a:latin typeface="Inter Bold"/>
                <a:ea typeface="Inter Bold"/>
                <a:cs typeface="Inter Bold"/>
              </a:defRPr>
            </a:lvl9pPr>
          </a:lstStyle>
          <a:p xmlns:a="http://schemas.openxmlformats.org/drawingml/2006/main">
            <a:pPr>
              <a:defRPr sz="2850" b="1">
                <a:solidFill>
                  <a:srgbClr val="0E749A"/>
                </a:solidFill>
                <a:latin typeface="Inter Bold"/>
                <a:ea typeface="Inter Bold"/>
                <a:cs typeface="Inter Bold"/>
              </a:defRPr>
            </a:pPr>
            <a:r>
              <a:rPr sz="2850" b="1">
                <a:solidFill>
                  <a:srgbClr val="0E749A"/>
                </a:solidFill>
                <a:latin typeface="Inter Bold"/>
                <a:ea typeface="Inter Bold"/>
                <a:cs typeface="Inter Bold"/>
              </a:rPr>
              <a:t>305 cycles/tile × 324 tiles = 98,820 cycles = 3.95 ms</a:t>
            </a:r>
          </a:p>
        </p:txBody>
      </p:sp>
      <p:sp>
        <p:nvSpPr>
          <p:cNvPr id="7" name="">
            <a:extLst xmlns:a="http://schemas.openxmlformats.org/drawingml/2006/main">
              <a:ext uri="{FF2B5EF4-FFF2-40B4-BE49-F238E27FC236}">
                <a16:creationId xmlns:a16="http://schemas.microsoft.com/office/drawing/2014/main" id="{E753DA91-45A3-4BD7-B021-2BDDBADAE0C1}"/>
              </a:ext>
            </a:extLst>
          </p:cNvPr>
          <p:cNvSpPr>
            <a:spLocks xmlns:a="http://schemas.openxmlformats.org/drawingml/2006/main" noGrp="1"/>
          </p:cNvSpPr>
          <p:nvPr/>
        </p:nvSpPr>
        <p:spPr>
          <a:xfrm xmlns:a="http://schemas.openxmlformats.org/drawingml/2006/main">
            <a:off x="1809750" y="8905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Four of sixteen PEs produce useful neurons for a single latent input.</a:t>
            </a:r>
          </a:p>
        </p:txBody>
      </p:sp>
      <p:sp>
        <p:nvSpPr>
          <p:cNvPr id="8" name="">
            <a:extLst xmlns:a="http://schemas.openxmlformats.org/drawingml/2006/main">
              <a:ext uri="{FF2B5EF4-FFF2-40B4-BE49-F238E27FC236}">
                <a16:creationId xmlns:a16="http://schemas.microsoft.com/office/drawing/2014/main" id="{37A1E7BC-6A20-448E-9A79-F49966D9AA6C}"/>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A6</a:t>
            </a:r>
          </a:p>
        </p:txBody>
      </p:sp>
    </p:spTree>
    <p:extLst>
      <p:ext uri="{BB962C8B-B14F-4D97-AF65-F5344CB8AC3E}">
        <p14:creationId xmlns:p14="http://schemas.microsoft.com/office/powerpoint/2010/main" val="28249818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584252E-83A3-43CF-9DC3-06DDAFD97E92}"/>
              </a:ext>
            </a:extLst>
          </p:cNvPr>
          <p:cNvPicPr>
            <a:picLocks xmlns:a="http://schemas.openxmlformats.org/drawingml/2006/main" noChangeAspect="1"/>
          </p:cNvPicPr>
          <p:nvPr/>
        </p:nvPicPr>
        <p:blipFill>
          <a:blip xmlns:r="http://schemas.openxmlformats.org/officeDocument/2006/relationships" xmlns:a="http://schemas.openxmlformats.org/drawingml/2006/main" r:embed="Rf7b58045341e4a3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0DC8C3-34DA-47F8-9E25-4537F246F83B}"/>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A7</a:t>
            </a:r>
          </a:p>
        </p:txBody>
      </p:sp>
      <p:sp>
        <p:nvSpPr>
          <p:cNvPr id="3" name="">
            <a:extLst xmlns:a="http://schemas.openxmlformats.org/drawingml/2006/main">
              <a:ext uri="{FF2B5EF4-FFF2-40B4-BE49-F238E27FC236}">
                <a16:creationId xmlns:a16="http://schemas.microsoft.com/office/drawing/2014/main" id="{E58D0BA1-CFC0-42EF-8900-41F228682EF7}"/>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FA2E8067-EA9A-4470-8D12-8F9AD2C1BBA1}"/>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How strong is the area and power evidence?</a:t>
            </a:r>
          </a:p>
        </p:txBody>
      </p:sp>
      <p:graphicFrame>
        <p:nvGraphicFramePr>
          <p:cNvPr id="5" name="">
            <a:extLst xmlns:a="http://schemas.openxmlformats.org/drawingml/2006/main">
              <a:ext uri="{FF2B5EF4-FFF2-40B4-BE49-F238E27FC236}">
                <a16:creationId xmlns:a16="http://schemas.microsoft.com/office/drawing/2014/main" id="{0B86FD7C-695F-4C25-ADEC-2836655A1115}"/>
              </a:ext>
            </a:extLst>
          </p:cNvPr>
          <p:cNvGraphicFramePr/>
          <p:nvPr/>
        </p:nvGraphicFramePr>
        <p:xfrm>
          <a:off xmlns:a="http://schemas.openxmlformats.org/drawingml/2006/main" x="1809750" y="3952875"/>
          <a:ext xmlns:a="http://schemas.openxmlformats.org/drawingml/2006/main" cx="14097000" cy="3714750"/>
        </p:xfrm>
        <a:graphic xmlns:a="http://schemas.openxmlformats.org/drawingml/2006/main">
          <a:graphicData uri="http://schemas.openxmlformats.org/drawingml/2006/table">
            <a:tbl>
              <a:tblPr/>
              <a:tblGrid>
                <a:gridCol w="5238750"/>
                <a:gridCol w="2667000"/>
                <a:gridCol w="2667000"/>
                <a:gridCol w="3524250"/>
              </a:tblGrid>
              <a:tr h="619125">
                <a:tc>
                  <a:txBody>
                    <a:bodyPr/>
                    <a:lstStyle/>
                    <a:p>
                      <a:r>
                        <a:rPr sz="2250" b="1">
                          <a:solidFill>
                            <a:srgbClr val="FFFFFF"/>
                          </a:solidFill>
                          <a:latin typeface="Inter Bold"/>
                          <a:ea typeface="Inter Bold"/>
                          <a:cs typeface="Inter Bold"/>
                        </a:rPr>
                        <a:t>Metric</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11 macros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9 macros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Interpretation</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19125">
                <a:tc>
                  <a:txBody>
                    <a:bodyPr/>
                    <a:lstStyle/>
                    <a:p>
                      <a:r>
                        <a:rPr sz="2250" b="0">
                          <a:solidFill>
                            <a:srgbClr val="002B57"/>
                          </a:solidFill>
                          <a:latin typeface="Inter"/>
                          <a:ea typeface="Inter"/>
                          <a:cs typeface="Inter"/>
                        </a:rPr>
                        <a:t>Die area (mm²)</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2.400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1.822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24% reduction</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250" b="0">
                          <a:solidFill>
                            <a:srgbClr val="002B57"/>
                          </a:solidFill>
                          <a:latin typeface="Inter"/>
                          <a:ea typeface="Inter"/>
                          <a:cs typeface="Inter"/>
                        </a:rPr>
                        <a:t>Core area (mm²)</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2.326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1.761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24% reduction</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250" b="0">
                          <a:solidFill>
                            <a:srgbClr val="002B57"/>
                          </a:solidFill>
                          <a:latin typeface="Inter"/>
                          <a:ea typeface="Inter"/>
                          <a:cs typeface="Inter"/>
                        </a:rPr>
                        <a:t>C-buffer area (µm²)</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203,314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45,861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77% reduction</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250" b="0">
                          <a:solidFill>
                            <a:srgbClr val="002B57"/>
                          </a:solidFill>
                          <a:latin typeface="Inter"/>
                          <a:ea typeface="Inter"/>
                          <a:cs typeface="Inter"/>
                        </a:rPr>
                        <a:t>Power estimate (mW)</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162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133</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18% reduction</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250" b="0">
                          <a:solidFill>
                            <a:srgbClr val="002B57"/>
                          </a:solidFill>
                          <a:latin typeface="Inter"/>
                          <a:ea typeface="Inter"/>
                          <a:cs typeface="Inter"/>
                        </a:rPr>
                        <a:t>Worst hold slack (ns)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+0.150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+0.116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Positive, but thinner</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66149CA-6044-45F3-9DC1-244628DA3A23}"/>
              </a:ext>
            </a:extLst>
          </p:cNvPr>
          <p:cNvSpPr>
            <a:spLocks xmlns:a="http://schemas.openxmlformats.org/drawingml/2006/main" noGrp="1"/>
          </p:cNvSpPr>
          <p:nvPr/>
        </p:nvSpPr>
        <p:spPr>
          <a:xfrm xmlns:a="http://schemas.openxmlformats.org/drawingml/2006/main">
            <a:off x="1809750" y="823912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000" b="1">
                <a:solidFill>
                  <a:srgbClr val="0E749A"/>
                </a:solidFill>
                <a:latin typeface="Inter Bold"/>
                <a:ea typeface="Inter Bold"/>
                <a:cs typeface="Inter Bold"/>
              </a:defRPr>
            </a:defPPr>
            <a:lvl1pPr>
              <a:defRPr sz="3000" b="1">
                <a:solidFill>
                  <a:srgbClr val="0E749A"/>
                </a:solidFill>
                <a:latin typeface="Inter Bold"/>
                <a:ea typeface="Inter Bold"/>
                <a:cs typeface="Inter Bold"/>
              </a:defRPr>
            </a:lvl1pPr>
            <a:lvl2pPr>
              <a:defRPr sz="3000" b="1">
                <a:solidFill>
                  <a:srgbClr val="0E749A"/>
                </a:solidFill>
                <a:latin typeface="Inter Bold"/>
                <a:ea typeface="Inter Bold"/>
                <a:cs typeface="Inter Bold"/>
              </a:defRPr>
            </a:lvl2pPr>
            <a:lvl3pPr>
              <a:defRPr sz="3000" b="1">
                <a:solidFill>
                  <a:srgbClr val="0E749A"/>
                </a:solidFill>
                <a:latin typeface="Inter Bold"/>
                <a:ea typeface="Inter Bold"/>
                <a:cs typeface="Inter Bold"/>
              </a:defRPr>
            </a:lvl3pPr>
            <a:lvl4pPr>
              <a:defRPr sz="3000" b="1">
                <a:solidFill>
                  <a:srgbClr val="0E749A"/>
                </a:solidFill>
                <a:latin typeface="Inter Bold"/>
                <a:ea typeface="Inter Bold"/>
                <a:cs typeface="Inter Bold"/>
              </a:defRPr>
            </a:lvl4pPr>
            <a:lvl5pPr>
              <a:defRPr sz="3000" b="1">
                <a:solidFill>
                  <a:srgbClr val="0E749A"/>
                </a:solidFill>
                <a:latin typeface="Inter Bold"/>
                <a:ea typeface="Inter Bold"/>
                <a:cs typeface="Inter Bold"/>
              </a:defRPr>
            </a:lvl5pPr>
            <a:lvl6pPr>
              <a:defRPr sz="3000" b="1">
                <a:solidFill>
                  <a:srgbClr val="0E749A"/>
                </a:solidFill>
                <a:latin typeface="Inter Bold"/>
                <a:ea typeface="Inter Bold"/>
                <a:cs typeface="Inter Bold"/>
              </a:defRPr>
            </a:lvl6pPr>
            <a:lvl7pPr>
              <a:defRPr sz="3000" b="1">
                <a:solidFill>
                  <a:srgbClr val="0E749A"/>
                </a:solidFill>
                <a:latin typeface="Inter Bold"/>
                <a:ea typeface="Inter Bold"/>
                <a:cs typeface="Inter Bold"/>
              </a:defRPr>
            </a:lvl7pPr>
            <a:lvl8pPr>
              <a:defRPr sz="3000" b="1">
                <a:solidFill>
                  <a:srgbClr val="0E749A"/>
                </a:solidFill>
                <a:latin typeface="Inter Bold"/>
                <a:ea typeface="Inter Bold"/>
                <a:cs typeface="Inter Bold"/>
              </a:defRPr>
            </a:lvl8pPr>
            <a:lvl9pPr>
              <a:defRPr sz="3000" b="1">
                <a:solidFill>
                  <a:srgbClr val="0E749A"/>
                </a:solidFill>
                <a:latin typeface="Inter Bold"/>
                <a:ea typeface="Inter Bold"/>
                <a:cs typeface="Inter Bold"/>
              </a:defRPr>
            </a:lvl9pPr>
          </a:lstStyle>
          <a:p xmlns:a="http://schemas.openxmlformats.org/drawingml/2006/main">
            <a:pPr>
              <a:defRPr sz="3000" b="1">
                <a:solidFill>
                  <a:srgbClr val="0E749A"/>
                </a:solidFill>
                <a:latin typeface="Inter Bold"/>
                <a:ea typeface="Inter Bold"/>
                <a:cs typeface="Inter Bold"/>
              </a:defRPr>
            </a:pPr>
            <a:r>
              <a:rPr sz="3000" b="1">
                <a:solidFill>
                  <a:srgbClr val="0E749A"/>
                </a:solidFill>
                <a:latin typeface="Inter Bold"/>
                <a:ea typeface="Inter Bold"/>
                <a:cs typeface="Inter Bold"/>
              </a:rPr>
              <a:t>Power is a tool estimate using default switching activity.</a:t>
            </a:r>
          </a:p>
        </p:txBody>
      </p:sp>
      <p:sp>
        <p:nvSpPr>
          <p:cNvPr id="7" name="">
            <a:extLst xmlns:a="http://schemas.openxmlformats.org/drawingml/2006/main">
              <a:ext uri="{FF2B5EF4-FFF2-40B4-BE49-F238E27FC236}">
                <a16:creationId xmlns:a16="http://schemas.microsoft.com/office/drawing/2014/main" id="{C0836F73-887F-45FE-AEAF-3E0DC4573859}"/>
              </a:ext>
            </a:extLst>
          </p:cNvPr>
          <p:cNvSpPr>
            <a:spLocks xmlns:a="http://schemas.openxmlformats.org/drawingml/2006/main" noGrp="1"/>
          </p:cNvSpPr>
          <p:nvPr/>
        </p:nvSpPr>
        <p:spPr>
          <a:xfrm xmlns:a="http://schemas.openxmlformats.org/drawingml/2006/main">
            <a:off x="1809750" y="9144000"/>
            <a:ext cx="1428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Zero DRC, LVS, XOR and antenna violations; timing closes across nine corners.</a:t>
            </a:r>
          </a:p>
        </p:txBody>
      </p:sp>
      <p:sp>
        <p:nvSpPr>
          <p:cNvPr id="8" name="">
            <a:extLst xmlns:a="http://schemas.openxmlformats.org/drawingml/2006/main">
              <a:ext uri="{FF2B5EF4-FFF2-40B4-BE49-F238E27FC236}">
                <a16:creationId xmlns:a16="http://schemas.microsoft.com/office/drawing/2014/main" id="{45931482-6605-4379-85A0-45CB819D15DD}"/>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A7</a:t>
            </a:r>
          </a:p>
        </p:txBody>
      </p:sp>
    </p:spTree>
    <p:extLst>
      <p:ext uri="{BB962C8B-B14F-4D97-AF65-F5344CB8AC3E}">
        <p14:creationId xmlns:p14="http://schemas.microsoft.com/office/powerpoint/2010/main" val="82336993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219E327-94F9-4472-9F73-95A4B6089B7C}"/>
              </a:ext>
            </a:extLst>
          </p:cNvPr>
          <p:cNvPicPr>
            <a:picLocks xmlns:a="http://schemas.openxmlformats.org/drawingml/2006/main" noChangeAspect="1"/>
          </p:cNvPicPr>
          <p:nvPr/>
        </p:nvPicPr>
        <p:blipFill>
          <a:blip xmlns:r="http://schemas.openxmlformats.org/officeDocument/2006/relationships" xmlns:a="http://schemas.openxmlformats.org/drawingml/2006/main" r:embed="R3930033f78e8474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4CA71B-3CA4-4C21-8B4D-D63D2CD329B7}"/>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A8</a:t>
            </a:r>
          </a:p>
        </p:txBody>
      </p:sp>
      <p:sp>
        <p:nvSpPr>
          <p:cNvPr id="3" name="">
            <a:extLst xmlns:a="http://schemas.openxmlformats.org/drawingml/2006/main">
              <a:ext uri="{FF2B5EF4-FFF2-40B4-BE49-F238E27FC236}">
                <a16:creationId xmlns:a16="http://schemas.microsoft.com/office/drawing/2014/main" id="{188F82EE-8BAD-4090-BDCC-3FA0DBBFCB05}"/>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8A3C54CD-49D6-42FE-B624-982F30BD93FC}"/>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What limits performance, and what comes next?</a:t>
            </a:r>
          </a:p>
        </p:txBody>
      </p:sp>
      <p:sp>
        <p:nvSpPr>
          <p:cNvPr id="5" name="">
            <a:extLst xmlns:a="http://schemas.openxmlformats.org/drawingml/2006/main">
              <a:ext uri="{FF2B5EF4-FFF2-40B4-BE49-F238E27FC236}">
                <a16:creationId xmlns:a16="http://schemas.microsoft.com/office/drawing/2014/main" id="{7333CFF3-50E2-41E6-B521-311766E6EC09}"/>
              </a:ext>
            </a:extLst>
          </p:cNvPr>
          <p:cNvSpPr>
            <a:spLocks xmlns:a="http://schemas.openxmlformats.org/drawingml/2006/main" noGrp="1"/>
          </p:cNvSpPr>
          <p:nvPr/>
        </p:nvSpPr>
        <p:spPr>
          <a:xfrm xmlns:a="http://schemas.openxmlformats.org/drawingml/2006/main">
            <a:off x="1809750" y="3857625"/>
            <a:ext cx="1438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Why use a serial interface?</a:t>
            </a:r>
          </a:p>
        </p:txBody>
      </p:sp>
      <p:sp>
        <p:nvSpPr>
          <p:cNvPr id="6" name="">
            <a:extLst xmlns:a="http://schemas.openxmlformats.org/drawingml/2006/main">
              <a:ext uri="{FF2B5EF4-FFF2-40B4-BE49-F238E27FC236}">
                <a16:creationId xmlns:a16="http://schemas.microsoft.com/office/drawing/2014/main" id="{0C0DC45F-B147-4985-970D-AD734AF16943}"/>
              </a:ext>
            </a:extLst>
          </p:cNvPr>
          <p:cNvSpPr>
            <a:spLocks xmlns:a="http://schemas.openxmlformats.org/drawingml/2006/main" noGrp="1"/>
          </p:cNvSpPr>
          <p:nvPr/>
        </p:nvSpPr>
        <p:spPr>
          <a:xfrm xmlns:a="http://schemas.openxmlformats.org/drawingml/2006/main">
            <a:off x="1809750" y="4600575"/>
            <a:ext cx="1428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The accelerator exposes 53 signal bits, but the slot offers 20 general-purpose digital pads.</a:t>
            </a:r>
          </a:p>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A synchronized four-wire bridge reduces the interface requirement.</a:t>
            </a:r>
          </a:p>
        </p:txBody>
      </p:sp>
      <p:sp>
        <p:nvSpPr>
          <p:cNvPr id="7" name="">
            <a:extLst xmlns:a="http://schemas.openxmlformats.org/drawingml/2006/main">
              <a:ext uri="{FF2B5EF4-FFF2-40B4-BE49-F238E27FC236}">
                <a16:creationId xmlns:a16="http://schemas.microsoft.com/office/drawing/2014/main" id="{C4611651-CC99-4124-886E-951F6A43B086}"/>
              </a:ext>
            </a:extLst>
          </p:cNvPr>
          <p:cNvSpPr>
            <a:spLocks xmlns:a="http://schemas.openxmlformats.org/drawingml/2006/main" noGrp="1"/>
          </p:cNvSpPr>
          <p:nvPr/>
        </p:nvSpPr>
        <p:spPr>
          <a:xfrm xmlns:a="http://schemas.openxmlformats.org/drawingml/2006/main">
            <a:off x="1809750" y="6191250"/>
            <a:ext cx="1438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What would improve image-generation time?</a:t>
            </a:r>
          </a:p>
        </p:txBody>
      </p:sp>
      <p:sp>
        <p:nvSpPr>
          <p:cNvPr id="8" name="">
            <a:extLst xmlns:a="http://schemas.openxmlformats.org/drawingml/2006/main">
              <a:ext uri="{FF2B5EF4-FFF2-40B4-BE49-F238E27FC236}">
                <a16:creationId xmlns:a16="http://schemas.microsoft.com/office/drawing/2014/main" id="{EBBA7146-8000-47DB-942C-F281EC60165C}"/>
              </a:ext>
            </a:extLst>
          </p:cNvPr>
          <p:cNvSpPr>
            <a:spLocks xmlns:a="http://schemas.openxmlformats.org/drawingml/2006/main" noGrp="1"/>
          </p:cNvSpPr>
          <p:nvPr/>
        </p:nvSpPr>
        <p:spPr>
          <a:xfrm xmlns:a="http://schemas.openxmlformats.org/drawingml/2006/main">
            <a:off x="1809750" y="6934200"/>
            <a:ext cx="1428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Batch latent inputs to reuse weights and occupy the unused columns.</a:t>
            </a:r>
          </a:p>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Use burst writes to avoid repeating command and address bits for every byte.</a:t>
            </a:r>
          </a:p>
        </p:txBody>
      </p:sp>
      <p:sp>
        <p:nvSpPr>
          <p:cNvPr id="9" name="">
            <a:extLst xmlns:a="http://schemas.openxmlformats.org/drawingml/2006/main">
              <a:ext uri="{FF2B5EF4-FFF2-40B4-BE49-F238E27FC236}">
                <a16:creationId xmlns:a16="http://schemas.microsoft.com/office/drawing/2014/main" id="{527C0869-FBE4-4488-A918-FCE06AE75BA9}"/>
              </a:ext>
            </a:extLst>
          </p:cNvPr>
          <p:cNvSpPr>
            <a:spLocks xmlns:a="http://schemas.openxmlformats.org/drawingml/2006/main" noGrp="1"/>
          </p:cNvSpPr>
          <p:nvPr/>
        </p:nvSpPr>
        <p:spPr>
          <a:xfrm xmlns:a="http://schemas.openxmlformats.org/drawingml/2006/main">
            <a:off x="1809750" y="881062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0E749A"/>
                </a:solidFill>
                <a:latin typeface="Inter Bold"/>
                <a:ea typeface="Inter Bold"/>
                <a:cs typeface="Inter Bold"/>
              </a:defRPr>
            </a:defPPr>
            <a:lvl1pPr>
              <a:defRPr sz="2850" b="1">
                <a:solidFill>
                  <a:srgbClr val="0E749A"/>
                </a:solidFill>
                <a:latin typeface="Inter Bold"/>
                <a:ea typeface="Inter Bold"/>
                <a:cs typeface="Inter Bold"/>
              </a:defRPr>
            </a:lvl1pPr>
            <a:lvl2pPr>
              <a:defRPr sz="2850" b="1">
                <a:solidFill>
                  <a:srgbClr val="0E749A"/>
                </a:solidFill>
                <a:latin typeface="Inter Bold"/>
                <a:ea typeface="Inter Bold"/>
                <a:cs typeface="Inter Bold"/>
              </a:defRPr>
            </a:lvl2pPr>
            <a:lvl3pPr>
              <a:defRPr sz="2850" b="1">
                <a:solidFill>
                  <a:srgbClr val="0E749A"/>
                </a:solidFill>
                <a:latin typeface="Inter Bold"/>
                <a:ea typeface="Inter Bold"/>
                <a:cs typeface="Inter Bold"/>
              </a:defRPr>
            </a:lvl3pPr>
            <a:lvl4pPr>
              <a:defRPr sz="2850" b="1">
                <a:solidFill>
                  <a:srgbClr val="0E749A"/>
                </a:solidFill>
                <a:latin typeface="Inter Bold"/>
                <a:ea typeface="Inter Bold"/>
                <a:cs typeface="Inter Bold"/>
              </a:defRPr>
            </a:lvl4pPr>
            <a:lvl5pPr>
              <a:defRPr sz="2850" b="1">
                <a:solidFill>
                  <a:srgbClr val="0E749A"/>
                </a:solidFill>
                <a:latin typeface="Inter Bold"/>
                <a:ea typeface="Inter Bold"/>
                <a:cs typeface="Inter Bold"/>
              </a:defRPr>
            </a:lvl5pPr>
            <a:lvl6pPr>
              <a:defRPr sz="2850" b="1">
                <a:solidFill>
                  <a:srgbClr val="0E749A"/>
                </a:solidFill>
                <a:latin typeface="Inter Bold"/>
                <a:ea typeface="Inter Bold"/>
                <a:cs typeface="Inter Bold"/>
              </a:defRPr>
            </a:lvl6pPr>
            <a:lvl7pPr>
              <a:defRPr sz="2850" b="1">
                <a:solidFill>
                  <a:srgbClr val="0E749A"/>
                </a:solidFill>
                <a:latin typeface="Inter Bold"/>
                <a:ea typeface="Inter Bold"/>
                <a:cs typeface="Inter Bold"/>
              </a:defRPr>
            </a:lvl7pPr>
            <a:lvl8pPr>
              <a:defRPr sz="2850" b="1">
                <a:solidFill>
                  <a:srgbClr val="0E749A"/>
                </a:solidFill>
                <a:latin typeface="Inter Bold"/>
                <a:ea typeface="Inter Bold"/>
                <a:cs typeface="Inter Bold"/>
              </a:defRPr>
            </a:lvl8pPr>
            <a:lvl9pPr>
              <a:defRPr sz="2850" b="1">
                <a:solidFill>
                  <a:srgbClr val="0E749A"/>
                </a:solidFill>
                <a:latin typeface="Inter Bold"/>
                <a:ea typeface="Inter Bold"/>
                <a:cs typeface="Inter Bold"/>
              </a:defRPr>
            </a:lvl9pPr>
          </a:lstStyle>
          <a:p xmlns:a="http://schemas.openxmlformats.org/drawingml/2006/main">
            <a:pPr>
              <a:defRPr sz="2850" b="1">
                <a:solidFill>
                  <a:srgbClr val="0E749A"/>
                </a:solidFill>
                <a:latin typeface="Inter Bold"/>
                <a:ea typeface="Inter Bold"/>
                <a:cs typeface="Inter Bold"/>
              </a:defRPr>
            </a:pPr>
            <a:r>
              <a:rPr sz="2850" b="1">
                <a:solidFill>
                  <a:srgbClr val="0E749A"/>
                </a:solidFill>
                <a:latin typeface="Inter Bold"/>
                <a:ea typeface="Inter Bold"/>
                <a:cs typeface="Inter Bold"/>
              </a:rPr>
              <a:t>A wider link alone leaves the weight-reuse problem unresolved.</a:t>
            </a:r>
          </a:p>
        </p:txBody>
      </p:sp>
      <p:sp>
        <p:nvSpPr>
          <p:cNvPr id="10" name="">
            <a:extLst xmlns:a="http://schemas.openxmlformats.org/drawingml/2006/main">
              <a:ext uri="{FF2B5EF4-FFF2-40B4-BE49-F238E27FC236}">
                <a16:creationId xmlns:a16="http://schemas.microsoft.com/office/drawing/2014/main" id="{1846C589-67B2-4DC5-B896-51007629A731}"/>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A8</a:t>
            </a:r>
          </a:p>
        </p:txBody>
      </p:sp>
    </p:spTree>
    <p:extLst>
      <p:ext uri="{BB962C8B-B14F-4D97-AF65-F5344CB8AC3E}">
        <p14:creationId xmlns:p14="http://schemas.microsoft.com/office/powerpoint/2010/main" val="75043509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EDC4612-6AD1-4BE8-A057-20267CC59604}"/>
              </a:ext>
            </a:extLst>
          </p:cNvPr>
          <p:cNvPicPr>
            <a:picLocks xmlns:a="http://schemas.openxmlformats.org/drawingml/2006/main" noChangeAspect="1"/>
          </p:cNvPicPr>
          <p:nvPr/>
        </p:nvPicPr>
        <p:blipFill>
          <a:blip xmlns:r="http://schemas.openxmlformats.org/officeDocument/2006/relationships" xmlns:a="http://schemas.openxmlformats.org/drawingml/2006/main" r:embed="Reed706eff797487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F885D7-91C3-4605-B48F-84DFDE3EC417}"/>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A9</a:t>
            </a:r>
          </a:p>
        </p:txBody>
      </p:sp>
      <p:sp>
        <p:nvSpPr>
          <p:cNvPr id="3" name="">
            <a:extLst xmlns:a="http://schemas.openxmlformats.org/drawingml/2006/main">
              <a:ext uri="{FF2B5EF4-FFF2-40B4-BE49-F238E27FC236}">
                <a16:creationId xmlns:a16="http://schemas.microsoft.com/office/drawing/2014/main" id="{596B7F5F-2B27-4DB5-9927-86575B5463DA}"/>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FEAEA8DA-3969-4BAE-A17D-367535B8B6B9}"/>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Background references and evidence scope</a:t>
            </a:r>
          </a:p>
        </p:txBody>
      </p:sp>
      <p:sp>
        <p:nvSpPr>
          <p:cNvPr id="5" name="">
            <a:extLst xmlns:a="http://schemas.openxmlformats.org/drawingml/2006/main">
              <a:ext uri="{FF2B5EF4-FFF2-40B4-BE49-F238E27FC236}">
                <a16:creationId xmlns:a16="http://schemas.microsoft.com/office/drawing/2014/main" id="{564EBF22-988F-42C9-A0D2-74FFD52BBEB6}"/>
              </a:ext>
            </a:extLst>
          </p:cNvPr>
          <p:cNvSpPr>
            <a:spLocks xmlns:a="http://schemas.openxmlformats.org/drawingml/2006/main" noGrp="1"/>
          </p:cNvSpPr>
          <p:nvPr/>
        </p:nvSpPr>
        <p:spPr>
          <a:xfrm xmlns:a="http://schemas.openxmlformats.org/drawingml/2006/main">
            <a:off x="1809750" y="38576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E749A"/>
                </a:solidFill>
                <a:latin typeface="Inter Bold"/>
                <a:ea typeface="Inter Bold"/>
                <a:cs typeface="Inter Bold"/>
              </a:defRPr>
            </a:defPPr>
            <a:lvl1pPr>
              <a:defRPr sz="2775" b="1">
                <a:solidFill>
                  <a:srgbClr val="0E749A"/>
                </a:solidFill>
                <a:latin typeface="Inter Bold"/>
                <a:ea typeface="Inter Bold"/>
                <a:cs typeface="Inter Bold"/>
              </a:defRPr>
            </a:lvl1pPr>
            <a:lvl2pPr>
              <a:defRPr sz="2775" b="1">
                <a:solidFill>
                  <a:srgbClr val="0E749A"/>
                </a:solidFill>
                <a:latin typeface="Inter Bold"/>
                <a:ea typeface="Inter Bold"/>
                <a:cs typeface="Inter Bold"/>
              </a:defRPr>
            </a:lvl2pPr>
            <a:lvl3pPr>
              <a:defRPr sz="2775" b="1">
                <a:solidFill>
                  <a:srgbClr val="0E749A"/>
                </a:solidFill>
                <a:latin typeface="Inter Bold"/>
                <a:ea typeface="Inter Bold"/>
                <a:cs typeface="Inter Bold"/>
              </a:defRPr>
            </a:lvl3pPr>
            <a:lvl4pPr>
              <a:defRPr sz="2775" b="1">
                <a:solidFill>
                  <a:srgbClr val="0E749A"/>
                </a:solidFill>
                <a:latin typeface="Inter Bold"/>
                <a:ea typeface="Inter Bold"/>
                <a:cs typeface="Inter Bold"/>
              </a:defRPr>
            </a:lvl4pPr>
            <a:lvl5pPr>
              <a:defRPr sz="2775" b="1">
                <a:solidFill>
                  <a:srgbClr val="0E749A"/>
                </a:solidFill>
                <a:latin typeface="Inter Bold"/>
                <a:ea typeface="Inter Bold"/>
                <a:cs typeface="Inter Bold"/>
              </a:defRPr>
            </a:lvl5pPr>
            <a:lvl6pPr>
              <a:defRPr sz="2775" b="1">
                <a:solidFill>
                  <a:srgbClr val="0E749A"/>
                </a:solidFill>
                <a:latin typeface="Inter Bold"/>
                <a:ea typeface="Inter Bold"/>
                <a:cs typeface="Inter Bold"/>
              </a:defRPr>
            </a:lvl6pPr>
            <a:lvl7pPr>
              <a:defRPr sz="2775" b="1">
                <a:solidFill>
                  <a:srgbClr val="0E749A"/>
                </a:solidFill>
                <a:latin typeface="Inter Bold"/>
                <a:ea typeface="Inter Bold"/>
                <a:cs typeface="Inter Bold"/>
              </a:defRPr>
            </a:lvl7pPr>
            <a:lvl8pPr>
              <a:defRPr sz="2775" b="1">
                <a:solidFill>
                  <a:srgbClr val="0E749A"/>
                </a:solidFill>
                <a:latin typeface="Inter Bold"/>
                <a:ea typeface="Inter Bold"/>
                <a:cs typeface="Inter Bold"/>
              </a:defRPr>
            </a:lvl8pPr>
            <a:lvl9pPr>
              <a:defRPr sz="2775" b="1">
                <a:solidFill>
                  <a:srgbClr val="0E749A"/>
                </a:solidFill>
                <a:latin typeface="Inter Bold"/>
                <a:ea typeface="Inter Bold"/>
                <a:cs typeface="Inter Bold"/>
              </a:defRPr>
            </a:lvl9pPr>
          </a:lstStyle>
          <a:p xmlns:a="http://schemas.openxmlformats.org/drawingml/2006/main">
            <a:pPr>
              <a:defRPr sz="2775" b="1">
                <a:solidFill>
                  <a:srgbClr val="0E749A"/>
                </a:solidFill>
                <a:latin typeface="Inter Bold"/>
                <a:ea typeface="Inter Bold"/>
                <a:cs typeface="Inter Bold"/>
              </a:defRPr>
            </a:pPr>
            <a:r>
              <a:rPr sz="2775" b="1">
                <a:solidFill>
                  <a:srgbClr val="0E749A"/>
                </a:solidFill>
                <a:latin typeface="Inter Bold"/>
                <a:ea typeface="Inter Bold"/>
                <a:cs typeface="Inter Bold"/>
              </a:rPr>
              <a:t>GAN basics</a:t>
            </a:r>
          </a:p>
        </p:txBody>
      </p:sp>
      <p:sp>
        <p:nvSpPr>
          <p:cNvPr id="6" name="">
            <a:extLst xmlns:a="http://schemas.openxmlformats.org/drawingml/2006/main">
              <a:ext uri="{FF2B5EF4-FFF2-40B4-BE49-F238E27FC236}">
                <a16:creationId xmlns:a16="http://schemas.microsoft.com/office/drawing/2014/main" id="{621E7683-8708-4C70-9CD4-2DE7936A4EA7}"/>
              </a:ext>
            </a:extLst>
          </p:cNvPr>
          <p:cNvSpPr>
            <a:spLocks xmlns:a="http://schemas.openxmlformats.org/drawingml/2006/main" noGrp="1"/>
          </p:cNvSpPr>
          <p:nvPr/>
        </p:nvSpPr>
        <p:spPr>
          <a:xfrm xmlns:a="http://schemas.openxmlformats.org/drawingml/2006/main">
            <a:off x="1809750" y="4476750"/>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Goodfellow et al., Generative Adversarial Nets, 2014</a:t>
            </a:r>
          </a:p>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https://arxiv.org/abs/1406.2661</a:t>
            </a:r>
          </a:p>
        </p:txBody>
      </p:sp>
      <p:sp>
        <p:nvSpPr>
          <p:cNvPr id="7" name="">
            <a:extLst xmlns:a="http://schemas.openxmlformats.org/drawingml/2006/main">
              <a:ext uri="{FF2B5EF4-FFF2-40B4-BE49-F238E27FC236}">
                <a16:creationId xmlns:a16="http://schemas.microsoft.com/office/drawing/2014/main" id="{7F4CBE99-1F84-4C52-B329-7D8167572AEE}"/>
              </a:ext>
            </a:extLst>
          </p:cNvPr>
          <p:cNvSpPr>
            <a:spLocks xmlns:a="http://schemas.openxmlformats.org/drawingml/2006/main" noGrp="1"/>
          </p:cNvSpPr>
          <p:nvPr/>
        </p:nvSpPr>
        <p:spPr>
          <a:xfrm xmlns:a="http://schemas.openxmlformats.org/drawingml/2006/main">
            <a:off x="1809750" y="5762625"/>
            <a:ext cx="1381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E749A"/>
                </a:solidFill>
                <a:latin typeface="Inter Bold"/>
                <a:ea typeface="Inter Bold"/>
                <a:cs typeface="Inter Bold"/>
              </a:defRPr>
            </a:defPPr>
            <a:lvl1pPr>
              <a:defRPr sz="2775" b="1">
                <a:solidFill>
                  <a:srgbClr val="0E749A"/>
                </a:solidFill>
                <a:latin typeface="Inter Bold"/>
                <a:ea typeface="Inter Bold"/>
                <a:cs typeface="Inter Bold"/>
              </a:defRPr>
            </a:lvl1pPr>
            <a:lvl2pPr>
              <a:defRPr sz="2775" b="1">
                <a:solidFill>
                  <a:srgbClr val="0E749A"/>
                </a:solidFill>
                <a:latin typeface="Inter Bold"/>
                <a:ea typeface="Inter Bold"/>
                <a:cs typeface="Inter Bold"/>
              </a:defRPr>
            </a:lvl2pPr>
            <a:lvl3pPr>
              <a:defRPr sz="2775" b="1">
                <a:solidFill>
                  <a:srgbClr val="0E749A"/>
                </a:solidFill>
                <a:latin typeface="Inter Bold"/>
                <a:ea typeface="Inter Bold"/>
                <a:cs typeface="Inter Bold"/>
              </a:defRPr>
            </a:lvl3pPr>
            <a:lvl4pPr>
              <a:defRPr sz="2775" b="1">
                <a:solidFill>
                  <a:srgbClr val="0E749A"/>
                </a:solidFill>
                <a:latin typeface="Inter Bold"/>
                <a:ea typeface="Inter Bold"/>
                <a:cs typeface="Inter Bold"/>
              </a:defRPr>
            </a:lvl4pPr>
            <a:lvl5pPr>
              <a:defRPr sz="2775" b="1">
                <a:solidFill>
                  <a:srgbClr val="0E749A"/>
                </a:solidFill>
                <a:latin typeface="Inter Bold"/>
                <a:ea typeface="Inter Bold"/>
                <a:cs typeface="Inter Bold"/>
              </a:defRPr>
            </a:lvl5pPr>
            <a:lvl6pPr>
              <a:defRPr sz="2775" b="1">
                <a:solidFill>
                  <a:srgbClr val="0E749A"/>
                </a:solidFill>
                <a:latin typeface="Inter Bold"/>
                <a:ea typeface="Inter Bold"/>
                <a:cs typeface="Inter Bold"/>
              </a:defRPr>
            </a:lvl6pPr>
            <a:lvl7pPr>
              <a:defRPr sz="2775" b="1">
                <a:solidFill>
                  <a:srgbClr val="0E749A"/>
                </a:solidFill>
                <a:latin typeface="Inter Bold"/>
                <a:ea typeface="Inter Bold"/>
                <a:cs typeface="Inter Bold"/>
              </a:defRPr>
            </a:lvl7pPr>
            <a:lvl8pPr>
              <a:defRPr sz="2775" b="1">
                <a:solidFill>
                  <a:srgbClr val="0E749A"/>
                </a:solidFill>
                <a:latin typeface="Inter Bold"/>
                <a:ea typeface="Inter Bold"/>
                <a:cs typeface="Inter Bold"/>
              </a:defRPr>
            </a:lvl8pPr>
            <a:lvl9pPr>
              <a:defRPr sz="2775" b="1">
                <a:solidFill>
                  <a:srgbClr val="0E749A"/>
                </a:solidFill>
                <a:latin typeface="Inter Bold"/>
                <a:ea typeface="Inter Bold"/>
                <a:cs typeface="Inter Bold"/>
              </a:defRPr>
            </a:lvl9pPr>
          </a:lstStyle>
          <a:p xmlns:a="http://schemas.openxmlformats.org/drawingml/2006/main">
            <a:pPr>
              <a:defRPr sz="2775" b="1">
                <a:solidFill>
                  <a:srgbClr val="0E749A"/>
                </a:solidFill>
                <a:latin typeface="Inter Bold"/>
                <a:ea typeface="Inter Bold"/>
                <a:cs typeface="Inter Bold"/>
              </a:defRPr>
            </a:pPr>
            <a:r>
              <a:rPr sz="2775" b="1">
                <a:solidFill>
                  <a:srgbClr val="0E749A"/>
                </a:solidFill>
                <a:latin typeface="Inter Bold"/>
                <a:ea typeface="Inter Bold"/>
                <a:cs typeface="Inter Bold"/>
              </a:rPr>
              <a:t>Examples of GAN applications</a:t>
            </a:r>
          </a:p>
        </p:txBody>
      </p:sp>
      <p:sp>
        <p:nvSpPr>
          <p:cNvPr id="8" name="">
            <a:extLst xmlns:a="http://schemas.openxmlformats.org/drawingml/2006/main">
              <a:ext uri="{FF2B5EF4-FFF2-40B4-BE49-F238E27FC236}">
                <a16:creationId xmlns:a16="http://schemas.microsoft.com/office/drawing/2014/main" id="{F7F1FA27-5AFA-4E96-AE58-FD0F51530E3D}"/>
              </a:ext>
            </a:extLst>
          </p:cNvPr>
          <p:cNvSpPr>
            <a:spLocks xmlns:a="http://schemas.openxmlformats.org/drawingml/2006/main" noGrp="1"/>
          </p:cNvSpPr>
          <p:nvPr/>
        </p:nvSpPr>
        <p:spPr>
          <a:xfrm xmlns:a="http://schemas.openxmlformats.org/drawingml/2006/main">
            <a:off x="1809750" y="6477000"/>
            <a:ext cx="1428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Isola et al., pix2pix, CVPR 2017: arxiv.org/abs/1611.07004</a:t>
            </a:r>
          </a:p>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Ledig et al., SRGAN, CVPR 2017: arxiv.org/abs/1609.04802</a:t>
            </a:r>
          </a:p>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Bowles et al., GAN Augmentation, 2018: arxiv.org/abs/1810.10863</a:t>
            </a:r>
          </a:p>
        </p:txBody>
      </p:sp>
      <p:sp>
        <p:nvSpPr>
          <p:cNvPr id="9" name="">
            <a:extLst xmlns:a="http://schemas.openxmlformats.org/drawingml/2006/main">
              <a:ext uri="{FF2B5EF4-FFF2-40B4-BE49-F238E27FC236}">
                <a16:creationId xmlns:a16="http://schemas.microsoft.com/office/drawing/2014/main" id="{C033BEDC-CF4A-466C-A24B-E30D1182A77E}"/>
              </a:ext>
            </a:extLst>
          </p:cNvPr>
          <p:cNvSpPr>
            <a:spLocks xmlns:a="http://schemas.openxmlformats.org/drawingml/2006/main" noGrp="1"/>
          </p:cNvSpPr>
          <p:nvPr/>
        </p:nvSpPr>
        <p:spPr>
          <a:xfrm xmlns:a="http://schemas.openxmlformats.org/drawingml/2006/main">
            <a:off x="18097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1">
                <a:solidFill>
                  <a:srgbClr val="002B57"/>
                </a:solidFill>
                <a:latin typeface="Inter Bold"/>
                <a:ea typeface="Inter Bold"/>
                <a:cs typeface="Inter Bold"/>
              </a:defRPr>
            </a:defPPr>
            <a:lvl1pPr>
              <a:defRPr sz="2625" b="1">
                <a:solidFill>
                  <a:srgbClr val="002B57"/>
                </a:solidFill>
                <a:latin typeface="Inter Bold"/>
                <a:ea typeface="Inter Bold"/>
                <a:cs typeface="Inter Bold"/>
              </a:defRPr>
            </a:lvl1pPr>
            <a:lvl2pPr>
              <a:defRPr sz="2625" b="1">
                <a:solidFill>
                  <a:srgbClr val="002B57"/>
                </a:solidFill>
                <a:latin typeface="Inter Bold"/>
                <a:ea typeface="Inter Bold"/>
                <a:cs typeface="Inter Bold"/>
              </a:defRPr>
            </a:lvl2pPr>
            <a:lvl3pPr>
              <a:defRPr sz="2625" b="1">
                <a:solidFill>
                  <a:srgbClr val="002B57"/>
                </a:solidFill>
                <a:latin typeface="Inter Bold"/>
                <a:ea typeface="Inter Bold"/>
                <a:cs typeface="Inter Bold"/>
              </a:defRPr>
            </a:lvl3pPr>
            <a:lvl4pPr>
              <a:defRPr sz="2625" b="1">
                <a:solidFill>
                  <a:srgbClr val="002B57"/>
                </a:solidFill>
                <a:latin typeface="Inter Bold"/>
                <a:ea typeface="Inter Bold"/>
                <a:cs typeface="Inter Bold"/>
              </a:defRPr>
            </a:lvl4pPr>
            <a:lvl5pPr>
              <a:defRPr sz="2625" b="1">
                <a:solidFill>
                  <a:srgbClr val="002B57"/>
                </a:solidFill>
                <a:latin typeface="Inter Bold"/>
                <a:ea typeface="Inter Bold"/>
                <a:cs typeface="Inter Bold"/>
              </a:defRPr>
            </a:lvl5pPr>
            <a:lvl6pPr>
              <a:defRPr sz="2625" b="1">
                <a:solidFill>
                  <a:srgbClr val="002B57"/>
                </a:solidFill>
                <a:latin typeface="Inter Bold"/>
                <a:ea typeface="Inter Bold"/>
                <a:cs typeface="Inter Bold"/>
              </a:defRPr>
            </a:lvl6pPr>
            <a:lvl7pPr>
              <a:defRPr sz="2625" b="1">
                <a:solidFill>
                  <a:srgbClr val="002B57"/>
                </a:solidFill>
                <a:latin typeface="Inter Bold"/>
                <a:ea typeface="Inter Bold"/>
                <a:cs typeface="Inter Bold"/>
              </a:defRPr>
            </a:lvl7pPr>
            <a:lvl8pPr>
              <a:defRPr sz="2625" b="1">
                <a:solidFill>
                  <a:srgbClr val="002B57"/>
                </a:solidFill>
                <a:latin typeface="Inter Bold"/>
                <a:ea typeface="Inter Bold"/>
                <a:cs typeface="Inter Bold"/>
              </a:defRPr>
            </a:lvl8pPr>
            <a:lvl9pPr>
              <a:defRPr sz="2625" b="1">
                <a:solidFill>
                  <a:srgbClr val="002B57"/>
                </a:solidFill>
                <a:latin typeface="Inter Bold"/>
                <a:ea typeface="Inter Bold"/>
                <a:cs typeface="Inter Bold"/>
              </a:defRPr>
            </a:lvl9pPr>
          </a:lstStyle>
          <a:p xmlns:a="http://schemas.openxmlformats.org/drawingml/2006/main">
            <a:pPr>
              <a:defRPr sz="2625" b="1">
                <a:solidFill>
                  <a:srgbClr val="002B57"/>
                </a:solidFill>
                <a:latin typeface="Inter Bold"/>
                <a:ea typeface="Inter Bold"/>
                <a:cs typeface="Inter Bold"/>
              </a:defRPr>
            </a:pPr>
            <a:r>
              <a:rPr sz="2625" b="1">
                <a:solidFill>
                  <a:srgbClr val="002B57"/>
                </a:solidFill>
                <a:latin typeface="Inter Bold"/>
                <a:ea typeface="Inter Bold"/>
                <a:cs typeface="Inter Bold"/>
              </a:rPr>
              <a:t>All accelerator results come from the supplied GF180MCU paper.</a:t>
            </a:r>
          </a:p>
        </p:txBody>
      </p:sp>
      <p:sp>
        <p:nvSpPr>
          <p:cNvPr id="10" name="">
            <a:extLst xmlns:a="http://schemas.openxmlformats.org/drawingml/2006/main">
              <a:ext uri="{FF2B5EF4-FFF2-40B4-BE49-F238E27FC236}">
                <a16:creationId xmlns:a16="http://schemas.microsoft.com/office/drawing/2014/main" id="{3921FAFB-78E7-497E-9499-A0F45386F3C3}"/>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A9</a:t>
            </a:r>
          </a:p>
        </p:txBody>
      </p:sp>
    </p:spTree>
    <p:extLst>
      <p:ext uri="{BB962C8B-B14F-4D97-AF65-F5344CB8AC3E}">
        <p14:creationId xmlns:p14="http://schemas.microsoft.com/office/powerpoint/2010/main" val="25295184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FB35BE7-AA11-4721-A785-A99F9AAD3FD9}"/>
              </a:ext>
            </a:extLst>
          </p:cNvPr>
          <p:cNvPicPr>
            <a:picLocks xmlns:a="http://schemas.openxmlformats.org/drawingml/2006/main" noChangeAspect="1"/>
          </p:cNvPicPr>
          <p:nvPr/>
        </p:nvPicPr>
        <p:blipFill>
          <a:blip xmlns:r="http://schemas.openxmlformats.org/officeDocument/2006/relationships" xmlns:a="http://schemas.openxmlformats.org/drawingml/2006/main" r:embed="R8f211d752e64437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4BF339-99C7-4F6B-BF35-874A5AC3E2B5}"/>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A10</a:t>
            </a:r>
          </a:p>
        </p:txBody>
      </p:sp>
      <p:sp>
        <p:nvSpPr>
          <p:cNvPr id="3" name="">
            <a:extLst xmlns:a="http://schemas.openxmlformats.org/drawingml/2006/main">
              <a:ext uri="{FF2B5EF4-FFF2-40B4-BE49-F238E27FC236}">
                <a16:creationId xmlns:a16="http://schemas.microsoft.com/office/drawing/2014/main" id="{13843785-82F0-4F40-8CD4-32459433237E}"/>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632139F5-C099-4E07-952E-24CA3BA08C70}"/>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Verification covers arithmetic, protocol and routing</a:t>
            </a:r>
          </a:p>
        </p:txBody>
      </p:sp>
      <p:graphicFrame>
        <p:nvGraphicFramePr>
          <p:cNvPr id="5" name="">
            <a:extLst xmlns:a="http://schemas.openxmlformats.org/drawingml/2006/main">
              <a:ext uri="{FF2B5EF4-FFF2-40B4-BE49-F238E27FC236}">
                <a16:creationId xmlns:a16="http://schemas.microsoft.com/office/drawing/2014/main" id="{4F9786FE-9632-4C74-AD61-9BA1E22E12FC}"/>
              </a:ext>
            </a:extLst>
          </p:cNvPr>
          <p:cNvGraphicFramePr/>
          <p:nvPr/>
        </p:nvGraphicFramePr>
        <p:xfrm>
          <a:off xmlns:a="http://schemas.openxmlformats.org/drawingml/2006/main" x="1809750" y="3952875"/>
          <a:ext xmlns:a="http://schemas.openxmlformats.org/drawingml/2006/main" cx="14097000" cy="4191000"/>
        </p:xfrm>
        <a:graphic xmlns:a="http://schemas.openxmlformats.org/drawingml/2006/main">
          <a:graphicData uri="http://schemas.openxmlformats.org/drawingml/2006/table">
            <a:tbl>
              <a:tblPr/>
              <a:tblGrid>
                <a:gridCol w="7143750"/>
                <a:gridCol w="6953250"/>
              </a:tblGrid>
              <a:tr h="523875">
                <a:tc>
                  <a:txBody>
                    <a:bodyPr/>
                    <a:lstStyle/>
                    <a:p>
                      <a:r>
                        <a:rPr sz="2100" b="1">
                          <a:solidFill>
                            <a:srgbClr val="FFFFFF"/>
                          </a:solidFill>
                          <a:latin typeface="Inter Bold"/>
                          <a:ea typeface="Inter Bold"/>
                          <a:cs typeface="Inter Bold"/>
                        </a:rPr>
                        <a:t>Test</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Coverage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523875">
                <a:tc>
                  <a:txBody>
                    <a:bodyPr/>
                    <a:lstStyle/>
                    <a:p>
                      <a:r>
                        <a:rPr sz="2100" b="0">
                          <a:solidFill>
                            <a:srgbClr val="002B57"/>
                          </a:solidFill>
                          <a:latin typeface="Inter"/>
                          <a:ea typeface="Inter"/>
                          <a:cs typeface="Inter"/>
                        </a:rPr>
                        <a:t>1. Single-lane GEMM</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Integer dot-product arithmetic</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2. Full N = 4, K = 256 tile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Every A and B memory macro</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3. One layer row</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Tiled layer mapping</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4. Complete 784-pixel image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Full generator path</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5. Pad-level serial protocol</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External host behavior</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6. Routed full-image simulation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Post-route datapath correctness</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7. Routed serial simulation</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Post-route interface correctness</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AA475D9-5EE5-47BA-AE81-3FDCCE41F6AF}"/>
              </a:ext>
            </a:extLst>
          </p:cNvPr>
          <p:cNvSpPr>
            <a:spLocks xmlns:a="http://schemas.openxmlformats.org/drawingml/2006/main" noGrp="1"/>
          </p:cNvSpPr>
          <p:nvPr/>
        </p:nvSpPr>
        <p:spPr>
          <a:xfrm xmlns:a="http://schemas.openxmlformats.org/drawingml/2006/main">
            <a:off x="1809750" y="8905875"/>
            <a:ext cx="1428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1">
                <a:solidFill>
                  <a:srgbClr val="0E749A"/>
                </a:solidFill>
                <a:latin typeface="Inter Bold"/>
                <a:ea typeface="Inter Bold"/>
                <a:cs typeface="Inter Bold"/>
              </a:defRPr>
            </a:defPPr>
            <a:lvl1pPr>
              <a:defRPr sz="2400" b="1">
                <a:solidFill>
                  <a:srgbClr val="0E749A"/>
                </a:solidFill>
                <a:latin typeface="Inter Bold"/>
                <a:ea typeface="Inter Bold"/>
                <a:cs typeface="Inter Bold"/>
              </a:defRPr>
            </a:lvl1pPr>
            <a:lvl2pPr>
              <a:defRPr sz="2400" b="1">
                <a:solidFill>
                  <a:srgbClr val="0E749A"/>
                </a:solidFill>
                <a:latin typeface="Inter Bold"/>
                <a:ea typeface="Inter Bold"/>
                <a:cs typeface="Inter Bold"/>
              </a:defRPr>
            </a:lvl2pPr>
            <a:lvl3pPr>
              <a:defRPr sz="2400" b="1">
                <a:solidFill>
                  <a:srgbClr val="0E749A"/>
                </a:solidFill>
                <a:latin typeface="Inter Bold"/>
                <a:ea typeface="Inter Bold"/>
                <a:cs typeface="Inter Bold"/>
              </a:defRPr>
            </a:lvl3pPr>
            <a:lvl4pPr>
              <a:defRPr sz="2400" b="1">
                <a:solidFill>
                  <a:srgbClr val="0E749A"/>
                </a:solidFill>
                <a:latin typeface="Inter Bold"/>
                <a:ea typeface="Inter Bold"/>
                <a:cs typeface="Inter Bold"/>
              </a:defRPr>
            </a:lvl4pPr>
            <a:lvl5pPr>
              <a:defRPr sz="2400" b="1">
                <a:solidFill>
                  <a:srgbClr val="0E749A"/>
                </a:solidFill>
                <a:latin typeface="Inter Bold"/>
                <a:ea typeface="Inter Bold"/>
                <a:cs typeface="Inter Bold"/>
              </a:defRPr>
            </a:lvl5pPr>
            <a:lvl6pPr>
              <a:defRPr sz="2400" b="1">
                <a:solidFill>
                  <a:srgbClr val="0E749A"/>
                </a:solidFill>
                <a:latin typeface="Inter Bold"/>
                <a:ea typeface="Inter Bold"/>
                <a:cs typeface="Inter Bold"/>
              </a:defRPr>
            </a:lvl6pPr>
            <a:lvl7pPr>
              <a:defRPr sz="2400" b="1">
                <a:solidFill>
                  <a:srgbClr val="0E749A"/>
                </a:solidFill>
                <a:latin typeface="Inter Bold"/>
                <a:ea typeface="Inter Bold"/>
                <a:cs typeface="Inter Bold"/>
              </a:defRPr>
            </a:lvl7pPr>
            <a:lvl8pPr>
              <a:defRPr sz="2400" b="1">
                <a:solidFill>
                  <a:srgbClr val="0E749A"/>
                </a:solidFill>
                <a:latin typeface="Inter Bold"/>
                <a:ea typeface="Inter Bold"/>
                <a:cs typeface="Inter Bold"/>
              </a:defRPr>
            </a:lvl8pPr>
            <a:lvl9pPr>
              <a:defRPr sz="2400" b="1">
                <a:solidFill>
                  <a:srgbClr val="0E749A"/>
                </a:solidFill>
                <a:latin typeface="Inter Bold"/>
                <a:ea typeface="Inter Bold"/>
                <a:cs typeface="Inter Bold"/>
              </a:defRPr>
            </a:lvl9pPr>
          </a:lstStyle>
          <a:p xmlns:a="http://schemas.openxmlformats.org/drawingml/2006/main">
            <a:pPr>
              <a:defRPr sz="2400" b="1">
                <a:solidFill>
                  <a:srgbClr val="0E749A"/>
                </a:solidFill>
                <a:latin typeface="Inter Bold"/>
                <a:ea typeface="Inter Bold"/>
                <a:cs typeface="Inter Bold"/>
              </a:defRPr>
            </a:pPr>
            <a:r>
              <a:rPr sz="2400" b="1">
                <a:solidFill>
                  <a:srgbClr val="0E749A"/>
                </a:solidFill>
                <a:latin typeface="Inter Bold"/>
                <a:ea typeface="Inter Bold"/>
                <a:cs typeface="Inter Bold"/>
              </a:rPr>
              <a:t>All seven match Python golden vectors. “Bit-exact” refers to the quantized reference.</a:t>
            </a:r>
          </a:p>
        </p:txBody>
      </p:sp>
      <p:sp>
        <p:nvSpPr>
          <p:cNvPr id="7" name="">
            <a:extLst xmlns:a="http://schemas.openxmlformats.org/drawingml/2006/main">
              <a:ext uri="{FF2B5EF4-FFF2-40B4-BE49-F238E27FC236}">
                <a16:creationId xmlns:a16="http://schemas.microsoft.com/office/drawing/2014/main" id="{748B2BF8-421D-40DD-A081-A68D2C349C7E}"/>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A10</a:t>
            </a:r>
          </a:p>
        </p:txBody>
      </p:sp>
    </p:spTree>
    <p:extLst>
      <p:ext uri="{BB962C8B-B14F-4D97-AF65-F5344CB8AC3E}">
        <p14:creationId xmlns:p14="http://schemas.microsoft.com/office/powerpoint/2010/main" val="208513632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FEADA1C-1230-4939-B562-EA4DC5D38398}"/>
              </a:ext>
            </a:extLst>
          </p:cNvPr>
          <p:cNvPicPr>
            <a:picLocks xmlns:a="http://schemas.openxmlformats.org/drawingml/2006/main" noChangeAspect="1"/>
          </p:cNvPicPr>
          <p:nvPr/>
        </p:nvPicPr>
        <p:blipFill>
          <a:blip xmlns:r="http://schemas.openxmlformats.org/officeDocument/2006/relationships" xmlns:a="http://schemas.openxmlformats.org/drawingml/2006/main" r:embed="Ra2165e4f11c84fc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189654-6ACC-4B5E-909E-0118BCB64DD1}"/>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A11</a:t>
            </a:r>
          </a:p>
        </p:txBody>
      </p:sp>
      <p:sp>
        <p:nvSpPr>
          <p:cNvPr id="3" name="">
            <a:extLst xmlns:a="http://schemas.openxmlformats.org/drawingml/2006/main">
              <a:ext uri="{FF2B5EF4-FFF2-40B4-BE49-F238E27FC236}">
                <a16:creationId xmlns:a16="http://schemas.microsoft.com/office/drawing/2014/main" id="{6FDFA14F-6402-4863-8385-B3015D0FF503}"/>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46E0BF28-E9DB-44A0-865E-678F947931BE}"/>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Read latency caused interface-specific bugs</a:t>
            </a:r>
          </a:p>
        </p:txBody>
      </p:sp>
      <p:graphicFrame>
        <p:nvGraphicFramePr>
          <p:cNvPr id="5" name="">
            <a:extLst xmlns:a="http://schemas.openxmlformats.org/drawingml/2006/main">
              <a:ext uri="{FF2B5EF4-FFF2-40B4-BE49-F238E27FC236}">
                <a16:creationId xmlns:a16="http://schemas.microsoft.com/office/drawing/2014/main" id="{479F208E-E212-44FB-82AF-E35DE72B6E9A}"/>
              </a:ext>
            </a:extLst>
          </p:cNvPr>
          <p:cNvGraphicFramePr/>
          <p:nvPr/>
        </p:nvGraphicFramePr>
        <p:xfrm>
          <a:off xmlns:a="http://schemas.openxmlformats.org/drawingml/2006/main" x="1809750" y="3952875"/>
          <a:ext xmlns:a="http://schemas.openxmlformats.org/drawingml/2006/main" cx="14097000" cy="3524250"/>
        </p:xfrm>
        <a:graphic xmlns:a="http://schemas.openxmlformats.org/drawingml/2006/main">
          <a:graphicData uri="http://schemas.openxmlformats.org/drawingml/2006/table">
            <a:tbl>
              <a:tblPr/>
              <a:tblGrid>
                <a:gridCol w="5715000"/>
                <a:gridCol w="8382000"/>
              </a:tblGrid>
              <a:tr h="587375">
                <a:tc>
                  <a:txBody>
                    <a:bodyPr/>
                    <a:lstStyle/>
                    <a:p>
                      <a:r>
                        <a:rPr sz="2250" b="1">
                          <a:solidFill>
                            <a:srgbClr val="FFFFFF"/>
                          </a:solidFill>
                          <a:latin typeface="Inter Bold"/>
                          <a:ea typeface="Inter Bold"/>
                          <a:cs typeface="Inter Bold"/>
                        </a:rPr>
                        <a:t>Caller or condition</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250" b="1">
                          <a:solidFill>
                            <a:srgbClr val="FFFFFF"/>
                          </a:solidFill>
                          <a:latin typeface="Inter Bold"/>
                          <a:ea typeface="Inter Bold"/>
                          <a:cs typeface="Inter Bold"/>
                        </a:rPr>
                        <a:t>Required behavior</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587375">
                <a:tc>
                  <a:txBody>
                    <a:bodyPr/>
                    <a:lstStyle/>
                    <a:p>
                      <a:r>
                        <a:rPr sz="2250" b="0">
                          <a:solidFill>
                            <a:srgbClr val="002B57"/>
                          </a:solidFill>
                          <a:latin typeface="Inter"/>
                          <a:ea typeface="Inter"/>
                          <a:cs typeface="Inter"/>
                        </a:rPr>
                        <a:t>Word address changes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Restart the byte-plane read sequence</a:t>
                      </a:r>
                    </a:p>
                  </a:txBody>
                  <a:tcPr marL="91440" marR="91440" marT="45720" marB="45720">
                    <a:lnR w="9525">
                      <a:solidFill>
                        <a:srgbClr val="D4DEE3"/>
                      </a:solidFill>
                      <a:prstDash val="solid"/>
                    </a:lnR>
                    <a:lnB w="9525">
                      <a:solidFill>
                        <a:srgbClr val="D4DEE3"/>
                      </a:solidFill>
                      <a:prstDash val="solid"/>
                    </a:lnB>
                    <a:solidFill>
                      <a:srgbClr val="FFFFFF"/>
                    </a:solidFill>
                  </a:tcPr>
                </a:tc>
              </a:tr>
              <a:tr h="587375">
                <a:tc>
                  <a:txBody>
                    <a:bodyPr/>
                    <a:lstStyle/>
                    <a:p>
                      <a:r>
                        <a:rPr sz="2250" b="0">
                          <a:solidFill>
                            <a:srgbClr val="002B57"/>
                          </a:solidFill>
                          <a:latin typeface="Inter"/>
                          <a:ea typeface="Inter"/>
                          <a:cs typeface="Inter"/>
                        </a:rPr>
                        <a:t>On-chip RTL caller</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Allow the fourth-cycle result-valid contract</a:t>
                      </a:r>
                    </a:p>
                  </a:txBody>
                  <a:tcPr marL="91440" marR="91440" marT="45720" marB="45720">
                    <a:lnR w="9525">
                      <a:solidFill>
                        <a:srgbClr val="D4DEE3"/>
                      </a:solidFill>
                      <a:prstDash val="solid"/>
                    </a:lnR>
                    <a:lnB w="9525">
                      <a:solidFill>
                        <a:srgbClr val="D4DEE3"/>
                      </a:solidFill>
                      <a:prstDash val="solid"/>
                    </a:lnB>
                    <a:solidFill>
                      <a:srgbClr val="FFFFFF"/>
                    </a:solidFill>
                  </a:tcPr>
                </a:tc>
              </a:tr>
              <a:tr h="587375">
                <a:tc>
                  <a:txBody>
                    <a:bodyPr/>
                    <a:lstStyle/>
                    <a:p>
                      <a:r>
                        <a:rPr sz="2250" b="0">
                          <a:solidFill>
                            <a:srgbClr val="002B57"/>
                          </a:solidFill>
                          <a:latin typeface="Inter"/>
                          <a:ea typeface="Inter"/>
                          <a:cs typeface="Inter"/>
                        </a:rPr>
                        <a:t>Registered serial read-enable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An extra wait cycle and reasserted enable</a:t>
                      </a:r>
                    </a:p>
                  </a:txBody>
                  <a:tcPr marL="91440" marR="91440" marT="45720" marB="45720">
                    <a:lnR w="9525">
                      <a:solidFill>
                        <a:srgbClr val="D4DEE3"/>
                      </a:solidFill>
                      <a:prstDash val="solid"/>
                    </a:lnR>
                    <a:lnB w="9525">
                      <a:solidFill>
                        <a:srgbClr val="D4DEE3"/>
                      </a:solidFill>
                      <a:prstDash val="solid"/>
                    </a:lnB>
                    <a:solidFill>
                      <a:srgbClr val="FFFFFF"/>
                    </a:solidFill>
                  </a:tcPr>
                </a:tc>
              </a:tr>
              <a:tr h="587375">
                <a:tc>
                  <a:txBody>
                    <a:bodyPr/>
                    <a:lstStyle/>
                    <a:p>
                      <a:r>
                        <a:rPr sz="2250" b="0">
                          <a:solidFill>
                            <a:srgbClr val="002B57"/>
                          </a:solidFill>
                          <a:latin typeface="Inter"/>
                          <a:ea typeface="Inter"/>
                          <a:cs typeface="Inter"/>
                        </a:rPr>
                        <a:t>Testbench sampling</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Five clock edges where RTL callers use four</a:t>
                      </a:r>
                    </a:p>
                  </a:txBody>
                  <a:tcPr marL="91440" marR="91440" marT="45720" marB="45720">
                    <a:lnR w="9525">
                      <a:solidFill>
                        <a:srgbClr val="D4DEE3"/>
                      </a:solidFill>
                      <a:prstDash val="solid"/>
                    </a:lnR>
                    <a:lnB w="9525">
                      <a:solidFill>
                        <a:srgbClr val="D4DEE3"/>
                      </a:solidFill>
                      <a:prstDash val="solid"/>
                    </a:lnB>
                    <a:solidFill>
                      <a:srgbClr val="FFFFFF"/>
                    </a:solidFill>
                  </a:tcPr>
                </a:tc>
              </a:tr>
              <a:tr h="587375">
                <a:tc>
                  <a:txBody>
                    <a:bodyPr/>
                    <a:lstStyle/>
                    <a:p>
                      <a:r>
                        <a:rPr sz="2250" b="0">
                          <a:solidFill>
                            <a:srgbClr val="002B57"/>
                          </a:solidFill>
                          <a:latin typeface="Inter"/>
                          <a:ea typeface="Inter"/>
                          <a:cs typeface="Inter"/>
                        </a:rPr>
                        <a:t>Host serial READ C</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250" b="0">
                          <a:solidFill>
                            <a:srgbClr val="002B57"/>
                          </a:solidFill>
                          <a:latin typeface="Inter"/>
                          <a:ea typeface="Inter"/>
                          <a:cs typeface="Inter"/>
                        </a:rPr>
                        <a:t>Leave nine core clocks after the last address bit</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40DF5EA-DEBF-47AD-9B49-B55B8F187C81}"/>
              </a:ext>
            </a:extLst>
          </p:cNvPr>
          <p:cNvSpPr>
            <a:spLocks xmlns:a="http://schemas.openxmlformats.org/drawingml/2006/main" noGrp="1"/>
          </p:cNvSpPr>
          <p:nvPr/>
        </p:nvSpPr>
        <p:spPr>
          <a:xfrm xmlns:a="http://schemas.openxmlformats.org/drawingml/2006/main">
            <a:off x="1809750" y="8334375"/>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925" b="1">
                <a:solidFill>
                  <a:srgbClr val="0E749A"/>
                </a:solidFill>
                <a:latin typeface="Inter Bold"/>
                <a:ea typeface="Inter Bold"/>
                <a:cs typeface="Inter Bold"/>
              </a:defRPr>
            </a:defPPr>
            <a:lvl1pPr>
              <a:defRPr sz="2925" b="1">
                <a:solidFill>
                  <a:srgbClr val="0E749A"/>
                </a:solidFill>
                <a:latin typeface="Inter Bold"/>
                <a:ea typeface="Inter Bold"/>
                <a:cs typeface="Inter Bold"/>
              </a:defRPr>
            </a:lvl1pPr>
            <a:lvl2pPr>
              <a:defRPr sz="2925" b="1">
                <a:solidFill>
                  <a:srgbClr val="0E749A"/>
                </a:solidFill>
                <a:latin typeface="Inter Bold"/>
                <a:ea typeface="Inter Bold"/>
                <a:cs typeface="Inter Bold"/>
              </a:defRPr>
            </a:lvl2pPr>
            <a:lvl3pPr>
              <a:defRPr sz="2925" b="1">
                <a:solidFill>
                  <a:srgbClr val="0E749A"/>
                </a:solidFill>
                <a:latin typeface="Inter Bold"/>
                <a:ea typeface="Inter Bold"/>
                <a:cs typeface="Inter Bold"/>
              </a:defRPr>
            </a:lvl3pPr>
            <a:lvl4pPr>
              <a:defRPr sz="2925" b="1">
                <a:solidFill>
                  <a:srgbClr val="0E749A"/>
                </a:solidFill>
                <a:latin typeface="Inter Bold"/>
                <a:ea typeface="Inter Bold"/>
                <a:cs typeface="Inter Bold"/>
              </a:defRPr>
            </a:lvl4pPr>
            <a:lvl5pPr>
              <a:defRPr sz="2925" b="1">
                <a:solidFill>
                  <a:srgbClr val="0E749A"/>
                </a:solidFill>
                <a:latin typeface="Inter Bold"/>
                <a:ea typeface="Inter Bold"/>
                <a:cs typeface="Inter Bold"/>
              </a:defRPr>
            </a:lvl5pPr>
            <a:lvl6pPr>
              <a:defRPr sz="2925" b="1">
                <a:solidFill>
                  <a:srgbClr val="0E749A"/>
                </a:solidFill>
                <a:latin typeface="Inter Bold"/>
                <a:ea typeface="Inter Bold"/>
                <a:cs typeface="Inter Bold"/>
              </a:defRPr>
            </a:lvl6pPr>
            <a:lvl7pPr>
              <a:defRPr sz="2925" b="1">
                <a:solidFill>
                  <a:srgbClr val="0E749A"/>
                </a:solidFill>
                <a:latin typeface="Inter Bold"/>
                <a:ea typeface="Inter Bold"/>
                <a:cs typeface="Inter Bold"/>
              </a:defRPr>
            </a:lvl7pPr>
            <a:lvl8pPr>
              <a:defRPr sz="2925" b="1">
                <a:solidFill>
                  <a:srgbClr val="0E749A"/>
                </a:solidFill>
                <a:latin typeface="Inter Bold"/>
                <a:ea typeface="Inter Bold"/>
                <a:cs typeface="Inter Bold"/>
              </a:defRPr>
            </a:lvl8pPr>
            <a:lvl9pPr>
              <a:defRPr sz="2925" b="1">
                <a:solidFill>
                  <a:srgbClr val="0E749A"/>
                </a:solidFill>
                <a:latin typeface="Inter Bold"/>
                <a:ea typeface="Inter Bold"/>
                <a:cs typeface="Inter Bold"/>
              </a:defRPr>
            </a:lvl9pPr>
          </a:lstStyle>
          <a:p xmlns:a="http://schemas.openxmlformats.org/drawingml/2006/main">
            <a:pPr>
              <a:defRPr sz="2925" b="1">
                <a:solidFill>
                  <a:srgbClr val="0E749A"/>
                </a:solidFill>
                <a:latin typeface="Inter Bold"/>
                <a:ea typeface="Inter Bold"/>
                <a:cs typeface="Inter Bold"/>
              </a:defRPr>
            </a:pPr>
            <a:r>
              <a:rPr sz="2925" b="1">
                <a:solidFill>
                  <a:srgbClr val="0E749A"/>
                </a:solidFill>
                <a:latin typeface="Inter Bold"/>
                <a:ea typeface="Inter Bold"/>
                <a:cs typeface="Inter Bold"/>
              </a:rPr>
              <a:t>Changing one wide access into several narrow accesses changes every caller.</a:t>
            </a:r>
          </a:p>
        </p:txBody>
      </p:sp>
      <p:sp>
        <p:nvSpPr>
          <p:cNvPr id="7" name="">
            <a:extLst xmlns:a="http://schemas.openxmlformats.org/drawingml/2006/main">
              <a:ext uri="{FF2B5EF4-FFF2-40B4-BE49-F238E27FC236}">
                <a16:creationId xmlns:a16="http://schemas.microsoft.com/office/drawing/2014/main" id="{04F45EAE-39C7-4919-9E5A-E166F32EEB76}"/>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A11</a:t>
            </a:r>
          </a:p>
        </p:txBody>
      </p:sp>
    </p:spTree>
    <p:extLst>
      <p:ext uri="{BB962C8B-B14F-4D97-AF65-F5344CB8AC3E}">
        <p14:creationId xmlns:p14="http://schemas.microsoft.com/office/powerpoint/2010/main" val="132534877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06B3767-1EC0-4E94-A36D-F044B62614EB}"/>
              </a:ext>
            </a:extLst>
          </p:cNvPr>
          <p:cNvPicPr>
            <a:picLocks xmlns:a="http://schemas.openxmlformats.org/drawingml/2006/main" noChangeAspect="1"/>
          </p:cNvPicPr>
          <p:nvPr/>
        </p:nvPicPr>
        <p:blipFill>
          <a:blip xmlns:r="http://schemas.openxmlformats.org/officeDocument/2006/relationships" xmlns:a="http://schemas.openxmlformats.org/drawingml/2006/main" r:embed="R037807c83e44468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3CB6BDC-06AB-4C4B-98D9-C58756A6EA5D}"/>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A12</a:t>
            </a:r>
          </a:p>
        </p:txBody>
      </p:sp>
      <p:sp>
        <p:nvSpPr>
          <p:cNvPr id="3" name="">
            <a:extLst xmlns:a="http://schemas.openxmlformats.org/drawingml/2006/main">
              <a:ext uri="{FF2B5EF4-FFF2-40B4-BE49-F238E27FC236}">
                <a16:creationId xmlns:a16="http://schemas.microsoft.com/office/drawing/2014/main" id="{646F97B1-8607-4DA1-A52A-0D67FBF3D830}"/>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A50D6769-3CD4-4F32-98F3-E7A42775FDF6}"/>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Full antenna sweep identifies the failing macro</a:t>
            </a:r>
          </a:p>
        </p:txBody>
      </p:sp>
      <p:graphicFrame>
        <p:nvGraphicFramePr>
          <p:cNvPr id="5" name="">
            <a:extLst xmlns:a="http://schemas.openxmlformats.org/drawingml/2006/main">
              <a:ext uri="{FF2B5EF4-FFF2-40B4-BE49-F238E27FC236}">
                <a16:creationId xmlns:a16="http://schemas.microsoft.com/office/drawing/2014/main" id="{8C9C22EE-626A-4B74-A21D-54B1A740C748}"/>
              </a:ext>
            </a:extLst>
          </p:cNvPr>
          <p:cNvGraphicFramePr/>
          <p:nvPr/>
        </p:nvGraphicFramePr>
        <p:xfrm>
          <a:off xmlns:a="http://schemas.openxmlformats.org/drawingml/2006/main" x="1809750" y="3905250"/>
          <a:ext xmlns:a="http://schemas.openxmlformats.org/drawingml/2006/main" cx="14097000" cy="4286250"/>
        </p:xfrm>
        <a:graphic xmlns:a="http://schemas.openxmlformats.org/drawingml/2006/main">
          <a:graphicData uri="http://schemas.openxmlformats.org/drawingml/2006/table">
            <a:tbl>
              <a:tblPr/>
              <a:tblGrid>
                <a:gridCol w="5905500"/>
                <a:gridCol w="2190750"/>
                <a:gridCol w="2857500"/>
                <a:gridCol w="3143250"/>
              </a:tblGrid>
              <a:tr h="476250">
                <a:tc>
                  <a:txBody>
                    <a:bodyPr/>
                    <a:lstStyle/>
                    <a:p>
                      <a:r>
                        <a:rPr sz="2025" b="1">
                          <a:solidFill>
                            <a:srgbClr val="FFFFFF"/>
                          </a:solidFill>
                          <a:latin typeface="Inter Bold"/>
                          <a:ea typeface="Inter Bold"/>
                          <a:cs typeface="Inter Bold"/>
                        </a:rPr>
                        <a:t>Placement</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025" b="1">
                          <a:solidFill>
                            <a:srgbClr val="FFFFFF"/>
                          </a:solidFill>
                          <a:latin typeface="Inter Bold"/>
                          <a:ea typeface="Inter Bold"/>
                          <a:cs typeface="Inter Bold"/>
                        </a:rPr>
                        <a:t>Density</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025" b="1">
                          <a:solidFill>
                            <a:srgbClr val="FFFFFF"/>
                          </a:solidFill>
                          <a:latin typeface="Inter Bold"/>
                          <a:ea typeface="Inter Bold"/>
                          <a:cs typeface="Inter Bold"/>
                        </a:rPr>
                        <a:t>Violating nets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025" b="1">
                          <a:solidFill>
                            <a:srgbClr val="FFFFFF"/>
                          </a:solidFill>
                          <a:latin typeface="Inter Bold"/>
                          <a:ea typeface="Inter Bold"/>
                          <a:cs typeface="Inter Bold"/>
                        </a:rPr>
                        <a:t>Worst ratio / limit</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476250">
                <a:tc>
                  <a:txBody>
                    <a:bodyPr/>
                    <a:lstStyle/>
                    <a:p>
                      <a:r>
                        <a:rPr sz="2025" b="0">
                          <a:solidFill>
                            <a:srgbClr val="002B57"/>
                          </a:solidFill>
                          <a:latin typeface="Inter"/>
                          <a:ea typeface="Inter"/>
                          <a:cs typeface="Inter"/>
                        </a:rPr>
                        <a:t>Original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63</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2.18</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Original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59</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1.73</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Original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1.09</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Original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1.10</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Original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51</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1.49</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B/C swap</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B/C swap</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54</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a:t>
                      </a:r>
                    </a:p>
                  </a:txBody>
                  <a:tcPr marL="91440" marR="91440" marT="45720" marB="45720">
                    <a:lnR w="9525">
                      <a:solidFill>
                        <a:srgbClr val="D4DEE3"/>
                      </a:solidFill>
                      <a:prstDash val="solid"/>
                    </a:lnR>
                    <a:lnB w="9525">
                      <a:solidFill>
                        <a:srgbClr val="D4DEE3"/>
                      </a:solidFill>
                      <a:prstDash val="solid"/>
                    </a:lnB>
                    <a:solidFill>
                      <a:srgbClr val="FFFFFF"/>
                    </a:solidFill>
                  </a:tcPr>
                </a:tc>
              </a:tr>
              <a:tr h="476250">
                <a:tc>
                  <a:txBody>
                    <a:bodyPr/>
                    <a:lstStyle/>
                    <a:p>
                      <a:r>
                        <a:rPr sz="2025" b="0">
                          <a:solidFill>
                            <a:srgbClr val="002B57"/>
                          </a:solidFill>
                          <a:latin typeface="Inter"/>
                          <a:ea typeface="Inter"/>
                          <a:cs typeface="Inter"/>
                        </a:rPr>
                        <a:t>Original grid, diode margin 50</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56</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025" b="0">
                          <a:solidFill>
                            <a:srgbClr val="002B57"/>
                          </a:solidFill>
                          <a:latin typeface="Inter"/>
                          <a:ea typeface="Inter"/>
                          <a:cs typeface="Inter"/>
                        </a:rPr>
                        <a:t>—</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47DAE1F-72D3-4E71-BC70-BDB49B259CFF}"/>
              </a:ext>
            </a:extLst>
          </p:cNvPr>
          <p:cNvSpPr>
            <a:spLocks xmlns:a="http://schemas.openxmlformats.org/drawingml/2006/main" noGrp="1"/>
          </p:cNvSpPr>
          <p:nvPr/>
        </p:nvSpPr>
        <p:spPr>
          <a:xfrm xmlns:a="http://schemas.openxmlformats.org/drawingml/2006/main">
            <a:off x="1809750" y="862012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625" b="1">
                <a:solidFill>
                  <a:srgbClr val="0E749A"/>
                </a:solidFill>
                <a:latin typeface="Inter Bold"/>
                <a:ea typeface="Inter Bold"/>
                <a:cs typeface="Inter Bold"/>
              </a:defRPr>
            </a:defPPr>
            <a:lvl1pPr>
              <a:defRPr sz="2625" b="1">
                <a:solidFill>
                  <a:srgbClr val="0E749A"/>
                </a:solidFill>
                <a:latin typeface="Inter Bold"/>
                <a:ea typeface="Inter Bold"/>
                <a:cs typeface="Inter Bold"/>
              </a:defRPr>
            </a:lvl1pPr>
            <a:lvl2pPr>
              <a:defRPr sz="2625" b="1">
                <a:solidFill>
                  <a:srgbClr val="0E749A"/>
                </a:solidFill>
                <a:latin typeface="Inter Bold"/>
                <a:ea typeface="Inter Bold"/>
                <a:cs typeface="Inter Bold"/>
              </a:defRPr>
            </a:lvl2pPr>
            <a:lvl3pPr>
              <a:defRPr sz="2625" b="1">
                <a:solidFill>
                  <a:srgbClr val="0E749A"/>
                </a:solidFill>
                <a:latin typeface="Inter Bold"/>
                <a:ea typeface="Inter Bold"/>
                <a:cs typeface="Inter Bold"/>
              </a:defRPr>
            </a:lvl3pPr>
            <a:lvl4pPr>
              <a:defRPr sz="2625" b="1">
                <a:solidFill>
                  <a:srgbClr val="0E749A"/>
                </a:solidFill>
                <a:latin typeface="Inter Bold"/>
                <a:ea typeface="Inter Bold"/>
                <a:cs typeface="Inter Bold"/>
              </a:defRPr>
            </a:lvl4pPr>
            <a:lvl5pPr>
              <a:defRPr sz="2625" b="1">
                <a:solidFill>
                  <a:srgbClr val="0E749A"/>
                </a:solidFill>
                <a:latin typeface="Inter Bold"/>
                <a:ea typeface="Inter Bold"/>
                <a:cs typeface="Inter Bold"/>
              </a:defRPr>
            </a:lvl5pPr>
            <a:lvl6pPr>
              <a:defRPr sz="2625" b="1">
                <a:solidFill>
                  <a:srgbClr val="0E749A"/>
                </a:solidFill>
                <a:latin typeface="Inter Bold"/>
                <a:ea typeface="Inter Bold"/>
                <a:cs typeface="Inter Bold"/>
              </a:defRPr>
            </a:lvl6pPr>
            <a:lvl7pPr>
              <a:defRPr sz="2625" b="1">
                <a:solidFill>
                  <a:srgbClr val="0E749A"/>
                </a:solidFill>
                <a:latin typeface="Inter Bold"/>
                <a:ea typeface="Inter Bold"/>
                <a:cs typeface="Inter Bold"/>
              </a:defRPr>
            </a:lvl7pPr>
            <a:lvl8pPr>
              <a:defRPr sz="2625" b="1">
                <a:solidFill>
                  <a:srgbClr val="0E749A"/>
                </a:solidFill>
                <a:latin typeface="Inter Bold"/>
                <a:ea typeface="Inter Bold"/>
                <a:cs typeface="Inter Bold"/>
              </a:defRPr>
            </a:lvl8pPr>
            <a:lvl9pPr>
              <a:defRPr sz="2625" b="1">
                <a:solidFill>
                  <a:srgbClr val="0E749A"/>
                </a:solidFill>
                <a:latin typeface="Inter Bold"/>
                <a:ea typeface="Inter Bold"/>
                <a:cs typeface="Inter Bold"/>
              </a:defRPr>
            </a:lvl9pPr>
          </a:lstStyle>
          <a:p xmlns:a="http://schemas.openxmlformats.org/drawingml/2006/main">
            <a:pPr>
              <a:defRPr sz="2625" b="1">
                <a:solidFill>
                  <a:srgbClr val="0E749A"/>
                </a:solidFill>
                <a:latin typeface="Inter Bold"/>
                <a:ea typeface="Inter Bold"/>
                <a:cs typeface="Inter Bold"/>
              </a:defRPr>
            </a:pPr>
            <a:r>
              <a:rPr sz="2625" b="1">
                <a:solidFill>
                  <a:srgbClr val="0E749A"/>
                </a:solidFill>
                <a:latin typeface="Inter Bold"/>
                <a:ea typeface="Inter Bold"/>
                <a:cs typeface="Inter Bold"/>
              </a:rPr>
              <a:t>GEN_B_COLS[1] repeatedly violated. Moving it inward closed the issue.</a:t>
            </a:r>
          </a:p>
        </p:txBody>
      </p:sp>
      <p:sp>
        <p:nvSpPr>
          <p:cNvPr id="7" name="">
            <a:extLst xmlns:a="http://schemas.openxmlformats.org/drawingml/2006/main">
              <a:ext uri="{FF2B5EF4-FFF2-40B4-BE49-F238E27FC236}">
                <a16:creationId xmlns:a16="http://schemas.microsoft.com/office/drawing/2014/main" id="{F553D0CF-3293-40CE-9A89-F6A058C1AA30}"/>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A12</a:t>
            </a:r>
          </a:p>
        </p:txBody>
      </p:sp>
    </p:spTree>
    <p:extLst>
      <p:ext uri="{BB962C8B-B14F-4D97-AF65-F5344CB8AC3E}">
        <p14:creationId xmlns:p14="http://schemas.microsoft.com/office/powerpoint/2010/main" val="100803382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164497C-1D56-4BFF-A997-15BA59633D39}"/>
              </a:ext>
            </a:extLst>
          </p:cNvPr>
          <p:cNvPicPr>
            <a:picLocks xmlns:a="http://schemas.openxmlformats.org/drawingml/2006/main" noChangeAspect="1"/>
          </p:cNvPicPr>
          <p:nvPr/>
        </p:nvPicPr>
        <p:blipFill>
          <a:blip xmlns:r="http://schemas.openxmlformats.org/officeDocument/2006/relationships" xmlns:a="http://schemas.openxmlformats.org/drawingml/2006/main" r:embed="R73711c4f635b4e6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4F15AA-D4A1-47CF-A1B3-6782545A7860}"/>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A13</a:t>
            </a:r>
          </a:p>
        </p:txBody>
      </p:sp>
      <p:sp>
        <p:nvSpPr>
          <p:cNvPr id="3" name="">
            <a:extLst xmlns:a="http://schemas.openxmlformats.org/drawingml/2006/main">
              <a:ext uri="{FF2B5EF4-FFF2-40B4-BE49-F238E27FC236}">
                <a16:creationId xmlns:a16="http://schemas.microsoft.com/office/drawing/2014/main" id="{5B371437-9E07-4DC5-BD7E-AC5996AE3DAA}"/>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772E4093-B1E0-4C26-A651-DE50D8A64FB0}"/>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Physical hardening and library integration details</a:t>
            </a:r>
          </a:p>
        </p:txBody>
      </p:sp>
      <p:graphicFrame>
        <p:nvGraphicFramePr>
          <p:cNvPr id="5" name="">
            <a:extLst xmlns:a="http://schemas.openxmlformats.org/drawingml/2006/main">
              <a:ext uri="{FF2B5EF4-FFF2-40B4-BE49-F238E27FC236}">
                <a16:creationId xmlns:a16="http://schemas.microsoft.com/office/drawing/2014/main" id="{AFDC222F-40F9-4CA1-BA94-8AC3B05DE75C}"/>
              </a:ext>
            </a:extLst>
          </p:cNvPr>
          <p:cNvGraphicFramePr/>
          <p:nvPr/>
        </p:nvGraphicFramePr>
        <p:xfrm>
          <a:off xmlns:a="http://schemas.openxmlformats.org/drawingml/2006/main" x="1809750" y="3952875"/>
          <a:ext xmlns:a="http://schemas.openxmlformats.org/drawingml/2006/main" cx="14097000" cy="3905250"/>
        </p:xfrm>
        <a:graphic xmlns:a="http://schemas.openxmlformats.org/drawingml/2006/main">
          <a:graphicData uri="http://schemas.openxmlformats.org/drawingml/2006/table">
            <a:tbl>
              <a:tblPr/>
              <a:tblGrid>
                <a:gridCol w="7239000"/>
                <a:gridCol w="6858000"/>
              </a:tblGrid>
              <a:tr h="557893">
                <a:tc>
                  <a:txBody>
                    <a:bodyPr/>
                    <a:lstStyle/>
                    <a:p>
                      <a:r>
                        <a:rPr sz="2100" b="1">
                          <a:solidFill>
                            <a:srgbClr val="FFFFFF"/>
                          </a:solidFill>
                          <a:latin typeface="Inter Bold"/>
                          <a:ea typeface="Inter Bold"/>
                          <a:cs typeface="Inter Bold"/>
                        </a:rPr>
                        <a:t>Implementation choice</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Reason</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557893">
                <a:tc>
                  <a:txBody>
                    <a:bodyPr/>
                    <a:lstStyle/>
                    <a:p>
                      <a:r>
                        <a:rPr sz="2100" b="0">
                          <a:solidFill>
                            <a:srgbClr val="002B57"/>
                          </a:solidFill>
                          <a:latin typeface="Inter"/>
                          <a:ea typeface="Inter"/>
                          <a:cs typeface="Inter"/>
                        </a:rPr>
                        <a:t>Native 3.3 V standard cells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Match SRAM and foundry I/O supply</a:t>
                      </a:r>
                    </a:p>
                  </a:txBody>
                  <a:tcPr marL="91440" marR="91440" marT="45720" marB="45720">
                    <a:lnR w="9525">
                      <a:solidFill>
                        <a:srgbClr val="D4DEE3"/>
                      </a:solidFill>
                      <a:prstDash val="solid"/>
                    </a:lnR>
                    <a:lnB w="9525">
                      <a:solidFill>
                        <a:srgbClr val="D4DEE3"/>
                      </a:solidFill>
                      <a:prstDash val="solid"/>
                    </a:lnB>
                    <a:solidFill>
                      <a:srgbClr val="FFFFFF"/>
                    </a:solidFill>
                  </a:tcPr>
                </a:tc>
              </a:tr>
              <a:tr h="557893">
                <a:tc>
                  <a:txBody>
                    <a:bodyPr/>
                    <a:lstStyle/>
                    <a:p>
                      <a:r>
                        <a:rPr sz="2100" b="0">
                          <a:solidFill>
                            <a:srgbClr val="002B57"/>
                          </a:solidFill>
                          <a:latin typeface="Inter"/>
                          <a:ea typeface="Inter"/>
                          <a:cs typeface="Inter"/>
                        </a:rPr>
                        <a:t>SRAM blackbox synthesis define</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Avoid replacing memories with flip-flops</a:t>
                      </a:r>
                    </a:p>
                  </a:txBody>
                  <a:tcPr marL="91440" marR="91440" marT="45720" marB="45720">
                    <a:lnR w="9525">
                      <a:solidFill>
                        <a:srgbClr val="D4DEE3"/>
                      </a:solidFill>
                      <a:prstDash val="solid"/>
                    </a:lnR>
                    <a:lnB w="9525">
                      <a:solidFill>
                        <a:srgbClr val="D4DEE3"/>
                      </a:solidFill>
                      <a:prstDash val="solid"/>
                    </a:lnB>
                    <a:solidFill>
                      <a:srgbClr val="FFFFFF"/>
                    </a:solidFill>
                  </a:tcPr>
                </a:tc>
              </a:tr>
              <a:tr h="557893">
                <a:tc>
                  <a:txBody>
                    <a:bodyPr/>
                    <a:lstStyle/>
                    <a:p>
                      <a:r>
                        <a:rPr sz="2100" b="0">
                          <a:solidFill>
                            <a:srgbClr val="002B57"/>
                          </a:solidFill>
                          <a:latin typeface="Inter"/>
                          <a:ea typeface="Inter"/>
                          <a:cs typeface="Inter"/>
                        </a:rPr>
                        <a:t>Explicit 3 × 3 macro grid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Maintain routing channels</a:t>
                      </a:r>
                    </a:p>
                  </a:txBody>
                  <a:tcPr marL="91440" marR="91440" marT="45720" marB="45720">
                    <a:lnR w="9525">
                      <a:solidFill>
                        <a:srgbClr val="D4DEE3"/>
                      </a:solidFill>
                      <a:prstDash val="solid"/>
                    </a:lnR>
                    <a:lnB w="9525">
                      <a:solidFill>
                        <a:srgbClr val="D4DEE3"/>
                      </a:solidFill>
                      <a:prstDash val="solid"/>
                    </a:lnB>
                    <a:solidFill>
                      <a:srgbClr val="FFFFFF"/>
                    </a:solidFill>
                  </a:tcPr>
                </a:tc>
              </a:tr>
              <a:tr h="557893">
                <a:tc>
                  <a:txBody>
                    <a:bodyPr/>
                    <a:lstStyle/>
                    <a:p>
                      <a:r>
                        <a:rPr sz="2100" b="0">
                          <a:solidFill>
                            <a:srgbClr val="002B57"/>
                          </a:solidFill>
                          <a:latin typeface="Inter"/>
                          <a:ea typeface="Inter"/>
                          <a:cs typeface="Inter"/>
                        </a:rPr>
                        <a:t>SRAM power connections on Metal3</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SRAM power pins reach that layer</a:t>
                      </a:r>
                    </a:p>
                  </a:txBody>
                  <a:tcPr marL="91440" marR="91440" marT="45720" marB="45720">
                    <a:lnR w="9525">
                      <a:solidFill>
                        <a:srgbClr val="D4DEE3"/>
                      </a:solidFill>
                      <a:prstDash val="solid"/>
                    </a:lnR>
                    <a:lnB w="9525">
                      <a:solidFill>
                        <a:srgbClr val="D4DEE3"/>
                      </a:solidFill>
                      <a:prstDash val="solid"/>
                    </a:lnB>
                    <a:solidFill>
                      <a:srgbClr val="FFFFFF"/>
                    </a:solidFill>
                  </a:tcPr>
                </a:tc>
              </a:tr>
              <a:tr h="557893">
                <a:tc>
                  <a:txBody>
                    <a:bodyPr/>
                    <a:lstStyle/>
                    <a:p>
                      <a:r>
                        <a:rPr sz="2100" b="0">
                          <a:solidFill>
                            <a:srgbClr val="002B57"/>
                          </a:solidFill>
                          <a:latin typeface="Inter"/>
                          <a:ea typeface="Inter"/>
                          <a:cs typeface="Inter"/>
                        </a:rPr>
                        <a:t>Signal routing through Metal5</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Provide routing resources</a:t>
                      </a:r>
                    </a:p>
                  </a:txBody>
                  <a:tcPr marL="91440" marR="91440" marT="45720" marB="45720">
                    <a:lnR w="9525">
                      <a:solidFill>
                        <a:srgbClr val="D4DEE3"/>
                      </a:solidFill>
                      <a:prstDash val="solid"/>
                    </a:lnR>
                    <a:lnB w="9525">
                      <a:solidFill>
                        <a:srgbClr val="D4DEE3"/>
                      </a:solidFill>
                      <a:prstDash val="solid"/>
                    </a:lnB>
                    <a:solidFill>
                      <a:srgbClr val="FFFFFF"/>
                    </a:solidFill>
                  </a:tcPr>
                </a:tc>
              </a:tr>
              <a:tr h="557893">
                <a:tc>
                  <a:txBody>
                    <a:bodyPr/>
                    <a:lstStyle/>
                    <a:p>
                      <a:r>
                        <a:rPr sz="2100" b="0">
                          <a:solidFill>
                            <a:srgbClr val="002B57"/>
                          </a:solidFill>
                          <a:latin typeface="Inter"/>
                          <a:ea typeface="Inter"/>
                          <a:cs typeface="Inter"/>
                        </a:rPr>
                        <a:t>Diodes at placement, router repair disabled</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Avoid the flow’s repair reroute pin-access failure</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B5E422E-4246-4312-A0B6-EDB638BAF3F3}"/>
              </a:ext>
            </a:extLst>
          </p:cNvPr>
          <p:cNvSpPr>
            <a:spLocks xmlns:a="http://schemas.openxmlformats.org/drawingml/2006/main" noGrp="1"/>
          </p:cNvSpPr>
          <p:nvPr/>
        </p:nvSpPr>
        <p:spPr>
          <a:xfrm xmlns:a="http://schemas.openxmlformats.org/drawingml/2006/main">
            <a:off x="1809750" y="8572500"/>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0">
                <a:solidFill>
                  <a:srgbClr val="002B57"/>
                </a:solidFill>
                <a:latin typeface="Inter"/>
                <a:ea typeface="Inter"/>
                <a:cs typeface="Inter"/>
              </a:defRPr>
            </a:defPPr>
            <a:lvl1pPr>
              <a:defRPr sz="2250" b="0">
                <a:solidFill>
                  <a:srgbClr val="002B57"/>
                </a:solidFill>
                <a:latin typeface="Inter"/>
                <a:ea typeface="Inter"/>
                <a:cs typeface="Inter"/>
              </a:defRPr>
            </a:lvl1pPr>
            <a:lvl2pPr>
              <a:defRPr sz="2250" b="0">
                <a:solidFill>
                  <a:srgbClr val="002B57"/>
                </a:solidFill>
                <a:latin typeface="Inter"/>
                <a:ea typeface="Inter"/>
                <a:cs typeface="Inter"/>
              </a:defRPr>
            </a:lvl2pPr>
            <a:lvl3pPr>
              <a:defRPr sz="2250" b="0">
                <a:solidFill>
                  <a:srgbClr val="002B57"/>
                </a:solidFill>
                <a:latin typeface="Inter"/>
                <a:ea typeface="Inter"/>
                <a:cs typeface="Inter"/>
              </a:defRPr>
            </a:lvl3pPr>
            <a:lvl4pPr>
              <a:defRPr sz="2250" b="0">
                <a:solidFill>
                  <a:srgbClr val="002B57"/>
                </a:solidFill>
                <a:latin typeface="Inter"/>
                <a:ea typeface="Inter"/>
                <a:cs typeface="Inter"/>
              </a:defRPr>
            </a:lvl4pPr>
            <a:lvl5pPr>
              <a:defRPr sz="2250" b="0">
                <a:solidFill>
                  <a:srgbClr val="002B57"/>
                </a:solidFill>
                <a:latin typeface="Inter"/>
                <a:ea typeface="Inter"/>
                <a:cs typeface="Inter"/>
              </a:defRPr>
            </a:lvl5pPr>
            <a:lvl6pPr>
              <a:defRPr sz="2250" b="0">
                <a:solidFill>
                  <a:srgbClr val="002B57"/>
                </a:solidFill>
                <a:latin typeface="Inter"/>
                <a:ea typeface="Inter"/>
                <a:cs typeface="Inter"/>
              </a:defRPr>
            </a:lvl6pPr>
            <a:lvl7pPr>
              <a:defRPr sz="2250" b="0">
                <a:solidFill>
                  <a:srgbClr val="002B57"/>
                </a:solidFill>
                <a:latin typeface="Inter"/>
                <a:ea typeface="Inter"/>
                <a:cs typeface="Inter"/>
              </a:defRPr>
            </a:lvl7pPr>
            <a:lvl8pPr>
              <a:defRPr sz="2250" b="0">
                <a:solidFill>
                  <a:srgbClr val="002B57"/>
                </a:solidFill>
                <a:latin typeface="Inter"/>
                <a:ea typeface="Inter"/>
                <a:cs typeface="Inter"/>
              </a:defRPr>
            </a:lvl8pPr>
            <a:lvl9pPr>
              <a:defRPr sz="2250" b="0">
                <a:solidFill>
                  <a:srgbClr val="002B57"/>
                </a:solidFill>
                <a:latin typeface="Inter"/>
                <a:ea typeface="Inter"/>
                <a:cs typeface="Inter"/>
              </a:defRPr>
            </a:lvl9pPr>
          </a:lstStyle>
          <a:p xmlns:a="http://schemas.openxmlformats.org/drawingml/2006/main">
            <a:pPr>
              <a:defRPr sz="2250" b="0">
                <a:solidFill>
                  <a:srgbClr val="002B57"/>
                </a:solidFill>
                <a:latin typeface="Inter"/>
                <a:ea typeface="Inter"/>
                <a:cs typeface="Inter"/>
              </a:defRPr>
            </a:pPr>
            <a:r>
              <a:rPr sz="2250" b="0">
                <a:solidFill>
                  <a:srgbClr val="002B57"/>
                </a:solidFill>
                <a:latin typeface="Inter"/>
                <a:ea typeface="Inter"/>
                <a:cs typeface="Inter"/>
              </a:rPr>
              <a:t>Library fixes: missing corner variable, exclusion-file mismatch and six cell models with $random.</a:t>
            </a:r>
          </a:p>
        </p:txBody>
      </p:sp>
      <p:sp>
        <p:nvSpPr>
          <p:cNvPr id="7" name="">
            <a:extLst xmlns:a="http://schemas.openxmlformats.org/drawingml/2006/main">
              <a:ext uri="{FF2B5EF4-FFF2-40B4-BE49-F238E27FC236}">
                <a16:creationId xmlns:a16="http://schemas.microsoft.com/office/drawing/2014/main" id="{6EDA4E37-E353-402E-AE60-6A58ED2BFFD5}"/>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A13</a:t>
            </a:r>
          </a:p>
        </p:txBody>
      </p:sp>
    </p:spTree>
    <p:extLst>
      <p:ext uri="{BB962C8B-B14F-4D97-AF65-F5344CB8AC3E}">
        <p14:creationId xmlns:p14="http://schemas.microsoft.com/office/powerpoint/2010/main" val="39407175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A456883-F97D-450C-9121-2863FBFF7C95}"/>
              </a:ext>
            </a:extLst>
          </p:cNvPr>
          <p:cNvPicPr>
            <a:picLocks xmlns:a="http://schemas.openxmlformats.org/drawingml/2006/main" noChangeAspect="1"/>
          </p:cNvPicPr>
          <p:nvPr/>
        </p:nvPicPr>
        <p:blipFill>
          <a:blip xmlns:r="http://schemas.openxmlformats.org/officeDocument/2006/relationships" xmlns:a="http://schemas.openxmlformats.org/drawingml/2006/main" r:embed="Rcc4c8fdcbb84456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0B2F0A-8024-4957-AFAA-C2CFEF1FF745}"/>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A14</a:t>
            </a:r>
          </a:p>
        </p:txBody>
      </p:sp>
      <p:sp>
        <p:nvSpPr>
          <p:cNvPr id="3" name="">
            <a:extLst xmlns:a="http://schemas.openxmlformats.org/drawingml/2006/main">
              <a:ext uri="{FF2B5EF4-FFF2-40B4-BE49-F238E27FC236}">
                <a16:creationId xmlns:a16="http://schemas.microsoft.com/office/drawing/2014/main" id="{A8B6C960-9AA6-4B80-AE27-A4F551863F2C}"/>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95AD0174-5822-4E48-9BBF-8FA871C24971}"/>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Full area and timing comparison</a:t>
            </a:r>
          </a:p>
        </p:txBody>
      </p:sp>
      <p:graphicFrame>
        <p:nvGraphicFramePr>
          <p:cNvPr id="5" name="">
            <a:extLst xmlns:a="http://schemas.openxmlformats.org/drawingml/2006/main">
              <a:ext uri="{FF2B5EF4-FFF2-40B4-BE49-F238E27FC236}">
                <a16:creationId xmlns:a16="http://schemas.microsoft.com/office/drawing/2014/main" id="{24DED1EF-F9B2-4FE6-B720-F7D09E24B299}"/>
              </a:ext>
            </a:extLst>
          </p:cNvPr>
          <p:cNvGraphicFramePr/>
          <p:nvPr/>
        </p:nvGraphicFramePr>
        <p:xfrm>
          <a:off xmlns:a="http://schemas.openxmlformats.org/drawingml/2006/main" x="1809750" y="3952875"/>
          <a:ext xmlns:a="http://schemas.openxmlformats.org/drawingml/2006/main" cx="14097000" cy="4191000"/>
        </p:xfrm>
        <a:graphic xmlns:a="http://schemas.openxmlformats.org/drawingml/2006/main">
          <a:graphicData uri="http://schemas.openxmlformats.org/drawingml/2006/table">
            <a:tbl>
              <a:tblPr/>
              <a:tblGrid>
                <a:gridCol w="7810500"/>
                <a:gridCol w="3143250"/>
                <a:gridCol w="3143250"/>
              </a:tblGrid>
              <a:tr h="523875">
                <a:tc>
                  <a:txBody>
                    <a:bodyPr/>
                    <a:lstStyle/>
                    <a:p>
                      <a:r>
                        <a:rPr sz="2100" b="1">
                          <a:solidFill>
                            <a:srgbClr val="FFFFFF"/>
                          </a:solidFill>
                          <a:latin typeface="Inter Bold"/>
                          <a:ea typeface="Inter Bold"/>
                          <a:cs typeface="Inter Bold"/>
                        </a:rPr>
                        <a:t>Metric</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11 macros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100" b="1">
                          <a:solidFill>
                            <a:srgbClr val="FFFFFF"/>
                          </a:solidFill>
                          <a:latin typeface="Inter Bold"/>
                          <a:ea typeface="Inter Bold"/>
                          <a:cs typeface="Inter Bold"/>
                        </a:rPr>
                        <a:t>9 macros</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523875">
                <a:tc>
                  <a:txBody>
                    <a:bodyPr/>
                    <a:lstStyle/>
                    <a:p>
                      <a:r>
                        <a:rPr sz="2100" b="0">
                          <a:solidFill>
                            <a:srgbClr val="002B57"/>
                          </a:solidFill>
                          <a:latin typeface="Inter"/>
                          <a:ea typeface="Inter"/>
                          <a:cs typeface="Inter"/>
                        </a:rPr>
                        <a:t>SRAM area (µm²)</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745,485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588,032</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Instance count</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93,172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79,676</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Wirelength (mm)</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867</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812</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Worst setup slack (ns)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+15.12</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+16.24</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Worst hold slack (ns)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+0.150</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+0.116</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Worst clock skew (ns)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0.65</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0.44</a:t>
                      </a:r>
                    </a:p>
                  </a:txBody>
                  <a:tcPr marL="91440" marR="91440" marT="45720" marB="45720">
                    <a:lnR w="9525">
                      <a:solidFill>
                        <a:srgbClr val="D4DEE3"/>
                      </a:solidFill>
                      <a:prstDash val="solid"/>
                    </a:lnR>
                    <a:lnB w="9525">
                      <a:solidFill>
                        <a:srgbClr val="D4DEE3"/>
                      </a:solidFill>
                      <a:prstDash val="solid"/>
                    </a:lnB>
                    <a:solidFill>
                      <a:srgbClr val="FFFFFF"/>
                    </a:solidFill>
                  </a:tcPr>
                </a:tc>
              </a:tr>
              <a:tr h="523875">
                <a:tc>
                  <a:txBody>
                    <a:bodyPr/>
                    <a:lstStyle/>
                    <a:p>
                      <a:r>
                        <a:rPr sz="2100" b="0">
                          <a:solidFill>
                            <a:srgbClr val="002B57"/>
                          </a:solidFill>
                          <a:latin typeface="Inter"/>
                          <a:ea typeface="Inter"/>
                          <a:cs typeface="Inter"/>
                        </a:rPr>
                        <a:t>Critical path (ns)</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24.88</a:t>
                      </a:r>
                    </a:p>
                  </a:txBody>
                  <a:tcPr marL="91440" marR="91440" marT="45720" marB="45720">
                    <a:lnR w="9525">
                      <a:solidFill>
                        <a:srgbClr val="D4DEE3"/>
                      </a:solidFill>
                      <a:prstDash val="solid"/>
                    </a:lnR>
                    <a:lnB w="9525">
                      <a:solidFill>
                        <a:srgbClr val="D4DEE3"/>
                      </a:solidFill>
                      <a:prstDash val="solid"/>
                    </a:lnB>
                    <a:solidFill>
                      <a:srgbClr val="FFFFFF"/>
                    </a:solidFill>
                  </a:tcPr>
                </a:tc>
                <a:tc>
                  <a:txBody>
                    <a:bodyPr/>
                    <a:lstStyle/>
                    <a:p>
                      <a:r>
                        <a:rPr sz="2100" b="0">
                          <a:solidFill>
                            <a:srgbClr val="002B57"/>
                          </a:solidFill>
                          <a:latin typeface="Inter"/>
                          <a:ea typeface="Inter"/>
                          <a:cs typeface="Inter"/>
                        </a:rPr>
                        <a:t>23.76</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29EB72-F9B1-4C7A-9990-160D4599D0CE}"/>
              </a:ext>
            </a:extLst>
          </p:cNvPr>
          <p:cNvSpPr>
            <a:spLocks xmlns:a="http://schemas.openxmlformats.org/drawingml/2006/main" noGrp="1"/>
          </p:cNvSpPr>
          <p:nvPr/>
        </p:nvSpPr>
        <p:spPr>
          <a:xfrm xmlns:a="http://schemas.openxmlformats.org/drawingml/2006/main">
            <a:off x="1809750" y="8905875"/>
            <a:ext cx="1428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250" b="1">
                <a:solidFill>
                  <a:srgbClr val="0E749A"/>
                </a:solidFill>
                <a:latin typeface="Inter Bold"/>
                <a:ea typeface="Inter Bold"/>
                <a:cs typeface="Inter Bold"/>
              </a:defRPr>
            </a:defPPr>
            <a:lvl1pPr>
              <a:defRPr sz="2250" b="1">
                <a:solidFill>
                  <a:srgbClr val="0E749A"/>
                </a:solidFill>
                <a:latin typeface="Inter Bold"/>
                <a:ea typeface="Inter Bold"/>
                <a:cs typeface="Inter Bold"/>
              </a:defRPr>
            </a:lvl1pPr>
            <a:lvl2pPr>
              <a:defRPr sz="2250" b="1">
                <a:solidFill>
                  <a:srgbClr val="0E749A"/>
                </a:solidFill>
                <a:latin typeface="Inter Bold"/>
                <a:ea typeface="Inter Bold"/>
                <a:cs typeface="Inter Bold"/>
              </a:defRPr>
            </a:lvl2pPr>
            <a:lvl3pPr>
              <a:defRPr sz="2250" b="1">
                <a:solidFill>
                  <a:srgbClr val="0E749A"/>
                </a:solidFill>
                <a:latin typeface="Inter Bold"/>
                <a:ea typeface="Inter Bold"/>
                <a:cs typeface="Inter Bold"/>
              </a:defRPr>
            </a:lvl3pPr>
            <a:lvl4pPr>
              <a:defRPr sz="2250" b="1">
                <a:solidFill>
                  <a:srgbClr val="0E749A"/>
                </a:solidFill>
                <a:latin typeface="Inter Bold"/>
                <a:ea typeface="Inter Bold"/>
                <a:cs typeface="Inter Bold"/>
              </a:defRPr>
            </a:lvl4pPr>
            <a:lvl5pPr>
              <a:defRPr sz="2250" b="1">
                <a:solidFill>
                  <a:srgbClr val="0E749A"/>
                </a:solidFill>
                <a:latin typeface="Inter Bold"/>
                <a:ea typeface="Inter Bold"/>
                <a:cs typeface="Inter Bold"/>
              </a:defRPr>
            </a:lvl5pPr>
            <a:lvl6pPr>
              <a:defRPr sz="2250" b="1">
                <a:solidFill>
                  <a:srgbClr val="0E749A"/>
                </a:solidFill>
                <a:latin typeface="Inter Bold"/>
                <a:ea typeface="Inter Bold"/>
                <a:cs typeface="Inter Bold"/>
              </a:defRPr>
            </a:lvl6pPr>
            <a:lvl7pPr>
              <a:defRPr sz="2250" b="1">
                <a:solidFill>
                  <a:srgbClr val="0E749A"/>
                </a:solidFill>
                <a:latin typeface="Inter Bold"/>
                <a:ea typeface="Inter Bold"/>
                <a:cs typeface="Inter Bold"/>
              </a:defRPr>
            </a:lvl7pPr>
            <a:lvl8pPr>
              <a:defRPr sz="2250" b="1">
                <a:solidFill>
                  <a:srgbClr val="0E749A"/>
                </a:solidFill>
                <a:latin typeface="Inter Bold"/>
                <a:ea typeface="Inter Bold"/>
                <a:cs typeface="Inter Bold"/>
              </a:defRPr>
            </a:lvl8pPr>
            <a:lvl9pPr>
              <a:defRPr sz="2250" b="1">
                <a:solidFill>
                  <a:srgbClr val="0E749A"/>
                </a:solidFill>
                <a:latin typeface="Inter Bold"/>
                <a:ea typeface="Inter Bold"/>
                <a:cs typeface="Inter Bold"/>
              </a:defRPr>
            </a:lvl9pPr>
          </a:lstStyle>
          <a:p xmlns:a="http://schemas.openxmlformats.org/drawingml/2006/main">
            <a:pPr>
              <a:defRPr sz="2250" b="1">
                <a:solidFill>
                  <a:srgbClr val="0E749A"/>
                </a:solidFill>
                <a:latin typeface="Inter Bold"/>
                <a:ea typeface="Inter Bold"/>
                <a:cs typeface="Inter Bold"/>
              </a:defRPr>
            </a:pPr>
            <a:r>
              <a:rPr sz="2250" b="1">
                <a:solidFill>
                  <a:srgbClr val="0E749A"/>
                </a:solidFill>
                <a:latin typeface="Inter Bold"/>
                <a:ea typeface="Inter Bold"/>
                <a:cs typeface="Inter Bold"/>
              </a:rPr>
              <a:t>Nine STA corners pass: 3 process/voltage/temperature points × 3 interconnect corners.</a:t>
            </a:r>
          </a:p>
        </p:txBody>
      </p:sp>
      <p:sp>
        <p:nvSpPr>
          <p:cNvPr id="7" name="">
            <a:extLst xmlns:a="http://schemas.openxmlformats.org/drawingml/2006/main">
              <a:ext uri="{FF2B5EF4-FFF2-40B4-BE49-F238E27FC236}">
                <a16:creationId xmlns:a16="http://schemas.microsoft.com/office/drawing/2014/main" id="{6C795A79-6BBF-4B58-BC05-88A73C4CAC6A}"/>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A14</a:t>
            </a:r>
          </a:p>
        </p:txBody>
      </p:sp>
    </p:spTree>
    <p:extLst>
      <p:ext uri="{BB962C8B-B14F-4D97-AF65-F5344CB8AC3E}">
        <p14:creationId xmlns:p14="http://schemas.microsoft.com/office/powerpoint/2010/main" val="46388284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A398439-2E6C-40DF-8114-AEADEB2C8874}"/>
              </a:ext>
            </a:extLst>
          </p:cNvPr>
          <p:cNvPicPr>
            <a:picLocks xmlns:a="http://schemas.openxmlformats.org/drawingml/2006/main" noChangeAspect="1"/>
          </p:cNvPicPr>
          <p:nvPr/>
        </p:nvPicPr>
        <p:blipFill>
          <a:blip xmlns:r="http://schemas.openxmlformats.org/officeDocument/2006/relationships" xmlns:a="http://schemas.openxmlformats.org/drawingml/2006/main" r:embed="Rce50e346c5a04942"/>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B605F3-A96F-46C4-8D9B-9528992D9033}"/>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A15</a:t>
            </a:r>
          </a:p>
        </p:txBody>
      </p:sp>
      <p:sp>
        <p:nvSpPr>
          <p:cNvPr id="3" name="">
            <a:extLst xmlns:a="http://schemas.openxmlformats.org/drawingml/2006/main">
              <a:ext uri="{FF2B5EF4-FFF2-40B4-BE49-F238E27FC236}">
                <a16:creationId xmlns:a16="http://schemas.microsoft.com/office/drawing/2014/main" id="{E5214FD3-CD0D-4844-BEC1-A76D50FBD8D9}"/>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C512FD16-4F2F-4C3A-8CB1-6E468DA7B7D4}"/>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Why this final floorplan size?</a:t>
            </a:r>
          </a:p>
        </p:txBody>
      </p:sp>
      <p:graphicFrame>
        <p:nvGraphicFramePr>
          <p:cNvPr id="5" name="">
            <a:extLst xmlns:a="http://schemas.openxmlformats.org/drawingml/2006/main">
              <a:ext uri="{FF2B5EF4-FFF2-40B4-BE49-F238E27FC236}">
                <a16:creationId xmlns:a16="http://schemas.microsoft.com/office/drawing/2014/main" id="{021C1A07-05F0-40A1-BA46-50EFB7722756}"/>
              </a:ext>
            </a:extLst>
          </p:cNvPr>
          <p:cNvGraphicFramePr/>
          <p:nvPr/>
        </p:nvGraphicFramePr>
        <p:xfrm>
          <a:off xmlns:a="http://schemas.openxmlformats.org/drawingml/2006/main" x="1809750" y="3952875"/>
          <a:ext xmlns:a="http://schemas.openxmlformats.org/drawingml/2006/main" cx="14097000" cy="2476500"/>
        </p:xfrm>
        <a:graphic xmlns:a="http://schemas.openxmlformats.org/drawingml/2006/main">
          <a:graphicData uri="http://schemas.openxmlformats.org/drawingml/2006/table">
            <a:tbl>
              <a:tblPr/>
              <a:tblGrid>
                <a:gridCol w="6191250"/>
                <a:gridCol w="7905750"/>
              </a:tblGrid>
              <a:tr h="619125">
                <a:tc>
                  <a:txBody>
                    <a:bodyPr/>
                    <a:lstStyle/>
                    <a:p>
                      <a:r>
                        <a:rPr sz="2400" b="1">
                          <a:solidFill>
                            <a:srgbClr val="FFFFFF"/>
                          </a:solidFill>
                          <a:latin typeface="Inter Bold"/>
                          <a:ea typeface="Inter Bold"/>
                          <a:cs typeface="Inter Bold"/>
                        </a:rPr>
                        <a:t>Die size (µm)</a:t>
                      </a:r>
                    </a:p>
                  </a:txBody>
                  <a:tcPr marL="91440" marR="91440" marT="45720" marB="45720">
                    <a:lnL w="9525">
                      <a:solidFill>
                        <a:srgbClr val="D4DEE3"/>
                      </a:solidFill>
                      <a:prstDash val="solid"/>
                    </a:lnL>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c>
                  <a:txBody>
                    <a:bodyPr/>
                    <a:lstStyle/>
                    <a:p>
                      <a:r>
                        <a:rPr sz="2400" b="1">
                          <a:solidFill>
                            <a:srgbClr val="FFFFFF"/>
                          </a:solidFill>
                          <a:latin typeface="Inter Bold"/>
                          <a:ea typeface="Inter Bold"/>
                          <a:cs typeface="Inter Bold"/>
                        </a:rPr>
                        <a:t>Outcome</a:t>
                      </a:r>
                    </a:p>
                  </a:txBody>
                  <a:tcPr marL="91440" marR="91440" marT="45720" marB="45720">
                    <a:lnR w="9525">
                      <a:solidFill>
                        <a:srgbClr val="D4DEE3"/>
                      </a:solidFill>
                      <a:prstDash val="solid"/>
                    </a:lnR>
                    <a:lnT w="9525">
                      <a:solidFill>
                        <a:srgbClr val="D4DEE3"/>
                      </a:solidFill>
                      <a:prstDash val="solid"/>
                    </a:lnT>
                    <a:lnB w="9525">
                      <a:solidFill>
                        <a:srgbClr val="D4DEE3"/>
                      </a:solidFill>
                      <a:prstDash val="solid"/>
                    </a:lnB>
                    <a:solidFill>
                      <a:srgbClr val="002B57"/>
                    </a:solidFill>
                  </a:tcPr>
                </a:tc>
              </a:tr>
              <a:tr h="619125">
                <a:tc>
                  <a:txBody>
                    <a:bodyPr/>
                    <a:lstStyle/>
                    <a:p>
                      <a:r>
                        <a:rPr sz="2400" b="0">
                          <a:solidFill>
                            <a:srgbClr val="002B57"/>
                          </a:solidFill>
                          <a:latin typeface="Inter"/>
                          <a:ea typeface="Inter"/>
                          <a:cs typeface="Inter"/>
                        </a:rPr>
                        <a:t>1400 × 1350</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Clean swapped topology; larger footprint</a:t>
                      </a:r>
                    </a:p>
                  </a:txBody>
                  <a:tcPr marL="91440" marR="91440" marT="45720" marB="45720">
                    <a:lnR w="9525">
                      <a:solidFill>
                        <a:srgbClr val="D4DEE3"/>
                      </a:solidFill>
                      <a:prstDash val="solid"/>
                    </a:lnR>
                    <a:lnB w="9525">
                      <a:solidFill>
                        <a:srgbClr val="D4DEE3"/>
                      </a:solidFill>
                      <a:prstDash val="solid"/>
                    </a:lnB>
                    <a:solidFill>
                      <a:srgbClr val="FFFFFF"/>
                    </a:solidFill>
                  </a:tcPr>
                </a:tc>
              </a:tr>
              <a:tr h="619125">
                <a:tc>
                  <a:txBody>
                    <a:bodyPr/>
                    <a:lstStyle/>
                    <a:p>
                      <a:r>
                        <a:rPr sz="2400" b="1">
                          <a:solidFill>
                            <a:srgbClr val="002B57"/>
                          </a:solidFill>
                          <a:latin typeface="Inter Bold"/>
                          <a:ea typeface="Inter Bold"/>
                          <a:cs typeface="Inter Bold"/>
                        </a:rPr>
                        <a:t>1375 × 1325</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E9F2F5"/>
                    </a:solidFill>
                  </a:tcPr>
                </a:tc>
                <a:tc>
                  <a:txBody>
                    <a:bodyPr/>
                    <a:lstStyle/>
                    <a:p>
                      <a:r>
                        <a:rPr sz="2400" b="1">
                          <a:solidFill>
                            <a:srgbClr val="002B57"/>
                          </a:solidFill>
                          <a:latin typeface="Inter Bold"/>
                          <a:ea typeface="Inter Bold"/>
                          <a:cs typeface="Inter Bold"/>
                        </a:rPr>
                        <a:t>Selected design; zero violations</a:t>
                      </a:r>
                    </a:p>
                  </a:txBody>
                  <a:tcPr marL="91440" marR="91440" marT="45720" marB="45720">
                    <a:lnR w="9525">
                      <a:solidFill>
                        <a:srgbClr val="D4DEE3"/>
                      </a:solidFill>
                      <a:prstDash val="solid"/>
                    </a:lnR>
                    <a:lnB w="9525">
                      <a:solidFill>
                        <a:srgbClr val="D4DEE3"/>
                      </a:solidFill>
                      <a:prstDash val="solid"/>
                    </a:lnB>
                    <a:solidFill>
                      <a:srgbClr val="E9F2F5"/>
                    </a:solidFill>
                  </a:tcPr>
                </a:tc>
              </a:tr>
              <a:tr h="619125">
                <a:tc>
                  <a:txBody>
                    <a:bodyPr/>
                    <a:lstStyle/>
                    <a:p>
                      <a:r>
                        <a:rPr sz="2400" b="0">
                          <a:solidFill>
                            <a:srgbClr val="002B57"/>
                          </a:solidFill>
                          <a:latin typeface="Inter"/>
                          <a:ea typeface="Inter"/>
                          <a:cs typeface="Inter"/>
                        </a:rPr>
                        <a:t>1350 × 1300</a:t>
                      </a:r>
                    </a:p>
                  </a:txBody>
                  <a:tcPr marL="91440" marR="91440" marT="45720" marB="45720">
                    <a:lnL w="9525">
                      <a:solidFill>
                        <a:srgbClr val="D4DEE3"/>
                      </a:solidFill>
                      <a:prstDash val="solid"/>
                    </a:lnL>
                    <a:lnR w="9525">
                      <a:solidFill>
                        <a:srgbClr val="D4DEE3"/>
                      </a:solidFill>
                      <a:prstDash val="solid"/>
                    </a:lnR>
                    <a:lnB w="9525">
                      <a:solidFill>
                        <a:srgbClr val="D4DEE3"/>
                      </a:solidFill>
                      <a:prstDash val="solid"/>
                    </a:lnB>
                    <a:solidFill>
                      <a:srgbClr val="FFFFFF"/>
                    </a:solidFill>
                  </a:tcPr>
                </a:tc>
                <a:tc>
                  <a:txBody>
                    <a:bodyPr/>
                    <a:lstStyle/>
                    <a:p>
                      <a:r>
                        <a:rPr sz="2400" b="0">
                          <a:solidFill>
                            <a:srgbClr val="002B57"/>
                          </a:solidFill>
                          <a:latin typeface="Inter"/>
                          <a:ea typeface="Inter"/>
                          <a:cs typeface="Inter"/>
                        </a:rPr>
                        <a:t>Two antenna nets over the limit: 1.04× and 1.01×</a:t>
                      </a:r>
                    </a:p>
                  </a:txBody>
                  <a:tcPr marL="91440" marR="91440" marT="45720" marB="45720">
                    <a:lnR w="9525">
                      <a:solidFill>
                        <a:srgbClr val="D4DEE3"/>
                      </a:solidFill>
                      <a:prstDash val="solid"/>
                    </a:lnR>
                    <a:lnB w="9525">
                      <a:solidFill>
                        <a:srgbClr val="D4DEE3"/>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FBA4D12-63A1-4B34-B90D-CFC4FFC87817}"/>
              </a:ext>
            </a:extLst>
          </p:cNvPr>
          <p:cNvSpPr>
            <a:spLocks xmlns:a="http://schemas.openxmlformats.org/drawingml/2006/main" noGrp="1"/>
          </p:cNvSpPr>
          <p:nvPr/>
        </p:nvSpPr>
        <p:spPr>
          <a:xfrm xmlns:a="http://schemas.openxmlformats.org/drawingml/2006/main">
            <a:off x="1809750" y="7191375"/>
            <a:ext cx="1428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775" b="1">
                <a:solidFill>
                  <a:srgbClr val="0E749A"/>
                </a:solidFill>
                <a:latin typeface="Inter Bold"/>
                <a:ea typeface="Inter Bold"/>
                <a:cs typeface="Inter Bold"/>
              </a:defRPr>
            </a:defPPr>
            <a:lvl1pPr>
              <a:defRPr sz="2775" b="1">
                <a:solidFill>
                  <a:srgbClr val="0E749A"/>
                </a:solidFill>
                <a:latin typeface="Inter Bold"/>
                <a:ea typeface="Inter Bold"/>
                <a:cs typeface="Inter Bold"/>
              </a:defRPr>
            </a:lvl1pPr>
            <a:lvl2pPr>
              <a:defRPr sz="2775" b="1">
                <a:solidFill>
                  <a:srgbClr val="0E749A"/>
                </a:solidFill>
                <a:latin typeface="Inter Bold"/>
                <a:ea typeface="Inter Bold"/>
                <a:cs typeface="Inter Bold"/>
              </a:defRPr>
            </a:lvl2pPr>
            <a:lvl3pPr>
              <a:defRPr sz="2775" b="1">
                <a:solidFill>
                  <a:srgbClr val="0E749A"/>
                </a:solidFill>
                <a:latin typeface="Inter Bold"/>
                <a:ea typeface="Inter Bold"/>
                <a:cs typeface="Inter Bold"/>
              </a:defRPr>
            </a:lvl3pPr>
            <a:lvl4pPr>
              <a:defRPr sz="2775" b="1">
                <a:solidFill>
                  <a:srgbClr val="0E749A"/>
                </a:solidFill>
                <a:latin typeface="Inter Bold"/>
                <a:ea typeface="Inter Bold"/>
                <a:cs typeface="Inter Bold"/>
              </a:defRPr>
            </a:lvl4pPr>
            <a:lvl5pPr>
              <a:defRPr sz="2775" b="1">
                <a:solidFill>
                  <a:srgbClr val="0E749A"/>
                </a:solidFill>
                <a:latin typeface="Inter Bold"/>
                <a:ea typeface="Inter Bold"/>
                <a:cs typeface="Inter Bold"/>
              </a:defRPr>
            </a:lvl5pPr>
            <a:lvl6pPr>
              <a:defRPr sz="2775" b="1">
                <a:solidFill>
                  <a:srgbClr val="0E749A"/>
                </a:solidFill>
                <a:latin typeface="Inter Bold"/>
                <a:ea typeface="Inter Bold"/>
                <a:cs typeface="Inter Bold"/>
              </a:defRPr>
            </a:lvl6pPr>
            <a:lvl7pPr>
              <a:defRPr sz="2775" b="1">
                <a:solidFill>
                  <a:srgbClr val="0E749A"/>
                </a:solidFill>
                <a:latin typeface="Inter Bold"/>
                <a:ea typeface="Inter Bold"/>
                <a:cs typeface="Inter Bold"/>
              </a:defRPr>
            </a:lvl7pPr>
            <a:lvl8pPr>
              <a:defRPr sz="2775" b="1">
                <a:solidFill>
                  <a:srgbClr val="0E749A"/>
                </a:solidFill>
                <a:latin typeface="Inter Bold"/>
                <a:ea typeface="Inter Bold"/>
                <a:cs typeface="Inter Bold"/>
              </a:defRPr>
            </a:lvl8pPr>
            <a:lvl9pPr>
              <a:defRPr sz="2775" b="1">
                <a:solidFill>
                  <a:srgbClr val="0E749A"/>
                </a:solidFill>
                <a:latin typeface="Inter Bold"/>
                <a:ea typeface="Inter Bold"/>
                <a:cs typeface="Inter Bold"/>
              </a:defRPr>
            </a:lvl9pPr>
          </a:lstStyle>
          <a:p xmlns:a="http://schemas.openxmlformats.org/drawingml/2006/main">
            <a:pPr>
              <a:defRPr sz="2775" b="1">
                <a:solidFill>
                  <a:srgbClr val="0E749A"/>
                </a:solidFill>
                <a:latin typeface="Inter Bold"/>
                <a:ea typeface="Inter Bold"/>
                <a:cs typeface="Inter Bold"/>
              </a:defRPr>
            </a:pPr>
            <a:r>
              <a:rPr sz="2775" b="1">
                <a:solidFill>
                  <a:srgbClr val="0E749A"/>
                </a:solidFill>
                <a:latin typeface="Inter Bold"/>
                <a:ea typeface="Inter Bold"/>
                <a:cs typeface="Inter Bold"/>
              </a:rPr>
              <a:t>The intermediate shrink saved 2,171 instances and cost 0.22 ns of setup margin.</a:t>
            </a:r>
          </a:p>
        </p:txBody>
      </p:sp>
      <p:sp>
        <p:nvSpPr>
          <p:cNvPr id="7" name="">
            <a:extLst xmlns:a="http://schemas.openxmlformats.org/drawingml/2006/main">
              <a:ext uri="{FF2B5EF4-FFF2-40B4-BE49-F238E27FC236}">
                <a16:creationId xmlns:a16="http://schemas.microsoft.com/office/drawing/2014/main" id="{547B5DC2-8526-4E73-AF86-CD7ED6F51F63}"/>
              </a:ext>
            </a:extLst>
          </p:cNvPr>
          <p:cNvSpPr>
            <a:spLocks xmlns:a="http://schemas.openxmlformats.org/drawingml/2006/main" noGrp="1"/>
          </p:cNvSpPr>
          <p:nvPr/>
        </p:nvSpPr>
        <p:spPr>
          <a:xfrm xmlns:a="http://schemas.openxmlformats.org/drawingml/2006/main">
            <a:off x="1809750" y="8572500"/>
            <a:ext cx="1428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75" b="0">
                <a:solidFill>
                  <a:srgbClr val="002B57"/>
                </a:solidFill>
                <a:latin typeface="Inter"/>
                <a:ea typeface="Inter"/>
                <a:cs typeface="Inter"/>
              </a:defRPr>
            </a:defPPr>
            <a:lvl1pPr>
              <a:defRPr sz="2475" b="0">
                <a:solidFill>
                  <a:srgbClr val="002B57"/>
                </a:solidFill>
                <a:latin typeface="Inter"/>
                <a:ea typeface="Inter"/>
                <a:cs typeface="Inter"/>
              </a:defRPr>
            </a:lvl1pPr>
            <a:lvl2pPr>
              <a:defRPr sz="2475" b="0">
                <a:solidFill>
                  <a:srgbClr val="002B57"/>
                </a:solidFill>
                <a:latin typeface="Inter"/>
                <a:ea typeface="Inter"/>
                <a:cs typeface="Inter"/>
              </a:defRPr>
            </a:lvl2pPr>
            <a:lvl3pPr>
              <a:defRPr sz="2475" b="0">
                <a:solidFill>
                  <a:srgbClr val="002B57"/>
                </a:solidFill>
                <a:latin typeface="Inter"/>
                <a:ea typeface="Inter"/>
                <a:cs typeface="Inter"/>
              </a:defRPr>
            </a:lvl3pPr>
            <a:lvl4pPr>
              <a:defRPr sz="2475" b="0">
                <a:solidFill>
                  <a:srgbClr val="002B57"/>
                </a:solidFill>
                <a:latin typeface="Inter"/>
                <a:ea typeface="Inter"/>
                <a:cs typeface="Inter"/>
              </a:defRPr>
            </a:lvl4pPr>
            <a:lvl5pPr>
              <a:defRPr sz="2475" b="0">
                <a:solidFill>
                  <a:srgbClr val="002B57"/>
                </a:solidFill>
                <a:latin typeface="Inter"/>
                <a:ea typeface="Inter"/>
                <a:cs typeface="Inter"/>
              </a:defRPr>
            </a:lvl5pPr>
            <a:lvl6pPr>
              <a:defRPr sz="2475" b="0">
                <a:solidFill>
                  <a:srgbClr val="002B57"/>
                </a:solidFill>
                <a:latin typeface="Inter"/>
                <a:ea typeface="Inter"/>
                <a:cs typeface="Inter"/>
              </a:defRPr>
            </a:lvl6pPr>
            <a:lvl7pPr>
              <a:defRPr sz="2475" b="0">
                <a:solidFill>
                  <a:srgbClr val="002B57"/>
                </a:solidFill>
                <a:latin typeface="Inter"/>
                <a:ea typeface="Inter"/>
                <a:cs typeface="Inter"/>
              </a:defRPr>
            </a:lvl7pPr>
            <a:lvl8pPr>
              <a:defRPr sz="2475" b="0">
                <a:solidFill>
                  <a:srgbClr val="002B57"/>
                </a:solidFill>
                <a:latin typeface="Inter"/>
                <a:ea typeface="Inter"/>
                <a:cs typeface="Inter"/>
              </a:defRPr>
            </a:lvl8pPr>
            <a:lvl9pPr>
              <a:defRPr sz="2475" b="0">
                <a:solidFill>
                  <a:srgbClr val="002B57"/>
                </a:solidFill>
                <a:latin typeface="Inter"/>
                <a:ea typeface="Inter"/>
                <a:cs typeface="Inter"/>
              </a:defRPr>
            </a:lvl9pPr>
          </a:lstStyle>
          <a:p xmlns:a="http://schemas.openxmlformats.org/drawingml/2006/main">
            <a:pPr>
              <a:defRPr sz="2475" b="0">
                <a:solidFill>
                  <a:srgbClr val="002B57"/>
                </a:solidFill>
                <a:latin typeface="Inter"/>
                <a:ea typeface="Inter"/>
                <a:cs typeface="Inter"/>
              </a:defRPr>
            </a:pPr>
            <a:r>
              <a:rPr sz="2475" b="0">
                <a:solidFill>
                  <a:srgbClr val="002B57"/>
                </a:solidFill>
                <a:latin typeface="Inter"/>
                <a:ea typeface="Inter"/>
                <a:cs typeface="Inter"/>
              </a:rPr>
              <a:t>Further shrinking tightened channels enough to cause congestion. The search stopped there.</a:t>
            </a:r>
          </a:p>
        </p:txBody>
      </p:sp>
      <p:sp>
        <p:nvSpPr>
          <p:cNvPr id="8" name="">
            <a:extLst xmlns:a="http://schemas.openxmlformats.org/drawingml/2006/main">
              <a:ext uri="{FF2B5EF4-FFF2-40B4-BE49-F238E27FC236}">
                <a16:creationId xmlns:a16="http://schemas.microsoft.com/office/drawing/2014/main" id="{DBE760EF-6365-4448-A151-E34614753C25}"/>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A15</a:t>
            </a:r>
          </a:p>
        </p:txBody>
      </p:sp>
    </p:spTree>
    <p:extLst>
      <p:ext uri="{BB962C8B-B14F-4D97-AF65-F5344CB8AC3E}">
        <p14:creationId xmlns:p14="http://schemas.microsoft.com/office/powerpoint/2010/main" val="190728882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15EA7AB-A795-4E10-B7C4-865F2099ADF1}"/>
              </a:ext>
            </a:extLst>
          </p:cNvPr>
          <p:cNvPicPr>
            <a:picLocks xmlns:a="http://schemas.openxmlformats.org/drawingml/2006/main" noChangeAspect="1"/>
          </p:cNvPicPr>
          <p:nvPr/>
        </p:nvPicPr>
        <p:blipFill>
          <a:blip xmlns:r="http://schemas.openxmlformats.org/officeDocument/2006/relationships" xmlns:a="http://schemas.openxmlformats.org/drawingml/2006/main" r:embed="R935f59a1ff214d1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CE4CA4-3A6E-4D5D-B632-0935D33AB42D}"/>
              </a:ext>
            </a:extLst>
          </p:cNvPr>
          <p:cNvSpPr>
            <a:spLocks xmlns:a="http://schemas.openxmlformats.org/drawingml/2006/main" noGrp="1"/>
          </p:cNvSpPr>
          <p:nvPr/>
        </p:nvSpPr>
        <p:spPr>
          <a:xfrm xmlns:a="http://schemas.openxmlformats.org/drawingml/2006/main">
            <a:off x="6191250" y="266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800" b="1">
                <a:solidFill>
                  <a:srgbClr val="F25903"/>
                </a:solidFill>
                <a:latin typeface="Inter Bold"/>
                <a:ea typeface="Inter Bold"/>
                <a:cs typeface="Inter Bold"/>
              </a:defRPr>
            </a:defPPr>
            <a:lvl1pPr>
              <a:defRPr sz="4800" b="1">
                <a:solidFill>
                  <a:srgbClr val="F25903"/>
                </a:solidFill>
                <a:latin typeface="Inter Bold"/>
                <a:ea typeface="Inter Bold"/>
                <a:cs typeface="Inter Bold"/>
              </a:defRPr>
            </a:lvl1pPr>
            <a:lvl2pPr>
              <a:defRPr sz="4800" b="1">
                <a:solidFill>
                  <a:srgbClr val="F25903"/>
                </a:solidFill>
                <a:latin typeface="Inter Bold"/>
                <a:ea typeface="Inter Bold"/>
                <a:cs typeface="Inter Bold"/>
              </a:defRPr>
            </a:lvl2pPr>
            <a:lvl3pPr>
              <a:defRPr sz="4800" b="1">
                <a:solidFill>
                  <a:srgbClr val="F25903"/>
                </a:solidFill>
                <a:latin typeface="Inter Bold"/>
                <a:ea typeface="Inter Bold"/>
                <a:cs typeface="Inter Bold"/>
              </a:defRPr>
            </a:lvl3pPr>
            <a:lvl4pPr>
              <a:defRPr sz="4800" b="1">
                <a:solidFill>
                  <a:srgbClr val="F25903"/>
                </a:solidFill>
                <a:latin typeface="Inter Bold"/>
                <a:ea typeface="Inter Bold"/>
                <a:cs typeface="Inter Bold"/>
              </a:defRPr>
            </a:lvl4pPr>
            <a:lvl5pPr>
              <a:defRPr sz="4800" b="1">
                <a:solidFill>
                  <a:srgbClr val="F25903"/>
                </a:solidFill>
                <a:latin typeface="Inter Bold"/>
                <a:ea typeface="Inter Bold"/>
                <a:cs typeface="Inter Bold"/>
              </a:defRPr>
            </a:lvl5pPr>
            <a:lvl6pPr>
              <a:defRPr sz="4800" b="1">
                <a:solidFill>
                  <a:srgbClr val="F25903"/>
                </a:solidFill>
                <a:latin typeface="Inter Bold"/>
                <a:ea typeface="Inter Bold"/>
                <a:cs typeface="Inter Bold"/>
              </a:defRPr>
            </a:lvl6pPr>
            <a:lvl7pPr>
              <a:defRPr sz="4800" b="1">
                <a:solidFill>
                  <a:srgbClr val="F25903"/>
                </a:solidFill>
                <a:latin typeface="Inter Bold"/>
                <a:ea typeface="Inter Bold"/>
                <a:cs typeface="Inter Bold"/>
              </a:defRPr>
            </a:lvl7pPr>
            <a:lvl8pPr>
              <a:defRPr sz="4800" b="1">
                <a:solidFill>
                  <a:srgbClr val="F25903"/>
                </a:solidFill>
                <a:latin typeface="Inter Bold"/>
                <a:ea typeface="Inter Bold"/>
                <a:cs typeface="Inter Bold"/>
              </a:defRPr>
            </a:lvl8pPr>
            <a:lvl9pPr>
              <a:defRPr sz="4800" b="1">
                <a:solidFill>
                  <a:srgbClr val="F25903"/>
                </a:solidFill>
                <a:latin typeface="Inter Bold"/>
                <a:ea typeface="Inter Bold"/>
                <a:cs typeface="Inter Bold"/>
              </a:defRPr>
            </a:lvl9pPr>
          </a:lstStyle>
          <a:p xmlns:a="http://schemas.openxmlformats.org/drawingml/2006/main">
            <a:pPr>
              <a:defRPr sz="4800" b="1">
                <a:solidFill>
                  <a:srgbClr val="F25903"/>
                </a:solidFill>
                <a:latin typeface="Inter Bold"/>
                <a:ea typeface="Inter Bold"/>
                <a:cs typeface="Inter Bold"/>
              </a:defRPr>
            </a:pPr>
            <a:r>
              <a:rPr sz="4800" b="1">
                <a:solidFill>
                  <a:srgbClr val="F25903"/>
                </a:solidFill>
                <a:latin typeface="Inter Bold"/>
                <a:ea typeface="Inter Bold"/>
                <a:cs typeface="Inter Bold"/>
              </a:rPr>
              <a:t>APPENDIX A16</a:t>
            </a:r>
          </a:p>
        </p:txBody>
      </p:sp>
      <p:sp>
        <p:nvSpPr>
          <p:cNvPr id="3" name="">
            <a:extLst xmlns:a="http://schemas.openxmlformats.org/drawingml/2006/main">
              <a:ext uri="{FF2B5EF4-FFF2-40B4-BE49-F238E27FC236}">
                <a16:creationId xmlns:a16="http://schemas.microsoft.com/office/drawing/2014/main" id="{15B234F1-08BF-4DC6-81F2-4801530C07DF}"/>
              </a:ext>
            </a:extLst>
          </p:cNvPr>
          <p:cNvSpPr>
            <a:spLocks xmlns:a="http://schemas.openxmlformats.org/drawingml/2006/main" noGrp="1"/>
          </p:cNvSpPr>
          <p:nvPr/>
        </p:nvSpPr>
        <p:spPr>
          <a:xfrm xmlns:a="http://schemas.openxmlformats.org/drawingml/2006/main">
            <a:off x="5238750" y="1476375"/>
            <a:ext cx="1143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1">
                <a:solidFill>
                  <a:srgbClr val="0E749A"/>
                </a:solidFill>
                <a:latin typeface="Inter Bold"/>
                <a:ea typeface="Inter Bold"/>
                <a:cs typeface="Inter Bold"/>
              </a:defRPr>
            </a:defPPr>
            <a:lvl1pPr>
              <a:defRPr sz="2100" b="1">
                <a:solidFill>
                  <a:srgbClr val="0E749A"/>
                </a:solidFill>
                <a:latin typeface="Inter Bold"/>
                <a:ea typeface="Inter Bold"/>
                <a:cs typeface="Inter Bold"/>
              </a:defRPr>
            </a:lvl1pPr>
            <a:lvl2pPr>
              <a:defRPr sz="2100" b="1">
                <a:solidFill>
                  <a:srgbClr val="0E749A"/>
                </a:solidFill>
                <a:latin typeface="Inter Bold"/>
                <a:ea typeface="Inter Bold"/>
                <a:cs typeface="Inter Bold"/>
              </a:defRPr>
            </a:lvl2pPr>
            <a:lvl3pPr>
              <a:defRPr sz="2100" b="1">
                <a:solidFill>
                  <a:srgbClr val="0E749A"/>
                </a:solidFill>
                <a:latin typeface="Inter Bold"/>
                <a:ea typeface="Inter Bold"/>
                <a:cs typeface="Inter Bold"/>
              </a:defRPr>
            </a:lvl3pPr>
            <a:lvl4pPr>
              <a:defRPr sz="2100" b="1">
                <a:solidFill>
                  <a:srgbClr val="0E749A"/>
                </a:solidFill>
                <a:latin typeface="Inter Bold"/>
                <a:ea typeface="Inter Bold"/>
                <a:cs typeface="Inter Bold"/>
              </a:defRPr>
            </a:lvl4pPr>
            <a:lvl5pPr>
              <a:defRPr sz="2100" b="1">
                <a:solidFill>
                  <a:srgbClr val="0E749A"/>
                </a:solidFill>
                <a:latin typeface="Inter Bold"/>
                <a:ea typeface="Inter Bold"/>
                <a:cs typeface="Inter Bold"/>
              </a:defRPr>
            </a:lvl5pPr>
            <a:lvl6pPr>
              <a:defRPr sz="2100" b="1">
                <a:solidFill>
                  <a:srgbClr val="0E749A"/>
                </a:solidFill>
                <a:latin typeface="Inter Bold"/>
                <a:ea typeface="Inter Bold"/>
                <a:cs typeface="Inter Bold"/>
              </a:defRPr>
            </a:lvl6pPr>
            <a:lvl7pPr>
              <a:defRPr sz="2100" b="1">
                <a:solidFill>
                  <a:srgbClr val="0E749A"/>
                </a:solidFill>
                <a:latin typeface="Inter Bold"/>
                <a:ea typeface="Inter Bold"/>
                <a:cs typeface="Inter Bold"/>
              </a:defRPr>
            </a:lvl7pPr>
            <a:lvl8pPr>
              <a:defRPr sz="2100" b="1">
                <a:solidFill>
                  <a:srgbClr val="0E749A"/>
                </a:solidFill>
                <a:latin typeface="Inter Bold"/>
                <a:ea typeface="Inter Bold"/>
                <a:cs typeface="Inter Bold"/>
              </a:defRPr>
            </a:lvl8pPr>
            <a:lvl9pPr>
              <a:defRPr sz="2100" b="1">
                <a:solidFill>
                  <a:srgbClr val="0E749A"/>
                </a:solidFill>
                <a:latin typeface="Inter Bold"/>
                <a:ea typeface="Inter Bold"/>
                <a:cs typeface="Inter Bold"/>
              </a:defRPr>
            </a:lvl9pPr>
          </a:lstStyle>
          <a:p xmlns:a="http://schemas.openxmlformats.org/drawingml/2006/main">
            <a:pPr>
              <a:defRPr sz="2100" b="1">
                <a:solidFill>
                  <a:srgbClr val="0E749A"/>
                </a:solidFill>
                <a:latin typeface="Inter Bold"/>
                <a:ea typeface="Inter Bold"/>
                <a:cs typeface="Inter Bold"/>
              </a:defRPr>
            </a:pPr>
            <a:r>
              <a:rPr sz="2100" b="1">
                <a:solidFill>
                  <a:srgbClr val="0E749A"/>
                </a:solidFill>
                <a:latin typeface="Inter Bold"/>
                <a:ea typeface="Inter Bold"/>
                <a:cs typeface="Inter Bold"/>
              </a:rPr>
              <a:t>PAPER NO. 1571326725     GAN ACCELERATOR ON GF180MCU</a:t>
            </a:r>
          </a:p>
        </p:txBody>
      </p:sp>
      <p:sp>
        <p:nvSpPr>
          <p:cNvPr id="4" name="">
            <a:extLst xmlns:a="http://schemas.openxmlformats.org/drawingml/2006/main">
              <a:ext uri="{FF2B5EF4-FFF2-40B4-BE49-F238E27FC236}">
                <a16:creationId xmlns:a16="http://schemas.microsoft.com/office/drawing/2014/main" id="{03BDBDCD-A747-45F2-98BB-E844C0550340}"/>
              </a:ext>
            </a:extLst>
          </p:cNvPr>
          <p:cNvSpPr>
            <a:spLocks xmlns:a="http://schemas.openxmlformats.org/drawingml/2006/main" noGrp="1"/>
          </p:cNvSpPr>
          <p:nvPr/>
        </p:nvSpPr>
        <p:spPr>
          <a:xfrm xmlns:a="http://schemas.openxmlformats.org/drawingml/2006/main">
            <a:off x="1524000" y="2524125"/>
            <a:ext cx="1504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4125" b="1">
                <a:solidFill>
                  <a:srgbClr val="002B57"/>
                </a:solidFill>
                <a:latin typeface="Inter Bold"/>
                <a:ea typeface="Inter Bold"/>
                <a:cs typeface="Inter Bold"/>
              </a:defRPr>
            </a:defPPr>
            <a:lvl1pPr>
              <a:defRPr sz="4125" b="1">
                <a:solidFill>
                  <a:srgbClr val="002B57"/>
                </a:solidFill>
                <a:latin typeface="Inter Bold"/>
                <a:ea typeface="Inter Bold"/>
                <a:cs typeface="Inter Bold"/>
              </a:defRPr>
            </a:lvl1pPr>
            <a:lvl2pPr>
              <a:defRPr sz="4125" b="1">
                <a:solidFill>
                  <a:srgbClr val="002B57"/>
                </a:solidFill>
                <a:latin typeface="Inter Bold"/>
                <a:ea typeface="Inter Bold"/>
                <a:cs typeface="Inter Bold"/>
              </a:defRPr>
            </a:lvl2pPr>
            <a:lvl3pPr>
              <a:defRPr sz="4125" b="1">
                <a:solidFill>
                  <a:srgbClr val="002B57"/>
                </a:solidFill>
                <a:latin typeface="Inter Bold"/>
                <a:ea typeface="Inter Bold"/>
                <a:cs typeface="Inter Bold"/>
              </a:defRPr>
            </a:lvl3pPr>
            <a:lvl4pPr>
              <a:defRPr sz="4125" b="1">
                <a:solidFill>
                  <a:srgbClr val="002B57"/>
                </a:solidFill>
                <a:latin typeface="Inter Bold"/>
                <a:ea typeface="Inter Bold"/>
                <a:cs typeface="Inter Bold"/>
              </a:defRPr>
            </a:lvl4pPr>
            <a:lvl5pPr>
              <a:defRPr sz="4125" b="1">
                <a:solidFill>
                  <a:srgbClr val="002B57"/>
                </a:solidFill>
                <a:latin typeface="Inter Bold"/>
                <a:ea typeface="Inter Bold"/>
                <a:cs typeface="Inter Bold"/>
              </a:defRPr>
            </a:lvl5pPr>
            <a:lvl6pPr>
              <a:defRPr sz="4125" b="1">
                <a:solidFill>
                  <a:srgbClr val="002B57"/>
                </a:solidFill>
                <a:latin typeface="Inter Bold"/>
                <a:ea typeface="Inter Bold"/>
                <a:cs typeface="Inter Bold"/>
              </a:defRPr>
            </a:lvl6pPr>
            <a:lvl7pPr>
              <a:defRPr sz="4125" b="1">
                <a:solidFill>
                  <a:srgbClr val="002B57"/>
                </a:solidFill>
                <a:latin typeface="Inter Bold"/>
                <a:ea typeface="Inter Bold"/>
                <a:cs typeface="Inter Bold"/>
              </a:defRPr>
            </a:lvl7pPr>
            <a:lvl8pPr>
              <a:defRPr sz="4125" b="1">
                <a:solidFill>
                  <a:srgbClr val="002B57"/>
                </a:solidFill>
                <a:latin typeface="Inter Bold"/>
                <a:ea typeface="Inter Bold"/>
                <a:cs typeface="Inter Bold"/>
              </a:defRPr>
            </a:lvl8pPr>
            <a:lvl9pPr>
              <a:defRPr sz="4125" b="1">
                <a:solidFill>
                  <a:srgbClr val="002B57"/>
                </a:solidFill>
                <a:latin typeface="Inter Bold"/>
                <a:ea typeface="Inter Bold"/>
                <a:cs typeface="Inter Bold"/>
              </a:defRPr>
            </a:lvl9pPr>
          </a:lstStyle>
          <a:p xmlns:a="http://schemas.openxmlformats.org/drawingml/2006/main">
            <a:pPr>
              <a:defRPr sz="4125" b="1">
                <a:solidFill>
                  <a:srgbClr val="002B57"/>
                </a:solidFill>
                <a:latin typeface="Inter Bold"/>
                <a:ea typeface="Inter Bold"/>
                <a:cs typeface="Inter Bold"/>
              </a:defRPr>
            </a:pPr>
            <a:r>
              <a:rPr sz="4125" b="1">
                <a:solidFill>
                  <a:srgbClr val="002B57"/>
                </a:solidFill>
                <a:latin typeface="Inter Bold"/>
                <a:ea typeface="Inter Bold"/>
                <a:cs typeface="Inter Bold"/>
              </a:rPr>
              <a:t>Original top-level and PE-array diagrams</a:t>
            </a:r>
          </a:p>
        </p:txBody>
      </p:sp>
      <p:pic>
        <p:nvPicPr>
          <p:cNvPr id="5" name="">
            <a:extLst xmlns:a="http://schemas.openxmlformats.org/drawingml/2006/main">
              <a:ext uri="{FF2B5EF4-FFF2-40B4-BE49-F238E27FC236}">
                <a16:creationId xmlns:a16="http://schemas.microsoft.com/office/drawing/2014/main" id="{AB5D267D-6166-4845-925D-420FFBD47A07}"/>
              </a:ext>
            </a:extLst>
          </p:cNvPr>
          <p:cNvPicPr>
            <a:picLocks xmlns:a="http://schemas.openxmlformats.org/drawingml/2006/main" noChangeAspect="1"/>
          </p:cNvPicPr>
          <p:nvPr/>
        </p:nvPicPr>
        <p:blipFill>
          <a:blip xmlns:r="http://schemas.openxmlformats.org/officeDocument/2006/relationships" xmlns:a="http://schemas.openxmlformats.org/drawingml/2006/main" r:embed="R63e3332a64a8498a"/>
          <a:stretch xmlns:a="http://schemas.openxmlformats.org/drawingml/2006/main"/>
        </p:blipFill>
        <p:spPr>
          <a:xfrm xmlns:a="http://schemas.openxmlformats.org/drawingml/2006/main">
            <a:off x="1619250" y="4469212"/>
            <a:ext cx="8096250" cy="4158451"/>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C598378-152E-4297-9CE0-778F9401D46A}"/>
              </a:ext>
            </a:extLst>
          </p:cNvPr>
          <p:cNvPicPr>
            <a:picLocks xmlns:a="http://schemas.openxmlformats.org/drawingml/2006/main" noChangeAspect="1"/>
          </p:cNvPicPr>
          <p:nvPr/>
        </p:nvPicPr>
        <p:blipFill>
          <a:blip xmlns:r="http://schemas.openxmlformats.org/officeDocument/2006/relationships" xmlns:a="http://schemas.openxmlformats.org/drawingml/2006/main" r:embed="Rd4c37ea19f7145ef"/>
          <a:stretch xmlns:a="http://schemas.openxmlformats.org/drawingml/2006/main"/>
        </p:blipFill>
        <p:spPr>
          <a:xfrm xmlns:a="http://schemas.openxmlformats.org/drawingml/2006/main">
            <a:off x="10477500" y="3915901"/>
            <a:ext cx="5334000" cy="545557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1BCAEF1-1D83-4275-8148-941FE7081A49}"/>
              </a:ext>
            </a:extLst>
          </p:cNvPr>
          <p:cNvSpPr>
            <a:spLocks xmlns:a="http://schemas.openxmlformats.org/drawingml/2006/main" noGrp="1"/>
          </p:cNvSpPr>
          <p:nvPr/>
        </p:nvSpPr>
        <p:spPr>
          <a:xfrm xmlns:a="http://schemas.openxmlformats.org/drawingml/2006/main">
            <a:off x="1809750" y="9477375"/>
            <a:ext cx="790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0E749A"/>
                </a:solidFill>
                <a:latin typeface="Inter Bold"/>
                <a:ea typeface="Inter Bold"/>
                <a:cs typeface="Inter Bold"/>
              </a:defRPr>
            </a:defPPr>
            <a:lvl1pPr>
              <a:defRPr sz="2025" b="1">
                <a:solidFill>
                  <a:srgbClr val="0E749A"/>
                </a:solidFill>
                <a:latin typeface="Inter Bold"/>
                <a:ea typeface="Inter Bold"/>
                <a:cs typeface="Inter Bold"/>
              </a:defRPr>
            </a:lvl1pPr>
            <a:lvl2pPr>
              <a:defRPr sz="2025" b="1">
                <a:solidFill>
                  <a:srgbClr val="0E749A"/>
                </a:solidFill>
                <a:latin typeface="Inter Bold"/>
                <a:ea typeface="Inter Bold"/>
                <a:cs typeface="Inter Bold"/>
              </a:defRPr>
            </a:lvl2pPr>
            <a:lvl3pPr>
              <a:defRPr sz="2025" b="1">
                <a:solidFill>
                  <a:srgbClr val="0E749A"/>
                </a:solidFill>
                <a:latin typeface="Inter Bold"/>
                <a:ea typeface="Inter Bold"/>
                <a:cs typeface="Inter Bold"/>
              </a:defRPr>
            </a:lvl3pPr>
            <a:lvl4pPr>
              <a:defRPr sz="2025" b="1">
                <a:solidFill>
                  <a:srgbClr val="0E749A"/>
                </a:solidFill>
                <a:latin typeface="Inter Bold"/>
                <a:ea typeface="Inter Bold"/>
                <a:cs typeface="Inter Bold"/>
              </a:defRPr>
            </a:lvl4pPr>
            <a:lvl5pPr>
              <a:defRPr sz="2025" b="1">
                <a:solidFill>
                  <a:srgbClr val="0E749A"/>
                </a:solidFill>
                <a:latin typeface="Inter Bold"/>
                <a:ea typeface="Inter Bold"/>
                <a:cs typeface="Inter Bold"/>
              </a:defRPr>
            </a:lvl5pPr>
            <a:lvl6pPr>
              <a:defRPr sz="2025" b="1">
                <a:solidFill>
                  <a:srgbClr val="0E749A"/>
                </a:solidFill>
                <a:latin typeface="Inter Bold"/>
                <a:ea typeface="Inter Bold"/>
                <a:cs typeface="Inter Bold"/>
              </a:defRPr>
            </a:lvl6pPr>
            <a:lvl7pPr>
              <a:defRPr sz="2025" b="1">
                <a:solidFill>
                  <a:srgbClr val="0E749A"/>
                </a:solidFill>
                <a:latin typeface="Inter Bold"/>
                <a:ea typeface="Inter Bold"/>
                <a:cs typeface="Inter Bold"/>
              </a:defRPr>
            </a:lvl7pPr>
            <a:lvl8pPr>
              <a:defRPr sz="2025" b="1">
                <a:solidFill>
                  <a:srgbClr val="0E749A"/>
                </a:solidFill>
                <a:latin typeface="Inter Bold"/>
                <a:ea typeface="Inter Bold"/>
                <a:cs typeface="Inter Bold"/>
              </a:defRPr>
            </a:lvl8pPr>
            <a:lvl9pPr>
              <a:defRPr sz="2025" b="1">
                <a:solidFill>
                  <a:srgbClr val="0E749A"/>
                </a:solidFill>
                <a:latin typeface="Inter Bold"/>
                <a:ea typeface="Inter Bold"/>
                <a:cs typeface="Inter Bold"/>
              </a:defRPr>
            </a:lvl9pPr>
          </a:lstStyle>
          <a:p xmlns:a="http://schemas.openxmlformats.org/drawingml/2006/main">
            <a:pPr>
              <a:defRPr sz="2025" b="1">
                <a:solidFill>
                  <a:srgbClr val="0E749A"/>
                </a:solidFill>
                <a:latin typeface="Inter Bold"/>
                <a:ea typeface="Inter Bold"/>
                <a:cs typeface="Inter Bold"/>
              </a:defRPr>
            </a:pPr>
            <a:r>
              <a:rPr sz="2025" b="1">
                <a:solidFill>
                  <a:srgbClr val="0E749A"/>
                </a:solidFill>
                <a:latin typeface="Inter Bold"/>
                <a:ea typeface="Inter Bold"/>
                <a:cs typeface="Inter Bold"/>
              </a:rPr>
              <a:t>Figure 2: buffers, control and array connections</a:t>
            </a:r>
          </a:p>
        </p:txBody>
      </p:sp>
      <p:sp>
        <p:nvSpPr>
          <p:cNvPr id="8" name="">
            <a:extLst xmlns:a="http://schemas.openxmlformats.org/drawingml/2006/main">
              <a:ext uri="{FF2B5EF4-FFF2-40B4-BE49-F238E27FC236}">
                <a16:creationId xmlns:a16="http://schemas.microsoft.com/office/drawing/2014/main" id="{E3E3259D-EFF2-4BC7-B873-987ECF9964FA}"/>
              </a:ext>
            </a:extLst>
          </p:cNvPr>
          <p:cNvSpPr>
            <a:spLocks xmlns:a="http://schemas.openxmlformats.org/drawingml/2006/main" noGrp="1"/>
          </p:cNvSpPr>
          <p:nvPr/>
        </p:nvSpPr>
        <p:spPr>
          <a:xfrm xmlns:a="http://schemas.openxmlformats.org/drawingml/2006/main">
            <a:off x="10477500" y="94773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025" b="1">
                <a:solidFill>
                  <a:srgbClr val="0E749A"/>
                </a:solidFill>
                <a:latin typeface="Inter Bold"/>
                <a:ea typeface="Inter Bold"/>
                <a:cs typeface="Inter Bold"/>
              </a:defRPr>
            </a:defPPr>
            <a:lvl1pPr>
              <a:defRPr sz="2025" b="1">
                <a:solidFill>
                  <a:srgbClr val="0E749A"/>
                </a:solidFill>
                <a:latin typeface="Inter Bold"/>
                <a:ea typeface="Inter Bold"/>
                <a:cs typeface="Inter Bold"/>
              </a:defRPr>
            </a:lvl1pPr>
            <a:lvl2pPr>
              <a:defRPr sz="2025" b="1">
                <a:solidFill>
                  <a:srgbClr val="0E749A"/>
                </a:solidFill>
                <a:latin typeface="Inter Bold"/>
                <a:ea typeface="Inter Bold"/>
                <a:cs typeface="Inter Bold"/>
              </a:defRPr>
            </a:lvl2pPr>
            <a:lvl3pPr>
              <a:defRPr sz="2025" b="1">
                <a:solidFill>
                  <a:srgbClr val="0E749A"/>
                </a:solidFill>
                <a:latin typeface="Inter Bold"/>
                <a:ea typeface="Inter Bold"/>
                <a:cs typeface="Inter Bold"/>
              </a:defRPr>
            </a:lvl3pPr>
            <a:lvl4pPr>
              <a:defRPr sz="2025" b="1">
                <a:solidFill>
                  <a:srgbClr val="0E749A"/>
                </a:solidFill>
                <a:latin typeface="Inter Bold"/>
                <a:ea typeface="Inter Bold"/>
                <a:cs typeface="Inter Bold"/>
              </a:defRPr>
            </a:lvl4pPr>
            <a:lvl5pPr>
              <a:defRPr sz="2025" b="1">
                <a:solidFill>
                  <a:srgbClr val="0E749A"/>
                </a:solidFill>
                <a:latin typeface="Inter Bold"/>
                <a:ea typeface="Inter Bold"/>
                <a:cs typeface="Inter Bold"/>
              </a:defRPr>
            </a:lvl5pPr>
            <a:lvl6pPr>
              <a:defRPr sz="2025" b="1">
                <a:solidFill>
                  <a:srgbClr val="0E749A"/>
                </a:solidFill>
                <a:latin typeface="Inter Bold"/>
                <a:ea typeface="Inter Bold"/>
                <a:cs typeface="Inter Bold"/>
              </a:defRPr>
            </a:lvl6pPr>
            <a:lvl7pPr>
              <a:defRPr sz="2025" b="1">
                <a:solidFill>
                  <a:srgbClr val="0E749A"/>
                </a:solidFill>
                <a:latin typeface="Inter Bold"/>
                <a:ea typeface="Inter Bold"/>
                <a:cs typeface="Inter Bold"/>
              </a:defRPr>
            </a:lvl7pPr>
            <a:lvl8pPr>
              <a:defRPr sz="2025" b="1">
                <a:solidFill>
                  <a:srgbClr val="0E749A"/>
                </a:solidFill>
                <a:latin typeface="Inter Bold"/>
                <a:ea typeface="Inter Bold"/>
                <a:cs typeface="Inter Bold"/>
              </a:defRPr>
            </a:lvl8pPr>
            <a:lvl9pPr>
              <a:defRPr sz="2025" b="1">
                <a:solidFill>
                  <a:srgbClr val="0E749A"/>
                </a:solidFill>
                <a:latin typeface="Inter Bold"/>
                <a:ea typeface="Inter Bold"/>
                <a:cs typeface="Inter Bold"/>
              </a:defRPr>
            </a:lvl9pPr>
          </a:lstStyle>
          <a:p xmlns:a="http://schemas.openxmlformats.org/drawingml/2006/main">
            <a:pPr>
              <a:defRPr sz="2025" b="1">
                <a:solidFill>
                  <a:srgbClr val="0E749A"/>
                </a:solidFill>
                <a:latin typeface="Inter Bold"/>
                <a:ea typeface="Inter Bold"/>
                <a:cs typeface="Inter Bold"/>
              </a:defRPr>
            </a:pPr>
            <a:r>
              <a:rPr sz="2025" b="1">
                <a:solidFill>
                  <a:srgbClr val="0E749A"/>
                </a:solidFill>
                <a:latin typeface="Inter Bold"/>
                <a:ea typeface="Inter Bold"/>
                <a:cs typeface="Inter Bold"/>
              </a:rPr>
              <a:t>Figure 3: row/column broadcasts</a:t>
            </a:r>
          </a:p>
        </p:txBody>
      </p:sp>
      <p:sp>
        <p:nvSpPr>
          <p:cNvPr id="9" name="">
            <a:extLst xmlns:a="http://schemas.openxmlformats.org/drawingml/2006/main">
              <a:ext uri="{FF2B5EF4-FFF2-40B4-BE49-F238E27FC236}">
                <a16:creationId xmlns:a16="http://schemas.microsoft.com/office/drawing/2014/main" id="{2DE37B52-188C-47AE-897D-EEDB6DB852A4}"/>
              </a:ext>
            </a:extLst>
          </p:cNvPr>
          <p:cNvSpPr>
            <a:spLocks xmlns:a="http://schemas.openxmlformats.org/drawingml/2006/main" noGrp="1"/>
          </p:cNvSpPr>
          <p:nvPr/>
        </p:nvSpPr>
        <p:spPr>
          <a:xfrm xmlns:a="http://schemas.openxmlformats.org/drawingml/2006/main">
            <a:off x="16097250" y="957262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875" b="0">
                <a:solidFill>
                  <a:srgbClr val="566675"/>
                </a:solidFill>
                <a:latin typeface="Inter"/>
                <a:ea typeface="Inter"/>
                <a:cs typeface="Inter"/>
              </a:defRPr>
            </a:defPPr>
            <a:lvl1pPr>
              <a:defRPr sz="1875" b="0">
                <a:solidFill>
                  <a:srgbClr val="566675"/>
                </a:solidFill>
                <a:latin typeface="Inter"/>
                <a:ea typeface="Inter"/>
                <a:cs typeface="Inter"/>
              </a:defRPr>
            </a:lvl1pPr>
            <a:lvl2pPr>
              <a:defRPr sz="1875" b="0">
                <a:solidFill>
                  <a:srgbClr val="566675"/>
                </a:solidFill>
                <a:latin typeface="Inter"/>
                <a:ea typeface="Inter"/>
                <a:cs typeface="Inter"/>
              </a:defRPr>
            </a:lvl2pPr>
            <a:lvl3pPr>
              <a:defRPr sz="1875" b="0">
                <a:solidFill>
                  <a:srgbClr val="566675"/>
                </a:solidFill>
                <a:latin typeface="Inter"/>
                <a:ea typeface="Inter"/>
                <a:cs typeface="Inter"/>
              </a:defRPr>
            </a:lvl3pPr>
            <a:lvl4pPr>
              <a:defRPr sz="1875" b="0">
                <a:solidFill>
                  <a:srgbClr val="566675"/>
                </a:solidFill>
                <a:latin typeface="Inter"/>
                <a:ea typeface="Inter"/>
                <a:cs typeface="Inter"/>
              </a:defRPr>
            </a:lvl4pPr>
            <a:lvl5pPr>
              <a:defRPr sz="1875" b="0">
                <a:solidFill>
                  <a:srgbClr val="566675"/>
                </a:solidFill>
                <a:latin typeface="Inter"/>
                <a:ea typeface="Inter"/>
                <a:cs typeface="Inter"/>
              </a:defRPr>
            </a:lvl5pPr>
            <a:lvl6pPr>
              <a:defRPr sz="1875" b="0">
                <a:solidFill>
                  <a:srgbClr val="566675"/>
                </a:solidFill>
                <a:latin typeface="Inter"/>
                <a:ea typeface="Inter"/>
                <a:cs typeface="Inter"/>
              </a:defRPr>
            </a:lvl6pPr>
            <a:lvl7pPr>
              <a:defRPr sz="1875" b="0">
                <a:solidFill>
                  <a:srgbClr val="566675"/>
                </a:solidFill>
                <a:latin typeface="Inter"/>
                <a:ea typeface="Inter"/>
                <a:cs typeface="Inter"/>
              </a:defRPr>
            </a:lvl7pPr>
            <a:lvl8pPr>
              <a:defRPr sz="1875" b="0">
                <a:solidFill>
                  <a:srgbClr val="566675"/>
                </a:solidFill>
                <a:latin typeface="Inter"/>
                <a:ea typeface="Inter"/>
                <a:cs typeface="Inter"/>
              </a:defRPr>
            </a:lvl8pPr>
            <a:lvl9pPr>
              <a:defRPr sz="1875" b="0">
                <a:solidFill>
                  <a:srgbClr val="566675"/>
                </a:solidFill>
                <a:latin typeface="Inter"/>
                <a:ea typeface="Inter"/>
                <a:cs typeface="Inter"/>
              </a:defRPr>
            </a:lvl9pPr>
          </a:lstStyle>
          <a:p xmlns:a="http://schemas.openxmlformats.org/drawingml/2006/main">
            <a:pPr>
              <a:defRPr sz="1875" b="0">
                <a:solidFill>
                  <a:srgbClr val="566675"/>
                </a:solidFill>
                <a:latin typeface="Inter"/>
                <a:ea typeface="Inter"/>
                <a:cs typeface="Inter"/>
              </a:defRPr>
            </a:pPr>
            <a:r>
              <a:rPr sz="1875" b="0">
                <a:solidFill>
                  <a:srgbClr val="566675"/>
                </a:solidFill>
                <a:latin typeface="Inter"/>
                <a:ea typeface="Inter"/>
                <a:cs typeface="Inter"/>
              </a:rPr>
              <a:t>A16</a:t>
            </a:r>
          </a:p>
        </p:txBody>
      </p:sp>
    </p:spTree>
    <p:extLst>
      <p:ext uri="{BB962C8B-B14F-4D97-AF65-F5344CB8AC3E}">
        <p14:creationId xmlns:p14="http://schemas.microsoft.com/office/powerpoint/2010/main" val="18836646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2026-10-25T06:13:57.5060000Z</dcterms:created>
  <dcterms:modified xsi:type="dcterms:W3CDTF">2026-10-25T06:13:57.5060000Z</dcterms:modified>
</coreProperties>
</file>