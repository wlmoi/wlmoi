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https://www.geeksforgeeks.org/deep-learning/generative-adversarial-network-gan/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968771" y="8211384"/>
            <a:ext cx="444314" cy="831174"/>
          </a:xfrm>
          <a:custGeom>
            <a:avLst/>
            <a:gdLst/>
            <a:ahLst/>
            <a:cxnLst/>
            <a:rect r="r" b="b" t="t" l="l"/>
            <a:pathLst>
              <a:path h="831174" w="444314">
                <a:moveTo>
                  <a:pt x="444314" y="0"/>
                </a:moveTo>
                <a:lnTo>
                  <a:pt x="0" y="0"/>
                </a:lnTo>
                <a:lnTo>
                  <a:pt x="0" y="831174"/>
                </a:lnTo>
                <a:lnTo>
                  <a:pt x="444314" y="831174"/>
                </a:lnTo>
                <a:lnTo>
                  <a:pt x="44431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078125" y="1708544"/>
            <a:ext cx="663770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6092" y="2176751"/>
            <a:ext cx="15541768" cy="422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AN A</a:t>
            </a:r>
            <a:r>
              <a:rPr lang="en-US" b="true" sz="6000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REA-OPTIMIZED 8-BIT DEEP LEARNING ACCELERATOR</a:t>
            </a:r>
          </a:p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FOR GAN IMAGE GENERATI</a:t>
            </a:r>
            <a:r>
              <a:rPr lang="en-US" b="true" sz="6000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ON ON GF180MCU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2043" y="6548726"/>
            <a:ext cx="15541768" cy="221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William Anthony, I Made Medika Surya W.M., John Ruben Saragi, Mahardhika Putra Adi</a:t>
            </a: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pratama,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Fairuz Aquilla Rahagi, Trio Adiono, and Infall Syafalni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Bandung Institute of Technology, Bandung, Indonesia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E-mail: {13223048, 13222021, 13222049, 13222081, 13222107}@mahasiswa.itb.ac.id,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tadiono@itb.ac.id, infall@ieee.org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4698135" y="8303439"/>
            <a:ext cx="25611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Start Slide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08255" y="114047"/>
            <a:ext cx="10549728" cy="91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4"/>
              </a:lnSpc>
              <a:spcBef>
                <a:spcPct val="0"/>
              </a:spcBef>
            </a:pP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I. </a:t>
            </a: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5986" y="3262003"/>
            <a:ext cx="141806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u="sng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  <a:hlinkClick r:id="rId6" tooltip="https://www.geeksforgeeks.org/deep-learning/generative-adversarial-network-gan/"/>
              </a:rPr>
              <a:t>https://www.geeksforgeeks.org/deep-learning/generative-adversarial-network-gan</a:t>
            </a: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 blah blah explanation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78125" y="1375677"/>
            <a:ext cx="117745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 AN AREA-OPTIMIZED 8-BIT DEEP LEARNING ACCELERATOR FOR GAN IMAGE GENERATION ON GF180MCU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38310" y="2555507"/>
            <a:ext cx="14157321" cy="4105623"/>
          </a:xfrm>
          <a:custGeom>
            <a:avLst/>
            <a:gdLst/>
            <a:ahLst/>
            <a:cxnLst/>
            <a:rect r="r" b="b" t="t" l="l"/>
            <a:pathLst>
              <a:path h="4105623" w="14157321">
                <a:moveTo>
                  <a:pt x="0" y="0"/>
                </a:moveTo>
                <a:lnTo>
                  <a:pt x="14157321" y="0"/>
                </a:lnTo>
                <a:lnTo>
                  <a:pt x="14157321" y="4105623"/>
                </a:lnTo>
                <a:lnTo>
                  <a:pt x="0" y="41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108255" y="114047"/>
            <a:ext cx="10549728" cy="91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4"/>
              </a:lnSpc>
              <a:spcBef>
                <a:spcPct val="0"/>
              </a:spcBef>
            </a:pP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I. </a:t>
            </a: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69" y="7546955"/>
            <a:ext cx="14180697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Gene</a:t>
            </a: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rative Adversaria</a:t>
            </a: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l Networks are a compact workload for testing neural inference on custom hardware. The generator used here is a small MNIST multi-layer perceptron turning a 64-dimensional latent vector into a 28×28 image; its arithmetic is dense matrix multiplication, so it maps onto a small array of multiply–accumulate units. An earlier version expressed this as behavioral loops and register memory arrays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8125" y="1375677"/>
            <a:ext cx="117745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 AN AREA-OPTIMIZED 8-BIT DEEP LEARNING ACCELERATOR FOR GAN IMAGE GENERATION ON GF180MCU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944705" y="2513334"/>
            <a:ext cx="12020078" cy="6334752"/>
          </a:xfrm>
          <a:custGeom>
            <a:avLst/>
            <a:gdLst/>
            <a:ahLst/>
            <a:cxnLst/>
            <a:rect r="r" b="b" t="t" l="l"/>
            <a:pathLst>
              <a:path h="6334752" w="12020078">
                <a:moveTo>
                  <a:pt x="0" y="0"/>
                </a:moveTo>
                <a:lnTo>
                  <a:pt x="12020078" y="0"/>
                </a:lnTo>
                <a:lnTo>
                  <a:pt x="12020078" y="6334752"/>
                </a:lnTo>
                <a:lnTo>
                  <a:pt x="0" y="63347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25652" y="114047"/>
            <a:ext cx="10827018" cy="91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4"/>
              </a:lnSpc>
              <a:spcBef>
                <a:spcPct val="0"/>
              </a:spcBef>
            </a:pP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IV. HARDWARE 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69" y="9162411"/>
            <a:ext cx="141806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DLA Engine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8125" y="1375677"/>
            <a:ext cx="117745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 AN AREA-OPTIMIZED 8-BIT DEEP LEARNING ACCELERATOR FOR GAN IMAGE GENERATION ON GF180MCU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780014" y="2336432"/>
            <a:ext cx="12727972" cy="6695539"/>
          </a:xfrm>
          <a:custGeom>
            <a:avLst/>
            <a:gdLst/>
            <a:ahLst/>
            <a:cxnLst/>
            <a:rect r="r" b="b" t="t" l="l"/>
            <a:pathLst>
              <a:path h="6695539" w="12727972">
                <a:moveTo>
                  <a:pt x="0" y="0"/>
                </a:moveTo>
                <a:lnTo>
                  <a:pt x="12727972" y="0"/>
                </a:lnTo>
                <a:lnTo>
                  <a:pt x="12727972" y="6695540"/>
                </a:lnTo>
                <a:lnTo>
                  <a:pt x="0" y="66955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25652" y="114047"/>
            <a:ext cx="10827018" cy="91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4"/>
              </a:lnSpc>
              <a:spcBef>
                <a:spcPct val="0"/>
              </a:spcBef>
            </a:pP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IV. HARDWARE 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69" y="9162411"/>
            <a:ext cx="141806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Processing Elements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8125" y="1375677"/>
            <a:ext cx="117745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 AN AREA-OPTIMIZED 8-BIT DEEP LEARNING ACCELERATOR FOR GAN IMAGE GENERATION ON GF180MCU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009541" y="2574557"/>
            <a:ext cx="9988745" cy="5985358"/>
          </a:xfrm>
          <a:custGeom>
            <a:avLst/>
            <a:gdLst/>
            <a:ahLst/>
            <a:cxnLst/>
            <a:rect r="r" b="b" t="t" l="l"/>
            <a:pathLst>
              <a:path h="5985358" w="9988745">
                <a:moveTo>
                  <a:pt x="0" y="0"/>
                </a:moveTo>
                <a:lnTo>
                  <a:pt x="9988745" y="0"/>
                </a:lnTo>
                <a:lnTo>
                  <a:pt x="9988745" y="5985359"/>
                </a:lnTo>
                <a:lnTo>
                  <a:pt x="0" y="59853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25652" y="114047"/>
            <a:ext cx="10827018" cy="91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4"/>
              </a:lnSpc>
              <a:spcBef>
                <a:spcPct val="0"/>
              </a:spcBef>
            </a:pP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IV. HARDWARE 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69" y="9162411"/>
            <a:ext cx="141806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FSM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8125" y="1375677"/>
            <a:ext cx="117745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 AN AREA-OPTIMIZED 8-BIT DEEP LEARNING ACCELERATOR FOR GAN IMAGE GENERATION ON GF180MCU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51886" y="2336432"/>
            <a:ext cx="11140586" cy="6164458"/>
          </a:xfrm>
          <a:custGeom>
            <a:avLst/>
            <a:gdLst/>
            <a:ahLst/>
            <a:cxnLst/>
            <a:rect r="r" b="b" t="t" l="l"/>
            <a:pathLst>
              <a:path h="6164458" w="11140586">
                <a:moveTo>
                  <a:pt x="0" y="0"/>
                </a:moveTo>
                <a:lnTo>
                  <a:pt x="11140586" y="0"/>
                </a:lnTo>
                <a:lnTo>
                  <a:pt x="11140586" y="6164458"/>
                </a:lnTo>
                <a:lnTo>
                  <a:pt x="0" y="61644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25652" y="114047"/>
            <a:ext cx="10827018" cy="91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4"/>
              </a:lnSpc>
              <a:spcBef>
                <a:spcPct val="0"/>
              </a:spcBef>
            </a:pP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V. SOFTWARE AND HARDWARE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69" y="9162411"/>
            <a:ext cx="141806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Here is how blah blah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8125" y="1375677"/>
            <a:ext cx="117745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 AN AREA-OPTIMIZED 8-BIT DEEP LEARNING ACCELERATOR FOR GAN IMAGE GENERATION ON GF180MCU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590196" y="3177153"/>
            <a:ext cx="11107608" cy="3932694"/>
          </a:xfrm>
          <a:custGeom>
            <a:avLst/>
            <a:gdLst/>
            <a:ahLst/>
            <a:cxnLst/>
            <a:rect r="r" b="b" t="t" l="l"/>
            <a:pathLst>
              <a:path h="3932694" w="11107608">
                <a:moveTo>
                  <a:pt x="0" y="0"/>
                </a:moveTo>
                <a:lnTo>
                  <a:pt x="11107608" y="0"/>
                </a:lnTo>
                <a:lnTo>
                  <a:pt x="11107608" y="3932694"/>
                </a:lnTo>
                <a:lnTo>
                  <a:pt x="0" y="39326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25652" y="114047"/>
            <a:ext cx="10827018" cy="91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4"/>
              </a:lnSpc>
              <a:spcBef>
                <a:spcPct val="0"/>
              </a:spcBef>
            </a:pP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V. SOFTWARE AND HARDWARE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69" y="9162411"/>
            <a:ext cx="141806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Here is how blah blah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8125" y="1375677"/>
            <a:ext cx="117745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 AN AREA-OPTIMIZED 8-BIT DEEP LEARNING ACCELERATOR FOR GAN IMAGE GENERATION ON GF180MCU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446246" y="2756717"/>
            <a:ext cx="9395508" cy="5852059"/>
          </a:xfrm>
          <a:custGeom>
            <a:avLst/>
            <a:gdLst/>
            <a:ahLst/>
            <a:cxnLst/>
            <a:rect r="r" b="b" t="t" l="l"/>
            <a:pathLst>
              <a:path h="5852059" w="9395508">
                <a:moveTo>
                  <a:pt x="0" y="0"/>
                </a:moveTo>
                <a:lnTo>
                  <a:pt x="9395508" y="0"/>
                </a:lnTo>
                <a:lnTo>
                  <a:pt x="9395508" y="5852059"/>
                </a:lnTo>
                <a:lnTo>
                  <a:pt x="0" y="58520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25652" y="114047"/>
            <a:ext cx="10827018" cy="91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4"/>
              </a:lnSpc>
              <a:spcBef>
                <a:spcPct val="0"/>
              </a:spcBef>
            </a:pP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V. SOFTWARE AND HARDWARE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69" y="9162411"/>
            <a:ext cx="141806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Here is how blah blah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8125" y="1375677"/>
            <a:ext cx="117745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 AN AREA-OPTIMIZED 8-BIT DEEP LEARNING ACCELERATOR FOR GAN IMAGE GENERATION ON GF180MCU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04741" y="2336432"/>
            <a:ext cx="10003157" cy="6664424"/>
          </a:xfrm>
          <a:custGeom>
            <a:avLst/>
            <a:gdLst/>
            <a:ahLst/>
            <a:cxnLst/>
            <a:rect r="r" b="b" t="t" l="l"/>
            <a:pathLst>
              <a:path h="6664424" w="10003157">
                <a:moveTo>
                  <a:pt x="0" y="0"/>
                </a:moveTo>
                <a:lnTo>
                  <a:pt x="10003157" y="0"/>
                </a:lnTo>
                <a:lnTo>
                  <a:pt x="10003157" y="6664424"/>
                </a:lnTo>
                <a:lnTo>
                  <a:pt x="0" y="66644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25652" y="114047"/>
            <a:ext cx="10827018" cy="91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4"/>
              </a:lnSpc>
              <a:spcBef>
                <a:spcPct val="0"/>
              </a:spcBef>
            </a:pP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V. SOFTWARE AND HARDWARE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69" y="9162411"/>
            <a:ext cx="141806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Here is how blah blah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8125" y="1375677"/>
            <a:ext cx="117745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 AN AREA-OPTIMIZED 8-BIT DEEP LEARNING ACCELERATOR FOR GAN IMAGE GENERATION ON GF180MCU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693821" y="2209971"/>
            <a:ext cx="7633371" cy="6568744"/>
          </a:xfrm>
          <a:custGeom>
            <a:avLst/>
            <a:gdLst/>
            <a:ahLst/>
            <a:cxnLst/>
            <a:rect r="r" b="b" t="t" l="l"/>
            <a:pathLst>
              <a:path h="6568744" w="7633371">
                <a:moveTo>
                  <a:pt x="0" y="0"/>
                </a:moveTo>
                <a:lnTo>
                  <a:pt x="7633371" y="0"/>
                </a:lnTo>
                <a:lnTo>
                  <a:pt x="7633371" y="6568745"/>
                </a:lnTo>
                <a:lnTo>
                  <a:pt x="0" y="65687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25652" y="114047"/>
            <a:ext cx="10827018" cy="91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4"/>
              </a:lnSpc>
              <a:spcBef>
                <a:spcPct val="0"/>
              </a:spcBef>
            </a:pP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V. SOFTWARE AND HARDWARE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69" y="9162411"/>
            <a:ext cx="141806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Here is how blah blah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8125" y="1375677"/>
            <a:ext cx="117745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 AN AREA-OPTIMIZED 8-BIT DEEP LEARNING ACCELERATOR FOR GAN IMAGE GENERATION ON GF180MCU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640529" y="2574557"/>
            <a:ext cx="11006942" cy="6077072"/>
          </a:xfrm>
          <a:custGeom>
            <a:avLst/>
            <a:gdLst/>
            <a:ahLst/>
            <a:cxnLst/>
            <a:rect r="r" b="b" t="t" l="l"/>
            <a:pathLst>
              <a:path h="6077072" w="11006942">
                <a:moveTo>
                  <a:pt x="0" y="0"/>
                </a:moveTo>
                <a:lnTo>
                  <a:pt x="11006942" y="0"/>
                </a:lnTo>
                <a:lnTo>
                  <a:pt x="11006942" y="6077072"/>
                </a:lnTo>
                <a:lnTo>
                  <a:pt x="0" y="60770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25652" y="114047"/>
            <a:ext cx="10827018" cy="91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4"/>
              </a:lnSpc>
              <a:spcBef>
                <a:spcPct val="0"/>
              </a:spcBef>
            </a:pP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V. SOFTWARE AND HARDWARE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69" y="9162411"/>
            <a:ext cx="141806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Here is how blah blah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8125" y="1375677"/>
            <a:ext cx="117745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 AN AREA-OPTIMIZED 8-BIT DEEP LEARNING ACCELERATOR FOR GAN IMAGE GENERATION ON GF180MCU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643" y="-6693961"/>
            <a:ext cx="473315" cy="11837461"/>
            <a:chOff x="0" y="0"/>
            <a:chExt cx="124659" cy="31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59" cy="3117685"/>
            </a:xfrm>
            <a:custGeom>
              <a:avLst/>
              <a:gdLst/>
              <a:ahLst/>
              <a:cxnLst/>
              <a:rect r="r" b="b" t="t" l="l"/>
              <a:pathLst>
                <a:path h="3117685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3117685"/>
                  </a:lnTo>
                  <a:lnTo>
                    <a:pt x="0" y="3117685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4659" cy="3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043" y="8778716"/>
            <a:ext cx="473315" cy="8202245"/>
            <a:chOff x="0" y="0"/>
            <a:chExt cx="124659" cy="2160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659" cy="2160262"/>
            </a:xfrm>
            <a:custGeom>
              <a:avLst/>
              <a:gdLst/>
              <a:ahLst/>
              <a:cxnLst/>
              <a:rect r="r" b="b" t="t" l="l"/>
              <a:pathLst>
                <a:path h="2160262" w="124659">
                  <a:moveTo>
                    <a:pt x="0" y="0"/>
                  </a:moveTo>
                  <a:lnTo>
                    <a:pt x="124659" y="0"/>
                  </a:lnTo>
                  <a:lnTo>
                    <a:pt x="124659" y="2160262"/>
                  </a:lnTo>
                  <a:lnTo>
                    <a:pt x="0" y="2160262"/>
                  </a:lnTo>
                  <a:close/>
                </a:path>
              </a:pathLst>
            </a:custGeom>
            <a:solidFill>
              <a:srgbClr val="F259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659" cy="2198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564218" y="2024351"/>
            <a:ext cx="6492240" cy="0"/>
          </a:xfrm>
          <a:prstGeom prst="line">
            <a:avLst/>
          </a:prstGeom>
          <a:ln cap="flat" w="190500">
            <a:solidFill>
              <a:srgbClr val="F2590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77533" y="177533"/>
            <a:ext cx="1702334" cy="1702334"/>
          </a:xfrm>
          <a:custGeom>
            <a:avLst/>
            <a:gdLst/>
            <a:ahLst/>
            <a:cxnLst/>
            <a:rect r="r" b="b" t="t" l="l"/>
            <a:pathLst>
              <a:path h="1702334" w="1702334">
                <a:moveTo>
                  <a:pt x="0" y="0"/>
                </a:moveTo>
                <a:lnTo>
                  <a:pt x="1702334" y="0"/>
                </a:lnTo>
                <a:lnTo>
                  <a:pt x="1702334" y="1702334"/>
                </a:lnTo>
                <a:lnTo>
                  <a:pt x="0" y="170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9867" y="1028700"/>
            <a:ext cx="3048155" cy="727469"/>
          </a:xfrm>
          <a:custGeom>
            <a:avLst/>
            <a:gdLst/>
            <a:ahLst/>
            <a:cxnLst/>
            <a:rect r="r" b="b" t="t" l="l"/>
            <a:pathLst>
              <a:path h="727469" w="3048155">
                <a:moveTo>
                  <a:pt x="0" y="0"/>
                </a:moveTo>
                <a:lnTo>
                  <a:pt x="3048155" y="0"/>
                </a:lnTo>
                <a:lnTo>
                  <a:pt x="3048155" y="727469"/>
                </a:lnTo>
                <a:lnTo>
                  <a:pt x="0" y="727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84669" y="152400"/>
            <a:ext cx="1520072" cy="857250"/>
          </a:xfrm>
          <a:custGeom>
            <a:avLst/>
            <a:gdLst/>
            <a:ahLst/>
            <a:cxnLst/>
            <a:rect r="r" b="b" t="t" l="l"/>
            <a:pathLst>
              <a:path h="857250" w="1520072">
                <a:moveTo>
                  <a:pt x="0" y="0"/>
                </a:moveTo>
                <a:lnTo>
                  <a:pt x="1520072" y="0"/>
                </a:lnTo>
                <a:lnTo>
                  <a:pt x="152007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9541" y="152400"/>
            <a:ext cx="1368561" cy="857250"/>
          </a:xfrm>
          <a:custGeom>
            <a:avLst/>
            <a:gdLst/>
            <a:ahLst/>
            <a:cxnLst/>
            <a:rect r="r" b="b" t="t" l="l"/>
            <a:pathLst>
              <a:path h="857250" w="1368561">
                <a:moveTo>
                  <a:pt x="0" y="0"/>
                </a:moveTo>
                <a:lnTo>
                  <a:pt x="1368561" y="0"/>
                </a:lnTo>
                <a:lnTo>
                  <a:pt x="136856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611846" y="2614968"/>
            <a:ext cx="11064307" cy="6163747"/>
          </a:xfrm>
          <a:custGeom>
            <a:avLst/>
            <a:gdLst/>
            <a:ahLst/>
            <a:cxnLst/>
            <a:rect r="r" b="b" t="t" l="l"/>
            <a:pathLst>
              <a:path h="6163747" w="11064307">
                <a:moveTo>
                  <a:pt x="0" y="0"/>
                </a:moveTo>
                <a:lnTo>
                  <a:pt x="11064308" y="0"/>
                </a:lnTo>
                <a:lnTo>
                  <a:pt x="11064308" y="6163748"/>
                </a:lnTo>
                <a:lnTo>
                  <a:pt x="0" y="6163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25652" y="114047"/>
            <a:ext cx="10827018" cy="91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84"/>
              </a:lnSpc>
              <a:spcBef>
                <a:spcPct val="0"/>
              </a:spcBef>
            </a:pPr>
            <a:r>
              <a:rPr lang="en-US" b="true" sz="5345">
                <a:solidFill>
                  <a:srgbClr val="F25903"/>
                </a:solidFill>
                <a:latin typeface="Inter Bold"/>
                <a:ea typeface="Inter Bold"/>
                <a:cs typeface="Inter Bold"/>
                <a:sym typeface="Inter Bold"/>
              </a:rPr>
              <a:t>COMPARISON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69" y="9162411"/>
            <a:ext cx="141806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7"/>
                </a:solidFill>
                <a:latin typeface="Inter"/>
                <a:ea typeface="Inter"/>
                <a:cs typeface="Inter"/>
                <a:sym typeface="Inter"/>
              </a:rPr>
              <a:t>Here is how blah blah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8125" y="1375677"/>
            <a:ext cx="117745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E749A"/>
                </a:solidFill>
                <a:latin typeface="Inter Bold"/>
                <a:ea typeface="Inter Bold"/>
                <a:cs typeface="Inter Bold"/>
                <a:sym typeface="Inter Bold"/>
              </a:rPr>
              <a:t>PAPER NO. 1571326725 AN AREA-OPTIMIZED 8-BIT DEEP LEARNING ACCELERATOR FOR GAN IMAGE GENERATION ON GF180MCU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DAHY_IoqSsE</dc:identifier>
  <dcterms:modified xsi:type="dcterms:W3CDTF">2011-08-01T06:04:30Z</dcterms:modified>
  <cp:revision>1</cp:revision>
  <dc:title>Presentation</dc:title>
</cp:coreProperties>
</file>